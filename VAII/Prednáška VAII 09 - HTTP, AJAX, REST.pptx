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4"/>
  </p:sldMasterIdLst>
  <p:notesMasterIdLst>
    <p:notesMasterId r:id="rId67"/>
  </p:notesMasterIdLst>
  <p:sldIdLst>
    <p:sldId id="256" r:id="rId5"/>
    <p:sldId id="257" r:id="rId6"/>
    <p:sldId id="258" r:id="rId7"/>
    <p:sldId id="259" r:id="rId8"/>
    <p:sldId id="260" r:id="rId9"/>
    <p:sldId id="261" r:id="rId10"/>
    <p:sldId id="264" r:id="rId11"/>
    <p:sldId id="262" r:id="rId12"/>
    <p:sldId id="263" r:id="rId13"/>
    <p:sldId id="265" r:id="rId14"/>
    <p:sldId id="266" r:id="rId15"/>
    <p:sldId id="267" r:id="rId16"/>
    <p:sldId id="268" r:id="rId17"/>
    <p:sldId id="270" r:id="rId18"/>
    <p:sldId id="271" r:id="rId19"/>
    <p:sldId id="273" r:id="rId20"/>
    <p:sldId id="272" r:id="rId21"/>
    <p:sldId id="275" r:id="rId22"/>
    <p:sldId id="326" r:id="rId23"/>
    <p:sldId id="277" r:id="rId24"/>
    <p:sldId id="278" r:id="rId25"/>
    <p:sldId id="279" r:id="rId26"/>
    <p:sldId id="280" r:id="rId27"/>
    <p:sldId id="283" r:id="rId28"/>
    <p:sldId id="284" r:id="rId29"/>
    <p:sldId id="285" r:id="rId30"/>
    <p:sldId id="287" r:id="rId31"/>
    <p:sldId id="288" r:id="rId32"/>
    <p:sldId id="286" r:id="rId33"/>
    <p:sldId id="289" r:id="rId34"/>
    <p:sldId id="290" r:id="rId35"/>
    <p:sldId id="291" r:id="rId36"/>
    <p:sldId id="292" r:id="rId37"/>
    <p:sldId id="324" r:id="rId38"/>
    <p:sldId id="325" r:id="rId39"/>
    <p:sldId id="327" r:id="rId40"/>
    <p:sldId id="321" r:id="rId41"/>
    <p:sldId id="311" r:id="rId42"/>
    <p:sldId id="312" r:id="rId43"/>
    <p:sldId id="313" r:id="rId44"/>
    <p:sldId id="316" r:id="rId45"/>
    <p:sldId id="315" r:id="rId46"/>
    <p:sldId id="314" r:id="rId47"/>
    <p:sldId id="317" r:id="rId48"/>
    <p:sldId id="318" r:id="rId49"/>
    <p:sldId id="319" r:id="rId50"/>
    <p:sldId id="320" r:id="rId51"/>
    <p:sldId id="328" r:id="rId52"/>
    <p:sldId id="297" r:id="rId53"/>
    <p:sldId id="298" r:id="rId54"/>
    <p:sldId id="301" r:id="rId55"/>
    <p:sldId id="303" r:id="rId56"/>
    <p:sldId id="322" r:id="rId57"/>
    <p:sldId id="306" r:id="rId58"/>
    <p:sldId id="304" r:id="rId59"/>
    <p:sldId id="305" r:id="rId60"/>
    <p:sldId id="323" r:id="rId61"/>
    <p:sldId id="300" r:id="rId62"/>
    <p:sldId id="302" r:id="rId63"/>
    <p:sldId id="308" r:id="rId64"/>
    <p:sldId id="309" r:id="rId65"/>
    <p:sldId id="310" r:id="rId6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FB2DB0-54F4-4E99-9C0A-45381F414375}" v="15" dt="2025-11-17T14:00:01.888"/>
  </p1510:revLst>
</p1510:revInfo>
</file>

<file path=ppt/tableStyles.xml><?xml version="1.0" encoding="utf-8"?>
<a:tblStyleLst xmlns:a="http://schemas.openxmlformats.org/drawingml/2006/main" def="{5C22544A-7EE6-4342-B048-85BDC9FD1C3A}">
  <a:tblStyle styleId="{5C22544A-7EE6-4342-B048-85BDC9FD1C3A}" styleName="Stredný štýl 2 - zvýrazneni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22" autoAdjust="0"/>
  </p:normalViewPr>
  <p:slideViewPr>
    <p:cSldViewPr snapToGrid="0">
      <p:cViewPr varScale="1">
        <p:scale>
          <a:sx n="96" d="100"/>
          <a:sy n="96" d="100"/>
        </p:scale>
        <p:origin x="10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l Ďuračík" userId="cf2726a1-d5ba-4ec7-91ee-a3b1c496c4d0" providerId="ADAL" clId="{00F9A5C0-E7EB-44F9-B573-98D6DE958595}"/>
    <pc:docChg chg="custSel addSld modSld">
      <pc:chgData name="Michal Ďuračík" userId="cf2726a1-d5ba-4ec7-91ee-a3b1c496c4d0" providerId="ADAL" clId="{00F9A5C0-E7EB-44F9-B573-98D6DE958595}" dt="2025-11-17T14:00:01.879" v="206" actId="20577"/>
      <pc:docMkLst>
        <pc:docMk/>
      </pc:docMkLst>
      <pc:sldChg chg="modSp mod">
        <pc:chgData name="Michal Ďuračík" userId="cf2726a1-d5ba-4ec7-91ee-a3b1c496c4d0" providerId="ADAL" clId="{00F9A5C0-E7EB-44F9-B573-98D6DE958595}" dt="2025-11-17T12:52:44.096" v="3" actId="20577"/>
        <pc:sldMkLst>
          <pc:docMk/>
          <pc:sldMk cId="0" sldId="256"/>
        </pc:sldMkLst>
        <pc:spChg chg="mod">
          <ac:chgData name="Michal Ďuračík" userId="cf2726a1-d5ba-4ec7-91ee-a3b1c496c4d0" providerId="ADAL" clId="{00F9A5C0-E7EB-44F9-B573-98D6DE958595}" dt="2025-11-17T12:52:44.096" v="3" actId="20577"/>
          <ac:spMkLst>
            <pc:docMk/>
            <pc:sldMk cId="0" sldId="256"/>
            <ac:spMk id="2" creationId="{D1E73D09-0072-B557-EAC0-917D06A97524}"/>
          </ac:spMkLst>
        </pc:spChg>
      </pc:sldChg>
      <pc:sldChg chg="addSp modSp mod">
        <pc:chgData name="Michal Ďuračík" userId="cf2726a1-d5ba-4ec7-91ee-a3b1c496c4d0" providerId="ADAL" clId="{00F9A5C0-E7EB-44F9-B573-98D6DE958595}" dt="2025-11-17T13:40:07.006" v="149" actId="14100"/>
        <pc:sldMkLst>
          <pc:docMk/>
          <pc:sldMk cId="0" sldId="260"/>
        </pc:sldMkLst>
        <pc:picChg chg="add mod">
          <ac:chgData name="Michal Ďuračík" userId="cf2726a1-d5ba-4ec7-91ee-a3b1c496c4d0" providerId="ADAL" clId="{00F9A5C0-E7EB-44F9-B573-98D6DE958595}" dt="2025-11-17T13:40:07.006" v="149" actId="14100"/>
          <ac:picMkLst>
            <pc:docMk/>
            <pc:sldMk cId="0" sldId="260"/>
            <ac:picMk id="3" creationId="{0ABD7BC3-B213-5B64-C427-B2F0ED1825FC}"/>
          </ac:picMkLst>
        </pc:picChg>
      </pc:sldChg>
      <pc:sldChg chg="addSp modSp mod">
        <pc:chgData name="Michal Ďuračík" userId="cf2726a1-d5ba-4ec7-91ee-a3b1c496c4d0" providerId="ADAL" clId="{00F9A5C0-E7EB-44F9-B573-98D6DE958595}" dt="2025-11-17T13:06:43.117" v="12" actId="1076"/>
        <pc:sldMkLst>
          <pc:docMk/>
          <pc:sldMk cId="0" sldId="263"/>
        </pc:sldMkLst>
        <pc:picChg chg="add mod">
          <ac:chgData name="Michal Ďuračík" userId="cf2726a1-d5ba-4ec7-91ee-a3b1c496c4d0" providerId="ADAL" clId="{00F9A5C0-E7EB-44F9-B573-98D6DE958595}" dt="2025-11-17T13:06:43.117" v="12" actId="1076"/>
          <ac:picMkLst>
            <pc:docMk/>
            <pc:sldMk cId="0" sldId="263"/>
            <ac:picMk id="3" creationId="{C726CAB9-9ACD-AC08-FE0D-91AC5DF22E3B}"/>
          </ac:picMkLst>
        </pc:picChg>
      </pc:sldChg>
      <pc:sldChg chg="modSp mod">
        <pc:chgData name="Michal Ďuračík" userId="cf2726a1-d5ba-4ec7-91ee-a3b1c496c4d0" providerId="ADAL" clId="{00F9A5C0-E7EB-44F9-B573-98D6DE958595}" dt="2025-11-17T13:05:04.571" v="7" actId="20577"/>
        <pc:sldMkLst>
          <pc:docMk/>
          <pc:sldMk cId="0" sldId="275"/>
        </pc:sldMkLst>
        <pc:spChg chg="mod">
          <ac:chgData name="Michal Ďuračík" userId="cf2726a1-d5ba-4ec7-91ee-a3b1c496c4d0" providerId="ADAL" clId="{00F9A5C0-E7EB-44F9-B573-98D6DE958595}" dt="2025-11-17T13:05:04.571" v="7" actId="20577"/>
          <ac:spMkLst>
            <pc:docMk/>
            <pc:sldMk cId="0" sldId="275"/>
            <ac:spMk id="245" creationId="{00000000-0000-0000-0000-000000000000}"/>
          </ac:spMkLst>
        </pc:spChg>
      </pc:sldChg>
      <pc:sldChg chg="addSp modSp mod">
        <pc:chgData name="Michal Ďuračík" userId="cf2726a1-d5ba-4ec7-91ee-a3b1c496c4d0" providerId="ADAL" clId="{00F9A5C0-E7EB-44F9-B573-98D6DE958595}" dt="2025-11-17T13:12:09.960" v="17" actId="1076"/>
        <pc:sldMkLst>
          <pc:docMk/>
          <pc:sldMk cId="0" sldId="279"/>
        </pc:sldMkLst>
        <pc:picChg chg="add mod">
          <ac:chgData name="Michal Ďuračík" userId="cf2726a1-d5ba-4ec7-91ee-a3b1c496c4d0" providerId="ADAL" clId="{00F9A5C0-E7EB-44F9-B573-98D6DE958595}" dt="2025-11-17T13:12:09.960" v="17" actId="1076"/>
          <ac:picMkLst>
            <pc:docMk/>
            <pc:sldMk cId="0" sldId="279"/>
            <ac:picMk id="3" creationId="{EA548C0A-C622-4B5C-5067-B075F9149AE5}"/>
          </ac:picMkLst>
        </pc:picChg>
      </pc:sldChg>
      <pc:sldChg chg="addSp modSp mod">
        <pc:chgData name="Michal Ďuračík" userId="cf2726a1-d5ba-4ec7-91ee-a3b1c496c4d0" providerId="ADAL" clId="{00F9A5C0-E7EB-44F9-B573-98D6DE958595}" dt="2025-11-17T13:13:45.179" v="24" actId="1076"/>
        <pc:sldMkLst>
          <pc:docMk/>
          <pc:sldMk cId="0" sldId="284"/>
        </pc:sldMkLst>
        <pc:picChg chg="add mod">
          <ac:chgData name="Michal Ďuračík" userId="cf2726a1-d5ba-4ec7-91ee-a3b1c496c4d0" providerId="ADAL" clId="{00F9A5C0-E7EB-44F9-B573-98D6DE958595}" dt="2025-11-17T13:13:45.179" v="24" actId="1076"/>
          <ac:picMkLst>
            <pc:docMk/>
            <pc:sldMk cId="0" sldId="284"/>
            <ac:picMk id="4" creationId="{E6B2ECC1-DD77-A798-C835-06B0891701B4}"/>
          </ac:picMkLst>
        </pc:picChg>
      </pc:sldChg>
      <pc:sldChg chg="addSp modSp mod">
        <pc:chgData name="Michal Ďuračík" userId="cf2726a1-d5ba-4ec7-91ee-a3b1c496c4d0" providerId="ADAL" clId="{00F9A5C0-E7EB-44F9-B573-98D6DE958595}" dt="2025-11-17T13:16:55.089" v="29" actId="1076"/>
        <pc:sldMkLst>
          <pc:docMk/>
          <pc:sldMk cId="0" sldId="290"/>
        </pc:sldMkLst>
        <pc:picChg chg="add mod">
          <ac:chgData name="Michal Ďuračík" userId="cf2726a1-d5ba-4ec7-91ee-a3b1c496c4d0" providerId="ADAL" clId="{00F9A5C0-E7EB-44F9-B573-98D6DE958595}" dt="2025-11-17T13:16:55.089" v="29" actId="1076"/>
          <ac:picMkLst>
            <pc:docMk/>
            <pc:sldMk cId="0" sldId="290"/>
            <ac:picMk id="3" creationId="{1EB76CC4-497A-5DB7-0F74-FC061CE76A2E}"/>
          </ac:picMkLst>
        </pc:picChg>
      </pc:sldChg>
      <pc:sldChg chg="addSp delSp modSp mod">
        <pc:chgData name="Michal Ďuračík" userId="cf2726a1-d5ba-4ec7-91ee-a3b1c496c4d0" providerId="ADAL" clId="{00F9A5C0-E7EB-44F9-B573-98D6DE958595}" dt="2025-11-17T13:30:15.778" v="144" actId="1076"/>
        <pc:sldMkLst>
          <pc:docMk/>
          <pc:sldMk cId="1049581080" sldId="312"/>
        </pc:sldMkLst>
        <pc:picChg chg="add del mod">
          <ac:chgData name="Michal Ďuračík" userId="cf2726a1-d5ba-4ec7-91ee-a3b1c496c4d0" providerId="ADAL" clId="{00F9A5C0-E7EB-44F9-B573-98D6DE958595}" dt="2025-11-17T13:29:29.615" v="139" actId="478"/>
          <ac:picMkLst>
            <pc:docMk/>
            <pc:sldMk cId="1049581080" sldId="312"/>
            <ac:picMk id="6" creationId="{0BFFCFE6-2412-B457-AC61-5BD5D0B54B95}"/>
          </ac:picMkLst>
        </pc:picChg>
        <pc:picChg chg="add mod">
          <ac:chgData name="Michal Ďuračík" userId="cf2726a1-d5ba-4ec7-91ee-a3b1c496c4d0" providerId="ADAL" clId="{00F9A5C0-E7EB-44F9-B573-98D6DE958595}" dt="2025-11-17T13:30:15.778" v="144" actId="1076"/>
          <ac:picMkLst>
            <pc:docMk/>
            <pc:sldMk cId="1049581080" sldId="312"/>
            <ac:picMk id="8" creationId="{688237EF-D2E5-D4DB-1377-F259B3778B2F}"/>
          </ac:picMkLst>
        </pc:picChg>
      </pc:sldChg>
      <pc:sldChg chg="modSp mod">
        <pc:chgData name="Michal Ďuračík" userId="cf2726a1-d5ba-4ec7-91ee-a3b1c496c4d0" providerId="ADAL" clId="{00F9A5C0-E7EB-44F9-B573-98D6DE958595}" dt="2025-11-17T13:21:47.068" v="88" actId="20577"/>
        <pc:sldMkLst>
          <pc:docMk/>
          <pc:sldMk cId="690362929" sldId="324"/>
        </pc:sldMkLst>
        <pc:spChg chg="mod">
          <ac:chgData name="Michal Ďuračík" userId="cf2726a1-d5ba-4ec7-91ee-a3b1c496c4d0" providerId="ADAL" clId="{00F9A5C0-E7EB-44F9-B573-98D6DE958595}" dt="2025-11-17T13:21:47.068" v="88" actId="20577"/>
          <ac:spMkLst>
            <pc:docMk/>
            <pc:sldMk cId="690362929" sldId="324"/>
            <ac:spMk id="3" creationId="{9209B9C6-0367-4813-60A5-5020FD55C6A0}"/>
          </ac:spMkLst>
        </pc:spChg>
      </pc:sldChg>
      <pc:sldChg chg="modSp mod">
        <pc:chgData name="Michal Ďuračík" userId="cf2726a1-d5ba-4ec7-91ee-a3b1c496c4d0" providerId="ADAL" clId="{00F9A5C0-E7EB-44F9-B573-98D6DE958595}" dt="2025-11-17T13:22:48.368" v="130" actId="108"/>
        <pc:sldMkLst>
          <pc:docMk/>
          <pc:sldMk cId="2280736303" sldId="325"/>
        </pc:sldMkLst>
        <pc:spChg chg="mod">
          <ac:chgData name="Michal Ďuračík" userId="cf2726a1-d5ba-4ec7-91ee-a3b1c496c4d0" providerId="ADAL" clId="{00F9A5C0-E7EB-44F9-B573-98D6DE958595}" dt="2025-11-17T13:22:48.368" v="130" actId="108"/>
          <ac:spMkLst>
            <pc:docMk/>
            <pc:sldMk cId="2280736303" sldId="325"/>
            <ac:spMk id="3" creationId="{C7DA767D-C728-366E-865A-016160FAA8EA}"/>
          </ac:spMkLst>
        </pc:spChg>
      </pc:sldChg>
      <pc:sldChg chg="addSp delSp modSp new mod">
        <pc:chgData name="Michal Ďuračík" userId="cf2726a1-d5ba-4ec7-91ee-a3b1c496c4d0" providerId="ADAL" clId="{00F9A5C0-E7EB-44F9-B573-98D6DE958595}" dt="2025-11-17T13:50:44.483" v="174" actId="478"/>
        <pc:sldMkLst>
          <pc:docMk/>
          <pc:sldMk cId="131829826" sldId="326"/>
        </pc:sldMkLst>
        <pc:spChg chg="mod">
          <ac:chgData name="Michal Ďuračík" userId="cf2726a1-d5ba-4ec7-91ee-a3b1c496c4d0" providerId="ADAL" clId="{00F9A5C0-E7EB-44F9-B573-98D6DE958595}" dt="2025-11-17T13:47:04.342" v="160" actId="20577"/>
          <ac:spMkLst>
            <pc:docMk/>
            <pc:sldMk cId="131829826" sldId="326"/>
            <ac:spMk id="2" creationId="{1BD864AB-32EF-E389-4101-BF5125AD695A}"/>
          </ac:spMkLst>
        </pc:spChg>
        <pc:spChg chg="del">
          <ac:chgData name="Michal Ďuračík" userId="cf2726a1-d5ba-4ec7-91ee-a3b1c496c4d0" providerId="ADAL" clId="{00F9A5C0-E7EB-44F9-B573-98D6DE958595}" dt="2025-11-17T13:50:44.483" v="174" actId="478"/>
          <ac:spMkLst>
            <pc:docMk/>
            <pc:sldMk cId="131829826" sldId="326"/>
            <ac:spMk id="3" creationId="{67B357A5-5030-1EBF-FCB8-7BD5D377908E}"/>
          </ac:spMkLst>
        </pc:spChg>
        <pc:spChg chg="add mod">
          <ac:chgData name="Michal Ďuračík" userId="cf2726a1-d5ba-4ec7-91ee-a3b1c496c4d0" providerId="ADAL" clId="{00F9A5C0-E7EB-44F9-B573-98D6DE958595}" dt="2025-11-17T13:50:36.981" v="173" actId="1076"/>
          <ac:spMkLst>
            <pc:docMk/>
            <pc:sldMk cId="131829826" sldId="326"/>
            <ac:spMk id="8" creationId="{89A82FE3-8FAB-ACEB-94D4-60AC2D85C549}"/>
          </ac:spMkLst>
        </pc:spChg>
        <pc:picChg chg="add mod">
          <ac:chgData name="Michal Ďuračík" userId="cf2726a1-d5ba-4ec7-91ee-a3b1c496c4d0" providerId="ADAL" clId="{00F9A5C0-E7EB-44F9-B573-98D6DE958595}" dt="2025-11-17T13:47:40.062" v="165" actId="1076"/>
          <ac:picMkLst>
            <pc:docMk/>
            <pc:sldMk cId="131829826" sldId="326"/>
            <ac:picMk id="6" creationId="{58D64256-D1D8-F4DE-D68A-4689E200D45E}"/>
          </ac:picMkLst>
        </pc:picChg>
      </pc:sldChg>
      <pc:sldChg chg="addSp delSp modSp new mod">
        <pc:chgData name="Michal Ďuračík" userId="cf2726a1-d5ba-4ec7-91ee-a3b1c496c4d0" providerId="ADAL" clId="{00F9A5C0-E7EB-44F9-B573-98D6DE958595}" dt="2025-11-17T13:55:15.265" v="190" actId="20577"/>
        <pc:sldMkLst>
          <pc:docMk/>
          <pc:sldMk cId="3939103717" sldId="327"/>
        </pc:sldMkLst>
        <pc:spChg chg="mod">
          <ac:chgData name="Michal Ďuračík" userId="cf2726a1-d5ba-4ec7-91ee-a3b1c496c4d0" providerId="ADAL" clId="{00F9A5C0-E7EB-44F9-B573-98D6DE958595}" dt="2025-11-17T13:51:18.145" v="185" actId="20577"/>
          <ac:spMkLst>
            <pc:docMk/>
            <pc:sldMk cId="3939103717" sldId="327"/>
            <ac:spMk id="2" creationId="{29597312-2B1D-5860-93BC-1BA93712D1B1}"/>
          </ac:spMkLst>
        </pc:spChg>
        <pc:spChg chg="del">
          <ac:chgData name="Michal Ďuračík" userId="cf2726a1-d5ba-4ec7-91ee-a3b1c496c4d0" providerId="ADAL" clId="{00F9A5C0-E7EB-44F9-B573-98D6DE958595}" dt="2025-11-17T13:51:20.684" v="186" actId="478"/>
          <ac:spMkLst>
            <pc:docMk/>
            <pc:sldMk cId="3939103717" sldId="327"/>
            <ac:spMk id="3" creationId="{FAD83621-1677-D72C-A1D7-EC6756D0A1A1}"/>
          </ac:spMkLst>
        </pc:spChg>
        <pc:spChg chg="add mod">
          <ac:chgData name="Michal Ďuračík" userId="cf2726a1-d5ba-4ec7-91ee-a3b1c496c4d0" providerId="ADAL" clId="{00F9A5C0-E7EB-44F9-B573-98D6DE958595}" dt="2025-11-17T13:55:15.265" v="190" actId="20577"/>
          <ac:spMkLst>
            <pc:docMk/>
            <pc:sldMk cId="3939103717" sldId="327"/>
            <ac:spMk id="7" creationId="{708459B4-A88A-B56D-7A05-D34CF09DCDDC}"/>
          </ac:spMkLst>
        </pc:spChg>
        <pc:picChg chg="add mod">
          <ac:chgData name="Michal Ďuračík" userId="cf2726a1-d5ba-4ec7-91ee-a3b1c496c4d0" providerId="ADAL" clId="{00F9A5C0-E7EB-44F9-B573-98D6DE958595}" dt="2025-11-17T13:51:21.238" v="187"/>
          <ac:picMkLst>
            <pc:docMk/>
            <pc:sldMk cId="3939103717" sldId="327"/>
            <ac:picMk id="5" creationId="{2130B435-1881-3191-F01B-391F414D490C}"/>
          </ac:picMkLst>
        </pc:picChg>
      </pc:sldChg>
      <pc:sldChg chg="addSp delSp modSp new mod">
        <pc:chgData name="Michal Ďuračík" userId="cf2726a1-d5ba-4ec7-91ee-a3b1c496c4d0" providerId="ADAL" clId="{00F9A5C0-E7EB-44F9-B573-98D6DE958595}" dt="2025-11-17T14:00:01.879" v="206" actId="20577"/>
        <pc:sldMkLst>
          <pc:docMk/>
          <pc:sldMk cId="815462760" sldId="328"/>
        </pc:sldMkLst>
        <pc:spChg chg="mod">
          <ac:chgData name="Michal Ďuračík" userId="cf2726a1-d5ba-4ec7-91ee-a3b1c496c4d0" providerId="ADAL" clId="{00F9A5C0-E7EB-44F9-B573-98D6DE958595}" dt="2025-11-17T13:55:55.498" v="201" actId="20577"/>
          <ac:spMkLst>
            <pc:docMk/>
            <pc:sldMk cId="815462760" sldId="328"/>
            <ac:spMk id="2" creationId="{21B44697-4BEA-03B6-000B-FFEECFB5EDE7}"/>
          </ac:spMkLst>
        </pc:spChg>
        <pc:spChg chg="del">
          <ac:chgData name="Michal Ďuračík" userId="cf2726a1-d5ba-4ec7-91ee-a3b1c496c4d0" providerId="ADAL" clId="{00F9A5C0-E7EB-44F9-B573-98D6DE958595}" dt="2025-11-17T13:55:58.312" v="202" actId="478"/>
          <ac:spMkLst>
            <pc:docMk/>
            <pc:sldMk cId="815462760" sldId="328"/>
            <ac:spMk id="3" creationId="{2DBA61EE-2108-A97F-BD0E-360C9FF8527A}"/>
          </ac:spMkLst>
        </pc:spChg>
        <pc:spChg chg="add mod">
          <ac:chgData name="Michal Ďuračík" userId="cf2726a1-d5ba-4ec7-91ee-a3b1c496c4d0" providerId="ADAL" clId="{00F9A5C0-E7EB-44F9-B573-98D6DE958595}" dt="2025-11-17T14:00:01.879" v="206" actId="20577"/>
          <ac:spMkLst>
            <pc:docMk/>
            <pc:sldMk cId="815462760" sldId="328"/>
            <ac:spMk id="7" creationId="{1071159E-F067-1E8E-4746-4D2CF6211432}"/>
          </ac:spMkLst>
        </pc:spChg>
        <pc:picChg chg="add mod">
          <ac:chgData name="Michal Ďuračík" userId="cf2726a1-d5ba-4ec7-91ee-a3b1c496c4d0" providerId="ADAL" clId="{00F9A5C0-E7EB-44F9-B573-98D6DE958595}" dt="2025-11-17T13:55:58.736" v="203"/>
          <ac:picMkLst>
            <pc:docMk/>
            <pc:sldMk cId="815462760" sldId="328"/>
            <ac:picMk id="5" creationId="{36BABCFE-1949-C3DB-6AE1-7044AFB2B46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root.cz/clanky/jak-funguje-novy-protokol-http-2/"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root.cz/clanky/http-3-co-nam-novy-protokol-prinese-a-proc-to-hned-tak-nebude/"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en.wikipedia.org/wiki/REST"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9c4d0b4cd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9c4d0b4cd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3bdbf601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3bdbf601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3bdbf601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3bdbf601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9e07035f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9e07035f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9e07035f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9e07035f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9e07035f8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9e07035f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9e07035f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9e07035f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9e07035f8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9e07035f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9e07035f8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9e07035f8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9e07035f8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9e07035f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759f5e5aae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759f5e5aae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759f5e5aae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759f5e5aae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4824f05737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4824f0573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https://www.root.cz/clanky/jak-funguje-novy-protokol-http-2/</a:t>
            </a:r>
            <a:r>
              <a:rPr lang="en-GB"/>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4824f05737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4824f05737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4824f05737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4824f0573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4824f0573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4824f0573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4824f0573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4824f0573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dirty="0">
                <a:solidFill>
                  <a:schemeClr val="hlink"/>
                </a:solidFill>
                <a:hlinkClick r:id="rId3"/>
              </a:rPr>
              <a:t>https://www.root.cz/clanky/http-3-co-nam-novy-protokol-prinese-a-proc-to-hned-tak-nebude/</a:t>
            </a:r>
            <a:r>
              <a:rPr lang="en-GB" dirty="0"/>
              <a:t>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9c4d0b4cd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9c4d0b4cd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9c4d0b4cd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19c4d0b4cd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19e07035f8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19e07035f8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9e07035f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9e07035f8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9e07035f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9e07035f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9e07035f8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19e07035f8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9e07035f8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19e07035f8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a:solidFill>
                  <a:schemeClr val="dk1"/>
                </a:solidFill>
                <a:latin typeface="Calibri"/>
                <a:ea typeface="Calibri"/>
                <a:cs typeface="Calibri"/>
                <a:sym typeface="Calibri"/>
              </a:rPr>
              <a:t>GET is designed for getting data from the server.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GB" sz="1200">
                <a:solidFill>
                  <a:schemeClr val="dk1"/>
                </a:solidFill>
                <a:latin typeface="Calibri"/>
                <a:ea typeface="Calibri"/>
                <a:cs typeface="Calibri"/>
                <a:sym typeface="Calibri"/>
              </a:rPr>
              <a:t>POST (and lesser-known friends PUT and DELETE) are designed for modifying data on the server.</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GB" sz="1200">
                <a:solidFill>
                  <a:schemeClr val="dk1"/>
                </a:solidFill>
                <a:latin typeface="Calibri"/>
                <a:ea typeface="Calibri"/>
                <a:cs typeface="Calibri"/>
                <a:sym typeface="Calibri"/>
              </a:rPr>
              <a:t>Async requests occur on a </a:t>
            </a:r>
            <a:r>
              <a:rPr lang="en-GB" sz="1200" i="1">
                <a:solidFill>
                  <a:schemeClr val="dk1"/>
                </a:solidFill>
                <a:latin typeface="Calibri"/>
                <a:ea typeface="Calibri"/>
                <a:cs typeface="Calibri"/>
                <a:sym typeface="Calibri"/>
              </a:rPr>
              <a:t>background</a:t>
            </a:r>
            <a:r>
              <a:rPr lang="en-GB" sz="1200">
                <a:solidFill>
                  <a:schemeClr val="dk1"/>
                </a:solidFill>
                <a:latin typeface="Calibri"/>
                <a:ea typeface="Calibri"/>
                <a:cs typeface="Calibri"/>
                <a:sym typeface="Calibri"/>
              </a:rPr>
              <a:t> thread, meaning that the UI is not going to be blocked while the request is processing (there are a lot of exceptions to this when you get into states and I/O, etc.)</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19e07035f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19e07035f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9e07035f8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19e07035f8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9e07035f8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19e07035f8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9e07035f8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9e07035f8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9e07035f8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19e07035f8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9e07035f8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9e07035f8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9e07035f8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19e07035f8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a:xfrm>
            <a:off x="381000" y="685800"/>
            <a:ext cx="6096000" cy="3429000"/>
          </a:xfrm>
        </p:spPr>
      </p:sp>
      <p:sp>
        <p:nvSpPr>
          <p:cNvPr id="3" name="Zástupný objekt pre poznámky 2"/>
          <p:cNvSpPr>
            <a:spLocks noGrp="1"/>
          </p:cNvSpPr>
          <p:nvPr>
            <p:ph type="body" idx="1"/>
          </p:nvPr>
        </p:nvSpPr>
        <p:spPr/>
        <p:txBody>
          <a:bodyPr/>
          <a:lstStyle/>
          <a:p>
            <a:endParaRPr lang="sk-SK"/>
          </a:p>
        </p:txBody>
      </p:sp>
    </p:spTree>
    <p:extLst>
      <p:ext uri="{BB962C8B-B14F-4D97-AF65-F5344CB8AC3E}">
        <p14:creationId xmlns:p14="http://schemas.microsoft.com/office/powerpoint/2010/main" val="1513873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a:xfrm>
            <a:off x="381000" y="685800"/>
            <a:ext cx="6096000" cy="3429000"/>
          </a:xfrm>
        </p:spPr>
      </p:sp>
      <p:sp>
        <p:nvSpPr>
          <p:cNvPr id="3" name="Zástupný objekt pre poznámky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534099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759f5e5aae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759f5e5aae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759f5e5aae_2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759f5e5aae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759f5e5aae_2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759f5e5aae_2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Representational State Transfer (REST) is a style of software architecture for distributed hypermedia systems such as the World Wide Web. The term Representational State Transfer was introduced and defined in 2000 by Roy Fielding</a:t>
            </a:r>
            <a:r>
              <a:rPr lang="en-GB" u="sng">
                <a:solidFill>
                  <a:schemeClr val="hlink"/>
                </a:solidFill>
                <a:hlinkClick r:id="rId3"/>
              </a:rPr>
              <a:t>1</a:t>
            </a:r>
            <a:r>
              <a:rPr lang="en-GB">
                <a:solidFill>
                  <a:schemeClr val="dk1"/>
                </a:solidFill>
              </a:rPr>
              <a:t>[2] in his doctoral dissertation. Fielding is one of the principal authors of the Hypertext Transfer Protocol (HTTP) specification versions 1.0 and 1.1. Conforming to the REST constraints is referred to as being ‘RESTful’</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759f5e5aae_2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759f5e5aae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759f5e5aae_2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759f5e5aae_2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759f5e5aae_2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759f5e5aae_2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759f5e5aae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759f5e5aae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759f5e5aae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759f5e5aae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759f5e5aae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759f5e5aae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Úvodná snímka" type="title">
  <p:cSld name="TITLE">
    <p:spTree>
      <p:nvGrpSpPr>
        <p:cNvPr id="1" name="Shape 14"/>
        <p:cNvGrpSpPr/>
        <p:nvPr/>
      </p:nvGrpSpPr>
      <p:grpSpPr>
        <a:xfrm>
          <a:off x="0" y="0"/>
          <a:ext cx="0" cy="0"/>
          <a:chOff x="0" y="0"/>
          <a:chExt cx="0" cy="0"/>
        </a:xfrm>
      </p:grpSpPr>
      <p:sp>
        <p:nvSpPr>
          <p:cNvPr id="15" name="Google Shape;15;p2"/>
          <p:cNvSpPr/>
          <p:nvPr/>
        </p:nvSpPr>
        <p:spPr>
          <a:xfrm>
            <a:off x="334900" y="2314324"/>
            <a:ext cx="8447100" cy="24786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 name="Google Shape;16;p2"/>
          <p:cNvSpPr txBox="1">
            <a:spLocks noGrp="1"/>
          </p:cNvSpPr>
          <p:nvPr>
            <p:ph type="ctrTitle"/>
          </p:nvPr>
        </p:nvSpPr>
        <p:spPr>
          <a:xfrm>
            <a:off x="435893" y="765323"/>
            <a:ext cx="8245200" cy="11064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accent1"/>
              </a:buClr>
              <a:buSzPts val="1100"/>
              <a:buFont typeface="Cabin"/>
              <a:buNone/>
              <a:defRPr sz="2700" b="0" i="0" u="none" strike="noStrike" cap="none">
                <a:solidFill>
                  <a:schemeClr val="accen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17" name="Google Shape;17;p2"/>
          <p:cNvSpPr txBox="1">
            <a:spLocks noGrp="1"/>
          </p:cNvSpPr>
          <p:nvPr>
            <p:ph type="subTitle" idx="1"/>
          </p:nvPr>
        </p:nvSpPr>
        <p:spPr>
          <a:xfrm>
            <a:off x="435895" y="1871584"/>
            <a:ext cx="8245200" cy="442800"/>
          </a:xfrm>
          <a:prstGeom prst="rect">
            <a:avLst/>
          </a:prstGeom>
          <a:noFill/>
          <a:ln>
            <a:noFill/>
          </a:ln>
        </p:spPr>
        <p:txBody>
          <a:bodyPr spcFirstLastPara="1" wrap="square" lIns="68575" tIns="68575" rIns="68575" bIns="68575" anchor="t" anchorCtr="0">
            <a:noAutofit/>
          </a:bodyPr>
          <a:lstStyle>
            <a:lvl1pPr marL="0" marR="0" lvl="0" indent="0" algn="l" rtl="0">
              <a:spcBef>
                <a:spcPts val="200"/>
              </a:spcBef>
              <a:spcAft>
                <a:spcPts val="0"/>
              </a:spcAft>
              <a:buClr>
                <a:schemeClr val="accent2"/>
              </a:buClr>
              <a:buSzPts val="1200"/>
              <a:buFont typeface="Noto Sans Symbols"/>
              <a:buNone/>
              <a:defRPr sz="1200" b="0" i="0" u="none" strike="noStrike" cap="none">
                <a:solidFill>
                  <a:schemeClr val="accent2"/>
                </a:solidFill>
                <a:latin typeface="Cabin"/>
                <a:ea typeface="Cabin"/>
                <a:cs typeface="Cabin"/>
                <a:sym typeface="Cabin"/>
              </a:defRPr>
            </a:lvl1pPr>
            <a:lvl2pPr marL="342900" marR="0" lvl="1" indent="0" algn="ctr" rtl="0">
              <a:spcBef>
                <a:spcPts val="500"/>
              </a:spcBef>
              <a:spcAft>
                <a:spcPts val="0"/>
              </a:spcAft>
              <a:buClr>
                <a:schemeClr val="accent2"/>
              </a:buClr>
              <a:buSzPts val="1100"/>
              <a:buFont typeface="Noto Sans Symbols"/>
              <a:buNone/>
              <a:defRPr sz="1200" b="0" i="0" u="none" strike="noStrike" cap="none">
                <a:solidFill>
                  <a:srgbClr val="888888"/>
                </a:solidFill>
                <a:latin typeface="Cabin"/>
                <a:ea typeface="Cabin"/>
                <a:cs typeface="Cabin"/>
                <a:sym typeface="Cabin"/>
              </a:defRPr>
            </a:lvl2pPr>
            <a:lvl3pPr marL="685800" marR="0" lvl="2" indent="0" algn="ctr" rtl="0">
              <a:spcBef>
                <a:spcPts val="500"/>
              </a:spcBef>
              <a:spcAft>
                <a:spcPts val="0"/>
              </a:spcAft>
              <a:buClr>
                <a:schemeClr val="accent2"/>
              </a:buClr>
              <a:buSzPts val="1000"/>
              <a:buFont typeface="Noto Sans Symbols"/>
              <a:buNone/>
              <a:defRPr sz="1100" b="0" i="0" u="none" strike="noStrike" cap="none">
                <a:solidFill>
                  <a:srgbClr val="888888"/>
                </a:solidFill>
                <a:latin typeface="Cabin"/>
                <a:ea typeface="Cabin"/>
                <a:cs typeface="Cabin"/>
                <a:sym typeface="Cabin"/>
              </a:defRPr>
            </a:lvl3pPr>
            <a:lvl4pPr marL="1028700" marR="0" lvl="3" indent="0" algn="ctr" rtl="0">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4pPr>
            <a:lvl5pPr marL="1371600" marR="0" lvl="4" indent="0" algn="ctr" rtl="0">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5pPr>
            <a:lvl6pPr marL="1714500" marR="0" lvl="5" indent="0" algn="ctr" rtl="0">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6pPr>
            <a:lvl7pPr marL="2057400" marR="0" lvl="6" indent="0" algn="ctr" rtl="0">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7pPr>
            <a:lvl8pPr marL="2400300" marR="0" lvl="7" indent="0" algn="ctr" rtl="0">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8pPr>
            <a:lvl9pPr marL="2743200" marR="0" lvl="8" indent="0" algn="ctr" rtl="0">
              <a:spcBef>
                <a:spcPts val="500"/>
              </a:spcBef>
              <a:spcAft>
                <a:spcPts val="50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9pPr>
          </a:lstStyle>
          <a:p>
            <a:endParaRPr/>
          </a:p>
        </p:txBody>
      </p:sp>
      <p:sp>
        <p:nvSpPr>
          <p:cNvPr id="18" name="Google Shape;18;p2"/>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19" name="Google Shape;19;p2"/>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20" name="Google Shape;20;p2"/>
          <p:cNvSpPr txBox="1">
            <a:spLocks noGrp="1"/>
          </p:cNvSpPr>
          <p:nvPr>
            <p:ph type="sldNum" idx="12"/>
          </p:nvPr>
        </p:nvSpPr>
        <p:spPr>
          <a:xfrm>
            <a:off x="7918725" y="4467103"/>
            <a:ext cx="762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2D58AC"/>
                </a:solidFill>
                <a:latin typeface="Cabin"/>
                <a:ea typeface="Cabin"/>
                <a:cs typeface="Cabin"/>
                <a:sym typeface="Cabin"/>
              </a:defRPr>
            </a:lvl1pPr>
            <a:lvl2pPr marL="0" marR="0" lvl="1" indent="0" algn="r" rtl="0">
              <a:spcBef>
                <a:spcPts val="0"/>
              </a:spcBef>
              <a:buNone/>
              <a:defRPr sz="700" b="0" i="0" u="none" strike="noStrike" cap="none">
                <a:solidFill>
                  <a:srgbClr val="2D58AC"/>
                </a:solidFill>
                <a:latin typeface="Cabin"/>
                <a:ea typeface="Cabin"/>
                <a:cs typeface="Cabin"/>
                <a:sym typeface="Cabin"/>
              </a:defRPr>
            </a:lvl2pPr>
            <a:lvl3pPr marL="0" marR="0" lvl="2" indent="0" algn="r" rtl="0">
              <a:spcBef>
                <a:spcPts val="0"/>
              </a:spcBef>
              <a:buNone/>
              <a:defRPr sz="700" b="0" i="0" u="none" strike="noStrike" cap="none">
                <a:solidFill>
                  <a:srgbClr val="2D58AC"/>
                </a:solidFill>
                <a:latin typeface="Cabin"/>
                <a:ea typeface="Cabin"/>
                <a:cs typeface="Cabin"/>
                <a:sym typeface="Cabin"/>
              </a:defRPr>
            </a:lvl3pPr>
            <a:lvl4pPr marL="0" marR="0" lvl="3" indent="0" algn="r" rtl="0">
              <a:spcBef>
                <a:spcPts val="0"/>
              </a:spcBef>
              <a:buNone/>
              <a:defRPr sz="700" b="0" i="0" u="none" strike="noStrike" cap="none">
                <a:solidFill>
                  <a:srgbClr val="2D58AC"/>
                </a:solidFill>
                <a:latin typeface="Cabin"/>
                <a:ea typeface="Cabin"/>
                <a:cs typeface="Cabin"/>
                <a:sym typeface="Cabin"/>
              </a:defRPr>
            </a:lvl4pPr>
            <a:lvl5pPr marL="0" marR="0" lvl="4" indent="0" algn="r" rtl="0">
              <a:spcBef>
                <a:spcPts val="0"/>
              </a:spcBef>
              <a:buNone/>
              <a:defRPr sz="700" b="0" i="0" u="none" strike="noStrike" cap="none">
                <a:solidFill>
                  <a:srgbClr val="2D58AC"/>
                </a:solidFill>
                <a:latin typeface="Cabin"/>
                <a:ea typeface="Cabin"/>
                <a:cs typeface="Cabin"/>
                <a:sym typeface="Cabin"/>
              </a:defRPr>
            </a:lvl5pPr>
            <a:lvl6pPr marL="0" marR="0" lvl="5" indent="0" algn="r" rtl="0">
              <a:spcBef>
                <a:spcPts val="0"/>
              </a:spcBef>
              <a:buNone/>
              <a:defRPr sz="700" b="0" i="0" u="none" strike="noStrike" cap="none">
                <a:solidFill>
                  <a:srgbClr val="2D58AC"/>
                </a:solidFill>
                <a:latin typeface="Cabin"/>
                <a:ea typeface="Cabin"/>
                <a:cs typeface="Cabin"/>
                <a:sym typeface="Cabin"/>
              </a:defRPr>
            </a:lvl6pPr>
            <a:lvl7pPr marL="0" marR="0" lvl="6" indent="0" algn="r" rtl="0">
              <a:spcBef>
                <a:spcPts val="0"/>
              </a:spcBef>
              <a:buNone/>
              <a:defRPr sz="700" b="0" i="0" u="none" strike="noStrike" cap="none">
                <a:solidFill>
                  <a:srgbClr val="2D58AC"/>
                </a:solidFill>
                <a:latin typeface="Cabin"/>
                <a:ea typeface="Cabin"/>
                <a:cs typeface="Cabin"/>
                <a:sym typeface="Cabin"/>
              </a:defRPr>
            </a:lvl7pPr>
            <a:lvl8pPr marL="0" marR="0" lvl="7" indent="0" algn="r" rtl="0">
              <a:spcBef>
                <a:spcPts val="0"/>
              </a:spcBef>
              <a:buNone/>
              <a:defRPr sz="700" b="0" i="0" u="none" strike="noStrike" cap="none">
                <a:solidFill>
                  <a:srgbClr val="2D58AC"/>
                </a:solidFill>
                <a:latin typeface="Cabin"/>
                <a:ea typeface="Cabin"/>
                <a:cs typeface="Cabin"/>
                <a:sym typeface="Cabin"/>
              </a:defRPr>
            </a:lvl8pPr>
            <a:lvl9pPr marL="0" marR="0" lvl="8" indent="0" algn="r" rtl="0">
              <a:spcBef>
                <a:spcPts val="0"/>
              </a:spcBef>
              <a:buNone/>
              <a:defRPr sz="700" b="0" i="0" u="none" strike="noStrike" cap="none">
                <a:solidFill>
                  <a:srgbClr val="2D58AC"/>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p:nvPr/>
        </p:nvSpPr>
        <p:spPr>
          <a:xfrm>
            <a:off x="330214" y="460805"/>
            <a:ext cx="8481900" cy="8919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435894" y="526617"/>
            <a:ext cx="8272200" cy="7602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3000"/>
              <a:buNone/>
              <a:defRPr sz="3000" b="0" i="0" u="none" strike="noStrike" cap="none">
                <a:solidFill>
                  <a:schemeClr val="lt1"/>
                </a:solidFill>
              </a:defRPr>
            </a:lvl1pPr>
            <a:lvl2pPr marL="0" marR="0" lvl="1"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2pPr>
            <a:lvl3pPr marL="0" marR="0" lvl="2"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3pPr>
            <a:lvl4pPr marL="0" marR="0" lvl="3"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4pPr>
            <a:lvl5pPr marL="0" marR="0" lvl="4"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5pPr>
            <a:lvl6pPr marL="0" marR="0" lvl="5"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6pPr>
            <a:lvl7pPr marL="0" marR="0" lvl="6"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7pPr>
            <a:lvl8pPr marL="0" marR="0" lvl="7"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8pPr>
            <a:lvl9pPr marL="0" marR="0" lvl="8" indent="0" algn="l" rtl="0">
              <a:spcBef>
                <a:spcPts val="0"/>
              </a:spcBef>
              <a:spcAft>
                <a:spcPts val="0"/>
              </a:spcAft>
              <a:buSzPts val="3000"/>
              <a:buFont typeface="Cabin"/>
              <a:buNone/>
              <a:defRPr sz="3000" b="0" i="0" u="none" strike="noStrike" cap="none">
                <a:solidFill>
                  <a:schemeClr val="dk2"/>
                </a:solidFill>
                <a:latin typeface="Cabin"/>
                <a:ea typeface="Cabin"/>
                <a:cs typeface="Cabin"/>
                <a:sym typeface="Cabin"/>
              </a:defRPr>
            </a:lvl9pPr>
          </a:lstStyle>
          <a:p>
            <a:endParaRPr/>
          </a:p>
        </p:txBody>
      </p:sp>
      <p:sp>
        <p:nvSpPr>
          <p:cNvPr id="24" name="Google Shape;24;p3"/>
          <p:cNvSpPr txBox="1">
            <a:spLocks noGrp="1"/>
          </p:cNvSpPr>
          <p:nvPr>
            <p:ph type="body" idx="1"/>
          </p:nvPr>
        </p:nvSpPr>
        <p:spPr>
          <a:xfrm>
            <a:off x="435894" y="1635372"/>
            <a:ext cx="8272200" cy="2758800"/>
          </a:xfrm>
          <a:prstGeom prst="rect">
            <a:avLst/>
          </a:prstGeom>
          <a:noFill/>
          <a:ln>
            <a:noFill/>
          </a:ln>
        </p:spPr>
        <p:txBody>
          <a:bodyPr spcFirstLastPara="1" wrap="square" lIns="68575" tIns="68575" rIns="68575" bIns="68575" anchor="t" anchorCtr="0">
            <a:noAutofit/>
          </a:bodyPr>
          <a:lstStyle>
            <a:lvl1pPr marL="457200" marR="0" lvl="0" indent="-330200" algn="l" rtl="0">
              <a:lnSpc>
                <a:spcPct val="115000"/>
              </a:lnSpc>
              <a:spcBef>
                <a:spcPts val="300"/>
              </a:spcBef>
              <a:spcAft>
                <a:spcPts val="0"/>
              </a:spcAft>
              <a:buClr>
                <a:schemeClr val="accent2"/>
              </a:buClr>
              <a:buSzPts val="1600"/>
              <a:buFont typeface="Noto Sans Symbols"/>
              <a:buChar char="●"/>
              <a:defRPr sz="1600" b="0" i="0" u="none" strike="noStrike" cap="none">
                <a:solidFill>
                  <a:schemeClr val="dk2"/>
                </a:solidFill>
                <a:latin typeface="Cabin"/>
                <a:ea typeface="Cabin"/>
                <a:cs typeface="Cabin"/>
                <a:sym typeface="Cabin"/>
              </a:defRPr>
            </a:lvl1pPr>
            <a:lvl2pPr marL="914400" marR="0" lvl="1" indent="-298450" algn="l" rtl="0">
              <a:lnSpc>
                <a:spcPct val="115000"/>
              </a:lnSpc>
              <a:spcBef>
                <a:spcPts val="500"/>
              </a:spcBef>
              <a:spcAft>
                <a:spcPts val="0"/>
              </a:spcAft>
              <a:buClr>
                <a:schemeClr val="accent2"/>
              </a:buClr>
              <a:buSzPts val="1100"/>
              <a:buFont typeface="Noto Sans Symbols"/>
              <a:buChar char="○"/>
              <a:defRPr sz="1400" b="0" i="0" u="none" strike="noStrike" cap="none">
                <a:solidFill>
                  <a:schemeClr val="dk2"/>
                </a:solidFill>
                <a:latin typeface="Cabin"/>
                <a:ea typeface="Cabin"/>
                <a:cs typeface="Cabin"/>
                <a:sym typeface="Cabin"/>
              </a:defRPr>
            </a:lvl2pPr>
            <a:lvl3pPr marL="1371600" marR="0" lvl="2" indent="-292100" algn="l" rtl="0">
              <a:lnSpc>
                <a:spcPct val="115000"/>
              </a:lnSpc>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lnSpc>
                <a:spcPct val="115000"/>
              </a:lnSpc>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25" name="Google Shape;25;p3"/>
          <p:cNvSpPr txBox="1">
            <a:spLocks noGrp="1"/>
          </p:cNvSpPr>
          <p:nvPr>
            <p:ph type="sldNum" idx="12"/>
          </p:nvPr>
        </p:nvSpPr>
        <p:spPr>
          <a:xfrm>
            <a:off x="8499550" y="4742725"/>
            <a:ext cx="3126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000" b="0" i="0" u="none" strike="noStrike" cap="none">
                <a:solidFill>
                  <a:schemeClr val="accent2"/>
                </a:solidFill>
                <a:latin typeface="Cabin"/>
                <a:ea typeface="Cabin"/>
                <a:cs typeface="Cabin"/>
                <a:sym typeface="Cabin"/>
              </a:defRPr>
            </a:lvl1pPr>
            <a:lvl2pPr marL="0" marR="0" lvl="1" indent="0" algn="r" rtl="0">
              <a:spcBef>
                <a:spcPts val="0"/>
              </a:spcBef>
              <a:buNone/>
              <a:defRPr sz="1000" b="0" i="0" u="none" strike="noStrike" cap="none">
                <a:solidFill>
                  <a:schemeClr val="accent2"/>
                </a:solidFill>
                <a:latin typeface="Cabin"/>
                <a:ea typeface="Cabin"/>
                <a:cs typeface="Cabin"/>
                <a:sym typeface="Cabin"/>
              </a:defRPr>
            </a:lvl2pPr>
            <a:lvl3pPr marL="0" marR="0" lvl="2" indent="0" algn="r" rtl="0">
              <a:spcBef>
                <a:spcPts val="0"/>
              </a:spcBef>
              <a:buNone/>
              <a:defRPr sz="1000" b="0" i="0" u="none" strike="noStrike" cap="none">
                <a:solidFill>
                  <a:schemeClr val="accent2"/>
                </a:solidFill>
                <a:latin typeface="Cabin"/>
                <a:ea typeface="Cabin"/>
                <a:cs typeface="Cabin"/>
                <a:sym typeface="Cabin"/>
              </a:defRPr>
            </a:lvl3pPr>
            <a:lvl4pPr marL="0" marR="0" lvl="3" indent="0" algn="r" rtl="0">
              <a:spcBef>
                <a:spcPts val="0"/>
              </a:spcBef>
              <a:buNone/>
              <a:defRPr sz="1000" b="0" i="0" u="none" strike="noStrike" cap="none">
                <a:solidFill>
                  <a:schemeClr val="accent2"/>
                </a:solidFill>
                <a:latin typeface="Cabin"/>
                <a:ea typeface="Cabin"/>
                <a:cs typeface="Cabin"/>
                <a:sym typeface="Cabin"/>
              </a:defRPr>
            </a:lvl4pPr>
            <a:lvl5pPr marL="0" marR="0" lvl="4" indent="0" algn="r" rtl="0">
              <a:spcBef>
                <a:spcPts val="0"/>
              </a:spcBef>
              <a:buNone/>
              <a:defRPr sz="1000" b="0" i="0" u="none" strike="noStrike" cap="none">
                <a:solidFill>
                  <a:schemeClr val="accent2"/>
                </a:solidFill>
                <a:latin typeface="Cabin"/>
                <a:ea typeface="Cabin"/>
                <a:cs typeface="Cabin"/>
                <a:sym typeface="Cabin"/>
              </a:defRPr>
            </a:lvl5pPr>
            <a:lvl6pPr marL="0" marR="0" lvl="5" indent="0" algn="r" rtl="0">
              <a:spcBef>
                <a:spcPts val="0"/>
              </a:spcBef>
              <a:buNone/>
              <a:defRPr sz="1000" b="0" i="0" u="none" strike="noStrike" cap="none">
                <a:solidFill>
                  <a:schemeClr val="accent2"/>
                </a:solidFill>
                <a:latin typeface="Cabin"/>
                <a:ea typeface="Cabin"/>
                <a:cs typeface="Cabin"/>
                <a:sym typeface="Cabin"/>
              </a:defRPr>
            </a:lvl6pPr>
            <a:lvl7pPr marL="0" marR="0" lvl="6" indent="0" algn="r" rtl="0">
              <a:spcBef>
                <a:spcPts val="0"/>
              </a:spcBef>
              <a:buNone/>
              <a:defRPr sz="1000" b="0" i="0" u="none" strike="noStrike" cap="none">
                <a:solidFill>
                  <a:schemeClr val="accent2"/>
                </a:solidFill>
                <a:latin typeface="Cabin"/>
                <a:ea typeface="Cabin"/>
                <a:cs typeface="Cabin"/>
                <a:sym typeface="Cabin"/>
              </a:defRPr>
            </a:lvl7pPr>
            <a:lvl8pPr marL="0" marR="0" lvl="7" indent="0" algn="r" rtl="0">
              <a:spcBef>
                <a:spcPts val="0"/>
              </a:spcBef>
              <a:buNone/>
              <a:defRPr sz="1000" b="0" i="0" u="none" strike="noStrike" cap="none">
                <a:solidFill>
                  <a:schemeClr val="accent2"/>
                </a:solidFill>
                <a:latin typeface="Cabin"/>
                <a:ea typeface="Cabin"/>
                <a:cs typeface="Cabin"/>
                <a:sym typeface="Cabin"/>
              </a:defRPr>
            </a:lvl8pPr>
            <a:lvl9pPr marL="0" marR="0" lvl="8" indent="0" algn="r" rtl="0">
              <a:spcBef>
                <a:spcPts val="0"/>
              </a:spcBef>
              <a:buNone/>
              <a:defRPr sz="10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pic>
        <p:nvPicPr>
          <p:cNvPr id="26" name="Google Shape;26;p3"/>
          <p:cNvPicPr preferRelativeResize="0"/>
          <p:nvPr/>
        </p:nvPicPr>
        <p:blipFill>
          <a:blip r:embed="rId2">
            <a:alphaModFix/>
          </a:blip>
          <a:stretch>
            <a:fillRect/>
          </a:stretch>
        </p:blipFill>
        <p:spPr>
          <a:xfrm>
            <a:off x="330225" y="4726000"/>
            <a:ext cx="1563300" cy="3073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lavička sekcie" type="secHead">
  <p:cSld name="SECTION_HEADER">
    <p:spTree>
      <p:nvGrpSpPr>
        <p:cNvPr id="1" name="Shape 27"/>
        <p:cNvGrpSpPr/>
        <p:nvPr/>
      </p:nvGrpSpPr>
      <p:grpSpPr>
        <a:xfrm>
          <a:off x="0" y="0"/>
          <a:ext cx="0" cy="0"/>
          <a:chOff x="0" y="0"/>
          <a:chExt cx="0" cy="0"/>
        </a:xfrm>
      </p:grpSpPr>
      <p:sp>
        <p:nvSpPr>
          <p:cNvPr id="28" name="Google Shape;28;p4"/>
          <p:cNvSpPr/>
          <p:nvPr/>
        </p:nvSpPr>
        <p:spPr>
          <a:xfrm>
            <a:off x="335863" y="3856480"/>
            <a:ext cx="8468100" cy="9441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 name="Google Shape;29;p4"/>
          <p:cNvSpPr txBox="1">
            <a:spLocks noGrp="1"/>
          </p:cNvSpPr>
          <p:nvPr>
            <p:ph type="title"/>
          </p:nvPr>
        </p:nvSpPr>
        <p:spPr>
          <a:xfrm>
            <a:off x="435895" y="2282932"/>
            <a:ext cx="8272200" cy="11232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accent1"/>
              </a:buClr>
              <a:buSzPts val="1100"/>
              <a:buFont typeface="Cabin"/>
              <a:buNone/>
              <a:defRPr sz="2700" b="0" i="0" u="none" strike="noStrike" cap="none">
                <a:solidFill>
                  <a:schemeClr val="accen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30" name="Google Shape;30;p4"/>
          <p:cNvSpPr txBox="1">
            <a:spLocks noGrp="1"/>
          </p:cNvSpPr>
          <p:nvPr>
            <p:ph type="body" idx="1"/>
          </p:nvPr>
        </p:nvSpPr>
        <p:spPr>
          <a:xfrm>
            <a:off x="435894" y="3406063"/>
            <a:ext cx="8272200" cy="450300"/>
          </a:xfrm>
          <a:prstGeom prst="rect">
            <a:avLst/>
          </a:prstGeom>
          <a:noFill/>
          <a:ln>
            <a:noFill/>
          </a:ln>
        </p:spPr>
        <p:txBody>
          <a:bodyPr spcFirstLastPara="1" wrap="square" lIns="68575" tIns="68575" rIns="68575" bIns="68575" anchor="t" anchorCtr="0">
            <a:noAutofit/>
          </a:bodyPr>
          <a:lstStyle>
            <a:lvl1pPr marL="457200" marR="0" lvl="0" indent="-228600" algn="l" rtl="0">
              <a:spcBef>
                <a:spcPts val="300"/>
              </a:spcBef>
              <a:spcAft>
                <a:spcPts val="0"/>
              </a:spcAft>
              <a:buClr>
                <a:schemeClr val="accent2"/>
              </a:buClr>
              <a:buSzPts val="1200"/>
              <a:buFont typeface="Noto Sans Symbols"/>
              <a:buNone/>
              <a:defRPr sz="1400" b="0" i="0" u="none" strike="noStrike" cap="none">
                <a:solidFill>
                  <a:schemeClr val="accent2"/>
                </a:solidFill>
                <a:latin typeface="Cabin"/>
                <a:ea typeface="Cabin"/>
                <a:cs typeface="Cabin"/>
                <a:sym typeface="Cabin"/>
              </a:defRPr>
            </a:lvl1pPr>
            <a:lvl2pPr marL="914400" marR="0" lvl="1" indent="-228600" algn="l" rtl="0">
              <a:spcBef>
                <a:spcPts val="500"/>
              </a:spcBef>
              <a:spcAft>
                <a:spcPts val="0"/>
              </a:spcAft>
              <a:buClr>
                <a:schemeClr val="accent2"/>
              </a:buClr>
              <a:buSzPts val="1100"/>
              <a:buFont typeface="Noto Sans Symbols"/>
              <a:buNone/>
              <a:defRPr sz="1400" b="0" i="0" u="none" strike="noStrike" cap="none">
                <a:solidFill>
                  <a:srgbClr val="888888"/>
                </a:solidFill>
                <a:latin typeface="Cabin"/>
                <a:ea typeface="Cabin"/>
                <a:cs typeface="Cabin"/>
                <a:sym typeface="Cabin"/>
              </a:defRPr>
            </a:lvl2pPr>
            <a:lvl3pPr marL="1371600" marR="0" lvl="2" indent="-228600" algn="l" rtl="0">
              <a:spcBef>
                <a:spcPts val="500"/>
              </a:spcBef>
              <a:spcAft>
                <a:spcPts val="0"/>
              </a:spcAft>
              <a:buClr>
                <a:schemeClr val="accent2"/>
              </a:buClr>
              <a:buSzPts val="1000"/>
              <a:buFont typeface="Noto Sans Symbols"/>
              <a:buNone/>
              <a:defRPr sz="1200" b="0" i="0" u="none" strike="noStrike" cap="none">
                <a:solidFill>
                  <a:srgbClr val="888888"/>
                </a:solidFill>
                <a:latin typeface="Cabin"/>
                <a:ea typeface="Cabin"/>
                <a:cs typeface="Cabin"/>
                <a:sym typeface="Cabin"/>
              </a:defRPr>
            </a:lvl3pPr>
            <a:lvl4pPr marL="1828800" marR="0" lvl="3" indent="-228600" algn="l" rtl="0">
              <a:spcBef>
                <a:spcPts val="500"/>
              </a:spcBef>
              <a:spcAft>
                <a:spcPts val="0"/>
              </a:spcAft>
              <a:buClr>
                <a:schemeClr val="accent2"/>
              </a:buClr>
              <a:buSzPts val="800"/>
              <a:buFont typeface="Noto Sans Symbols"/>
              <a:buNone/>
              <a:defRPr sz="1100" b="0" i="0" u="none" strike="noStrike" cap="none">
                <a:solidFill>
                  <a:srgbClr val="888888"/>
                </a:solidFill>
                <a:latin typeface="Cabin"/>
                <a:ea typeface="Cabin"/>
                <a:cs typeface="Cabin"/>
                <a:sym typeface="Cabin"/>
              </a:defRPr>
            </a:lvl4pPr>
            <a:lvl5pPr marL="2286000" marR="0" lvl="4" indent="-228600" algn="l" rtl="0">
              <a:spcBef>
                <a:spcPts val="500"/>
              </a:spcBef>
              <a:spcAft>
                <a:spcPts val="0"/>
              </a:spcAft>
              <a:buClr>
                <a:schemeClr val="accent2"/>
              </a:buClr>
              <a:buSzPts val="800"/>
              <a:buFont typeface="Noto Sans Symbols"/>
              <a:buNone/>
              <a:defRPr sz="1100" b="0" i="0" u="none" strike="noStrike" cap="none">
                <a:solidFill>
                  <a:srgbClr val="888888"/>
                </a:solidFill>
                <a:latin typeface="Cabin"/>
                <a:ea typeface="Cabin"/>
                <a:cs typeface="Cabin"/>
                <a:sym typeface="Cabin"/>
              </a:defRPr>
            </a:lvl5pPr>
            <a:lvl6pPr marL="2743200" marR="0" lvl="5" indent="-228600" algn="l" rtl="0">
              <a:spcBef>
                <a:spcPts val="500"/>
              </a:spcBef>
              <a:spcAft>
                <a:spcPts val="0"/>
              </a:spcAft>
              <a:buClr>
                <a:schemeClr val="accent2"/>
              </a:buClr>
              <a:buSzPts val="800"/>
              <a:buFont typeface="Noto Sans Symbols"/>
              <a:buNone/>
              <a:defRPr sz="1100" b="0" i="0" u="none" strike="noStrike" cap="none">
                <a:solidFill>
                  <a:srgbClr val="888888"/>
                </a:solidFill>
                <a:latin typeface="Cabin"/>
                <a:ea typeface="Cabin"/>
                <a:cs typeface="Cabin"/>
                <a:sym typeface="Cabin"/>
              </a:defRPr>
            </a:lvl6pPr>
            <a:lvl7pPr marL="3200400" marR="0" lvl="6" indent="-228600" algn="l" rtl="0">
              <a:spcBef>
                <a:spcPts val="500"/>
              </a:spcBef>
              <a:spcAft>
                <a:spcPts val="0"/>
              </a:spcAft>
              <a:buClr>
                <a:schemeClr val="accent2"/>
              </a:buClr>
              <a:buSzPts val="800"/>
              <a:buFont typeface="Noto Sans Symbols"/>
              <a:buNone/>
              <a:defRPr sz="1100" b="0" i="0" u="none" strike="noStrike" cap="none">
                <a:solidFill>
                  <a:srgbClr val="888888"/>
                </a:solidFill>
                <a:latin typeface="Cabin"/>
                <a:ea typeface="Cabin"/>
                <a:cs typeface="Cabin"/>
                <a:sym typeface="Cabin"/>
              </a:defRPr>
            </a:lvl7pPr>
            <a:lvl8pPr marL="3657600" marR="0" lvl="7" indent="-228600" algn="l" rtl="0">
              <a:spcBef>
                <a:spcPts val="500"/>
              </a:spcBef>
              <a:spcAft>
                <a:spcPts val="0"/>
              </a:spcAft>
              <a:buClr>
                <a:schemeClr val="accent2"/>
              </a:buClr>
              <a:buSzPts val="800"/>
              <a:buFont typeface="Noto Sans Symbols"/>
              <a:buNone/>
              <a:defRPr sz="1100" b="0" i="0" u="none" strike="noStrike" cap="none">
                <a:solidFill>
                  <a:srgbClr val="888888"/>
                </a:solidFill>
                <a:latin typeface="Cabin"/>
                <a:ea typeface="Cabin"/>
                <a:cs typeface="Cabin"/>
                <a:sym typeface="Cabin"/>
              </a:defRPr>
            </a:lvl8pPr>
            <a:lvl9pPr marL="4114800" marR="0" lvl="8" indent="-228600" algn="l" rtl="0">
              <a:spcBef>
                <a:spcPts val="500"/>
              </a:spcBef>
              <a:spcAft>
                <a:spcPts val="500"/>
              </a:spcAft>
              <a:buClr>
                <a:schemeClr val="accent2"/>
              </a:buClr>
              <a:buSzPts val="800"/>
              <a:buFont typeface="Noto Sans Symbols"/>
              <a:buNone/>
              <a:defRPr sz="1100" b="0" i="0" u="none" strike="noStrike" cap="none">
                <a:solidFill>
                  <a:srgbClr val="888888"/>
                </a:solidFill>
                <a:latin typeface="Cabin"/>
                <a:ea typeface="Cabin"/>
                <a:cs typeface="Cabin"/>
                <a:sym typeface="Cabin"/>
              </a:defRPr>
            </a:lvl9pPr>
          </a:lstStyle>
          <a:p>
            <a:endParaRPr/>
          </a:p>
        </p:txBody>
      </p:sp>
      <p:sp>
        <p:nvSpPr>
          <p:cNvPr id="31" name="Google Shape;31;p4"/>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32" name="Google Shape;32;p4"/>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33" name="Google Shape;33;p4"/>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2D58AC"/>
                </a:solidFill>
                <a:latin typeface="Cabin"/>
                <a:ea typeface="Cabin"/>
                <a:cs typeface="Cabin"/>
                <a:sym typeface="Cabin"/>
              </a:defRPr>
            </a:lvl1pPr>
            <a:lvl2pPr marL="0" marR="0" lvl="1" indent="0" algn="r" rtl="0">
              <a:spcBef>
                <a:spcPts val="0"/>
              </a:spcBef>
              <a:buNone/>
              <a:defRPr sz="700" b="0" i="0" u="none" strike="noStrike" cap="none">
                <a:solidFill>
                  <a:srgbClr val="2D58AC"/>
                </a:solidFill>
                <a:latin typeface="Cabin"/>
                <a:ea typeface="Cabin"/>
                <a:cs typeface="Cabin"/>
                <a:sym typeface="Cabin"/>
              </a:defRPr>
            </a:lvl2pPr>
            <a:lvl3pPr marL="0" marR="0" lvl="2" indent="0" algn="r" rtl="0">
              <a:spcBef>
                <a:spcPts val="0"/>
              </a:spcBef>
              <a:buNone/>
              <a:defRPr sz="700" b="0" i="0" u="none" strike="noStrike" cap="none">
                <a:solidFill>
                  <a:srgbClr val="2D58AC"/>
                </a:solidFill>
                <a:latin typeface="Cabin"/>
                <a:ea typeface="Cabin"/>
                <a:cs typeface="Cabin"/>
                <a:sym typeface="Cabin"/>
              </a:defRPr>
            </a:lvl3pPr>
            <a:lvl4pPr marL="0" marR="0" lvl="3" indent="0" algn="r" rtl="0">
              <a:spcBef>
                <a:spcPts val="0"/>
              </a:spcBef>
              <a:buNone/>
              <a:defRPr sz="700" b="0" i="0" u="none" strike="noStrike" cap="none">
                <a:solidFill>
                  <a:srgbClr val="2D58AC"/>
                </a:solidFill>
                <a:latin typeface="Cabin"/>
                <a:ea typeface="Cabin"/>
                <a:cs typeface="Cabin"/>
                <a:sym typeface="Cabin"/>
              </a:defRPr>
            </a:lvl4pPr>
            <a:lvl5pPr marL="0" marR="0" lvl="4" indent="0" algn="r" rtl="0">
              <a:spcBef>
                <a:spcPts val="0"/>
              </a:spcBef>
              <a:buNone/>
              <a:defRPr sz="700" b="0" i="0" u="none" strike="noStrike" cap="none">
                <a:solidFill>
                  <a:srgbClr val="2D58AC"/>
                </a:solidFill>
                <a:latin typeface="Cabin"/>
                <a:ea typeface="Cabin"/>
                <a:cs typeface="Cabin"/>
                <a:sym typeface="Cabin"/>
              </a:defRPr>
            </a:lvl5pPr>
            <a:lvl6pPr marL="0" marR="0" lvl="5" indent="0" algn="r" rtl="0">
              <a:spcBef>
                <a:spcPts val="0"/>
              </a:spcBef>
              <a:buNone/>
              <a:defRPr sz="700" b="0" i="0" u="none" strike="noStrike" cap="none">
                <a:solidFill>
                  <a:srgbClr val="2D58AC"/>
                </a:solidFill>
                <a:latin typeface="Cabin"/>
                <a:ea typeface="Cabin"/>
                <a:cs typeface="Cabin"/>
                <a:sym typeface="Cabin"/>
              </a:defRPr>
            </a:lvl6pPr>
            <a:lvl7pPr marL="0" marR="0" lvl="6" indent="0" algn="r" rtl="0">
              <a:spcBef>
                <a:spcPts val="0"/>
              </a:spcBef>
              <a:buNone/>
              <a:defRPr sz="700" b="0" i="0" u="none" strike="noStrike" cap="none">
                <a:solidFill>
                  <a:srgbClr val="2D58AC"/>
                </a:solidFill>
                <a:latin typeface="Cabin"/>
                <a:ea typeface="Cabin"/>
                <a:cs typeface="Cabin"/>
                <a:sym typeface="Cabin"/>
              </a:defRPr>
            </a:lvl7pPr>
            <a:lvl8pPr marL="0" marR="0" lvl="7" indent="0" algn="r" rtl="0">
              <a:spcBef>
                <a:spcPts val="0"/>
              </a:spcBef>
              <a:buNone/>
              <a:defRPr sz="700" b="0" i="0" u="none" strike="noStrike" cap="none">
                <a:solidFill>
                  <a:srgbClr val="2D58AC"/>
                </a:solidFill>
                <a:latin typeface="Cabin"/>
                <a:ea typeface="Cabin"/>
                <a:cs typeface="Cabin"/>
                <a:sym typeface="Cabin"/>
              </a:defRPr>
            </a:lvl8pPr>
            <a:lvl9pPr marL="0" marR="0" lvl="8" indent="0" algn="r" rtl="0">
              <a:spcBef>
                <a:spcPts val="0"/>
              </a:spcBef>
              <a:buNone/>
              <a:defRPr sz="700" b="0" i="0" u="none" strike="noStrike" cap="none">
                <a:solidFill>
                  <a:srgbClr val="2D58AC"/>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va obsahy" type="twoObj">
  <p:cSld name="TWO_OBJECTS">
    <p:spTree>
      <p:nvGrpSpPr>
        <p:cNvPr id="1" name="Shape 34"/>
        <p:cNvGrpSpPr/>
        <p:nvPr/>
      </p:nvGrpSpPr>
      <p:grpSpPr>
        <a:xfrm>
          <a:off x="0" y="0"/>
          <a:ext cx="0" cy="0"/>
          <a:chOff x="0" y="0"/>
          <a:chExt cx="0" cy="0"/>
        </a:xfrm>
      </p:grpSpPr>
      <p:sp>
        <p:nvSpPr>
          <p:cNvPr id="35" name="Google Shape;35;p5"/>
          <p:cNvSpPr/>
          <p:nvPr/>
        </p:nvSpPr>
        <p:spPr>
          <a:xfrm>
            <a:off x="334486" y="454916"/>
            <a:ext cx="8475000" cy="9441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 name="Google Shape;36;p5"/>
          <p:cNvSpPr txBox="1">
            <a:spLocks noGrp="1"/>
          </p:cNvSpPr>
          <p:nvPr>
            <p:ph type="title"/>
          </p:nvPr>
        </p:nvSpPr>
        <p:spPr>
          <a:xfrm>
            <a:off x="435895" y="547244"/>
            <a:ext cx="8272200" cy="7413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1100"/>
              <a:buFont typeface="Cabin"/>
              <a:buNone/>
              <a:defRPr sz="2100" b="0" i="0" u="none" strike="noStrike" cap="none">
                <a:solidFill>
                  <a:schemeClr val="l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37" name="Google Shape;37;p5"/>
          <p:cNvSpPr txBox="1">
            <a:spLocks noGrp="1"/>
          </p:cNvSpPr>
          <p:nvPr>
            <p:ph type="body" idx="1"/>
          </p:nvPr>
        </p:nvSpPr>
        <p:spPr>
          <a:xfrm>
            <a:off x="435895" y="1671002"/>
            <a:ext cx="4066800" cy="2724900"/>
          </a:xfrm>
          <a:prstGeom prst="rect">
            <a:avLst/>
          </a:prstGeom>
          <a:noFill/>
          <a:ln>
            <a:noFill/>
          </a:ln>
        </p:spPr>
        <p:txBody>
          <a:bodyPr spcFirstLastPara="1" wrap="square" lIns="68575" tIns="68575" rIns="68575" bIns="68575" anchor="ctr"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38" name="Google Shape;38;p5"/>
          <p:cNvSpPr txBox="1">
            <a:spLocks noGrp="1"/>
          </p:cNvSpPr>
          <p:nvPr>
            <p:ph type="body" idx="2"/>
          </p:nvPr>
        </p:nvSpPr>
        <p:spPr>
          <a:xfrm>
            <a:off x="4641313" y="1671002"/>
            <a:ext cx="4066800" cy="2724900"/>
          </a:xfrm>
          <a:prstGeom prst="rect">
            <a:avLst/>
          </a:prstGeom>
          <a:noFill/>
          <a:ln>
            <a:noFill/>
          </a:ln>
        </p:spPr>
        <p:txBody>
          <a:bodyPr spcFirstLastPara="1" wrap="square" lIns="68575" tIns="68575" rIns="68575" bIns="68575" anchor="ctr"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39" name="Google Shape;39;p5"/>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40" name="Google Shape;40;p5"/>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41" name="Google Shape;41;p5"/>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orovnanie" type="twoTxTwoObj">
  <p:cSld name="TWO_OBJECTS_WITH_TEXT">
    <p:spTree>
      <p:nvGrpSpPr>
        <p:cNvPr id="1" name="Shape 42"/>
        <p:cNvGrpSpPr/>
        <p:nvPr/>
      </p:nvGrpSpPr>
      <p:grpSpPr>
        <a:xfrm>
          <a:off x="0" y="0"/>
          <a:ext cx="0" cy="0"/>
          <a:chOff x="0" y="0"/>
          <a:chExt cx="0" cy="0"/>
        </a:xfrm>
      </p:grpSpPr>
      <p:sp>
        <p:nvSpPr>
          <p:cNvPr id="43" name="Google Shape;43;p6"/>
          <p:cNvSpPr/>
          <p:nvPr/>
        </p:nvSpPr>
        <p:spPr>
          <a:xfrm>
            <a:off x="334486" y="454916"/>
            <a:ext cx="8475000" cy="9441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 name="Google Shape;44;p6"/>
          <p:cNvSpPr txBox="1">
            <a:spLocks noGrp="1"/>
          </p:cNvSpPr>
          <p:nvPr>
            <p:ph type="title"/>
          </p:nvPr>
        </p:nvSpPr>
        <p:spPr>
          <a:xfrm>
            <a:off x="435895" y="547244"/>
            <a:ext cx="8272200" cy="7413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1100"/>
              <a:buFont typeface="Cabin"/>
              <a:buNone/>
              <a:defRPr sz="2100" b="0" i="0" u="none" strike="noStrike" cap="none">
                <a:solidFill>
                  <a:schemeClr val="l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45" name="Google Shape;45;p6"/>
          <p:cNvSpPr txBox="1">
            <a:spLocks noGrp="1"/>
          </p:cNvSpPr>
          <p:nvPr>
            <p:ph type="body" idx="1"/>
          </p:nvPr>
        </p:nvSpPr>
        <p:spPr>
          <a:xfrm>
            <a:off x="665414" y="1688169"/>
            <a:ext cx="3815400" cy="402000"/>
          </a:xfrm>
          <a:prstGeom prst="rect">
            <a:avLst/>
          </a:prstGeom>
          <a:noFill/>
          <a:ln>
            <a:noFill/>
          </a:ln>
        </p:spPr>
        <p:txBody>
          <a:bodyPr spcFirstLastPara="1" wrap="square" lIns="68575" tIns="68575" rIns="68575" bIns="68575" anchor="b" anchorCtr="0">
            <a:noAutofit/>
          </a:bodyPr>
          <a:lstStyle>
            <a:lvl1pPr marL="457200" marR="0" lvl="0" indent="-228600" algn="l" rtl="0">
              <a:spcBef>
                <a:spcPts val="300"/>
              </a:spcBef>
              <a:spcAft>
                <a:spcPts val="0"/>
              </a:spcAft>
              <a:buClr>
                <a:schemeClr val="accent2"/>
              </a:buClr>
              <a:buSzPts val="1200"/>
              <a:buFont typeface="Noto Sans Symbols"/>
              <a:buNone/>
              <a:defRPr sz="1700" b="0" i="0" u="none" strike="noStrike" cap="none">
                <a:solidFill>
                  <a:schemeClr val="accent2"/>
                </a:solidFill>
                <a:latin typeface="Cabin"/>
                <a:ea typeface="Cabin"/>
                <a:cs typeface="Cabin"/>
                <a:sym typeface="Cabin"/>
              </a:defRPr>
            </a:lvl1pPr>
            <a:lvl2pPr marL="914400" marR="0" lvl="1" indent="-228600" algn="l" rtl="0">
              <a:spcBef>
                <a:spcPts val="500"/>
              </a:spcBef>
              <a:spcAft>
                <a:spcPts val="0"/>
              </a:spcAft>
              <a:buClr>
                <a:schemeClr val="accent2"/>
              </a:buClr>
              <a:buSzPts val="1100"/>
              <a:buFont typeface="Noto Sans Symbols"/>
              <a:buNone/>
              <a:defRPr sz="1500" b="1" i="0" u="none" strike="noStrike" cap="none">
                <a:solidFill>
                  <a:schemeClr val="dk2"/>
                </a:solidFill>
                <a:latin typeface="Cabin"/>
                <a:ea typeface="Cabin"/>
                <a:cs typeface="Cabin"/>
                <a:sym typeface="Cabin"/>
              </a:defRPr>
            </a:lvl2pPr>
            <a:lvl3pPr marL="1371600" marR="0" lvl="2" indent="-228600" algn="l" rtl="0">
              <a:spcBef>
                <a:spcPts val="500"/>
              </a:spcBef>
              <a:spcAft>
                <a:spcPts val="0"/>
              </a:spcAft>
              <a:buClr>
                <a:schemeClr val="accent2"/>
              </a:buClr>
              <a:buSzPts val="1000"/>
              <a:buFont typeface="Noto Sans Symbols"/>
              <a:buNone/>
              <a:defRPr sz="1400" b="1" i="0" u="none" strike="noStrike" cap="none">
                <a:solidFill>
                  <a:schemeClr val="dk2"/>
                </a:solidFill>
                <a:latin typeface="Cabin"/>
                <a:ea typeface="Cabin"/>
                <a:cs typeface="Cabin"/>
                <a:sym typeface="Cabin"/>
              </a:defRPr>
            </a:lvl3pPr>
            <a:lvl4pPr marL="1828800" marR="0" lvl="3"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4pPr>
            <a:lvl5pPr marL="2286000" marR="0" lvl="4"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5pPr>
            <a:lvl6pPr marL="2743200" marR="0" lvl="5"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6pPr>
            <a:lvl7pPr marL="3200400" marR="0" lvl="6"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7pPr>
            <a:lvl8pPr marL="3657600" marR="0" lvl="7"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8pPr>
            <a:lvl9pPr marL="4114800" marR="0" lvl="8" indent="-228600" algn="l" rtl="0">
              <a:spcBef>
                <a:spcPts val="500"/>
              </a:spcBef>
              <a:spcAft>
                <a:spcPts val="50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9pPr>
          </a:lstStyle>
          <a:p>
            <a:endParaRPr/>
          </a:p>
        </p:txBody>
      </p:sp>
      <p:sp>
        <p:nvSpPr>
          <p:cNvPr id="46" name="Google Shape;46;p6"/>
          <p:cNvSpPr txBox="1">
            <a:spLocks noGrp="1"/>
          </p:cNvSpPr>
          <p:nvPr>
            <p:ph type="body" idx="2"/>
          </p:nvPr>
        </p:nvSpPr>
        <p:spPr>
          <a:xfrm>
            <a:off x="435895" y="2194539"/>
            <a:ext cx="4044900" cy="2201100"/>
          </a:xfrm>
          <a:prstGeom prst="rect">
            <a:avLst/>
          </a:prstGeom>
          <a:noFill/>
          <a:ln>
            <a:noFill/>
          </a:ln>
        </p:spPr>
        <p:txBody>
          <a:bodyPr spcFirstLastPara="1" wrap="square" lIns="68575" tIns="68575" rIns="68575" bIns="68575" anchor="t"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47" name="Google Shape;47;p6"/>
          <p:cNvSpPr txBox="1">
            <a:spLocks noGrp="1"/>
          </p:cNvSpPr>
          <p:nvPr>
            <p:ph type="body" idx="3"/>
          </p:nvPr>
        </p:nvSpPr>
        <p:spPr>
          <a:xfrm>
            <a:off x="4892801" y="1688169"/>
            <a:ext cx="3815400" cy="414900"/>
          </a:xfrm>
          <a:prstGeom prst="rect">
            <a:avLst/>
          </a:prstGeom>
          <a:noFill/>
          <a:ln>
            <a:noFill/>
          </a:ln>
        </p:spPr>
        <p:txBody>
          <a:bodyPr spcFirstLastPara="1" wrap="square" lIns="68575" tIns="68575" rIns="68575" bIns="68575" anchor="b" anchorCtr="0">
            <a:noAutofit/>
          </a:bodyPr>
          <a:lstStyle>
            <a:lvl1pPr marL="457200" marR="0" lvl="0" indent="-228600" algn="l" rtl="0">
              <a:spcBef>
                <a:spcPts val="300"/>
              </a:spcBef>
              <a:spcAft>
                <a:spcPts val="0"/>
              </a:spcAft>
              <a:buClr>
                <a:schemeClr val="accent2"/>
              </a:buClr>
              <a:buSzPts val="1200"/>
              <a:buFont typeface="Noto Sans Symbols"/>
              <a:buNone/>
              <a:defRPr sz="1700" b="0" i="0" u="none" strike="noStrike" cap="none">
                <a:solidFill>
                  <a:schemeClr val="accent2"/>
                </a:solidFill>
                <a:latin typeface="Cabin"/>
                <a:ea typeface="Cabin"/>
                <a:cs typeface="Cabin"/>
                <a:sym typeface="Cabin"/>
              </a:defRPr>
            </a:lvl1pPr>
            <a:lvl2pPr marL="914400" marR="0" lvl="1" indent="-228600" algn="l" rtl="0">
              <a:spcBef>
                <a:spcPts val="500"/>
              </a:spcBef>
              <a:spcAft>
                <a:spcPts val="0"/>
              </a:spcAft>
              <a:buClr>
                <a:schemeClr val="accent2"/>
              </a:buClr>
              <a:buSzPts val="1100"/>
              <a:buFont typeface="Noto Sans Symbols"/>
              <a:buNone/>
              <a:defRPr sz="1500" b="1" i="0" u="none" strike="noStrike" cap="none">
                <a:solidFill>
                  <a:schemeClr val="dk2"/>
                </a:solidFill>
                <a:latin typeface="Cabin"/>
                <a:ea typeface="Cabin"/>
                <a:cs typeface="Cabin"/>
                <a:sym typeface="Cabin"/>
              </a:defRPr>
            </a:lvl2pPr>
            <a:lvl3pPr marL="1371600" marR="0" lvl="2" indent="-228600" algn="l" rtl="0">
              <a:spcBef>
                <a:spcPts val="500"/>
              </a:spcBef>
              <a:spcAft>
                <a:spcPts val="0"/>
              </a:spcAft>
              <a:buClr>
                <a:schemeClr val="accent2"/>
              </a:buClr>
              <a:buSzPts val="1000"/>
              <a:buFont typeface="Noto Sans Symbols"/>
              <a:buNone/>
              <a:defRPr sz="1400" b="1" i="0" u="none" strike="noStrike" cap="none">
                <a:solidFill>
                  <a:schemeClr val="dk2"/>
                </a:solidFill>
                <a:latin typeface="Cabin"/>
                <a:ea typeface="Cabin"/>
                <a:cs typeface="Cabin"/>
                <a:sym typeface="Cabin"/>
              </a:defRPr>
            </a:lvl3pPr>
            <a:lvl4pPr marL="1828800" marR="0" lvl="3"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4pPr>
            <a:lvl5pPr marL="2286000" marR="0" lvl="4"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5pPr>
            <a:lvl6pPr marL="2743200" marR="0" lvl="5"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6pPr>
            <a:lvl7pPr marL="3200400" marR="0" lvl="6"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7pPr>
            <a:lvl8pPr marL="3657600" marR="0" lvl="7" indent="-228600" algn="l" rtl="0">
              <a:spcBef>
                <a:spcPts val="500"/>
              </a:spcBef>
              <a:spcAft>
                <a:spcPts val="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8pPr>
            <a:lvl9pPr marL="4114800" marR="0" lvl="8" indent="-228600" algn="l" rtl="0">
              <a:spcBef>
                <a:spcPts val="500"/>
              </a:spcBef>
              <a:spcAft>
                <a:spcPts val="500"/>
              </a:spcAft>
              <a:buClr>
                <a:schemeClr val="accent2"/>
              </a:buClr>
              <a:buSzPts val="800"/>
              <a:buFont typeface="Noto Sans Symbols"/>
              <a:buNone/>
              <a:defRPr sz="1200" b="1" i="0" u="none" strike="noStrike" cap="none">
                <a:solidFill>
                  <a:schemeClr val="dk2"/>
                </a:solidFill>
                <a:latin typeface="Cabin"/>
                <a:ea typeface="Cabin"/>
                <a:cs typeface="Cabin"/>
                <a:sym typeface="Cabin"/>
              </a:defRPr>
            </a:lvl9pPr>
          </a:lstStyle>
          <a:p>
            <a:endParaRPr/>
          </a:p>
        </p:txBody>
      </p:sp>
      <p:sp>
        <p:nvSpPr>
          <p:cNvPr id="48" name="Google Shape;48;p6"/>
          <p:cNvSpPr txBox="1">
            <a:spLocks noGrp="1"/>
          </p:cNvSpPr>
          <p:nvPr>
            <p:ph type="body" idx="4"/>
          </p:nvPr>
        </p:nvSpPr>
        <p:spPr>
          <a:xfrm>
            <a:off x="4663282" y="2194539"/>
            <a:ext cx="4044900" cy="2201100"/>
          </a:xfrm>
          <a:prstGeom prst="rect">
            <a:avLst/>
          </a:prstGeom>
          <a:noFill/>
          <a:ln>
            <a:noFill/>
          </a:ln>
        </p:spPr>
        <p:txBody>
          <a:bodyPr spcFirstLastPara="1" wrap="square" lIns="68575" tIns="68575" rIns="68575" bIns="68575" anchor="t"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49" name="Google Shape;49;p6"/>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50" name="Google Shape;50;p6"/>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51" name="Google Shape;51;p6"/>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brázok s popisom" type="picTx">
  <p:cSld name="PICTURE_WITH_CAPTION_TEXT">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435895" y="3520042"/>
            <a:ext cx="8272200" cy="4251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accent1"/>
              </a:buClr>
              <a:buSzPts val="1100"/>
              <a:buFont typeface="Cabin"/>
              <a:buNone/>
              <a:defRPr sz="1800" b="0" i="0" u="none" strike="noStrike" cap="none">
                <a:solidFill>
                  <a:schemeClr val="accen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54" name="Google Shape;54;p7"/>
          <p:cNvSpPr>
            <a:spLocks noGrp="1"/>
          </p:cNvSpPr>
          <p:nvPr>
            <p:ph type="pic" idx="2"/>
          </p:nvPr>
        </p:nvSpPr>
        <p:spPr>
          <a:xfrm>
            <a:off x="335863" y="449794"/>
            <a:ext cx="8468100" cy="2667900"/>
          </a:xfrm>
          <a:prstGeom prst="rect">
            <a:avLst/>
          </a:prstGeom>
          <a:noFill/>
          <a:ln>
            <a:noFill/>
          </a:ln>
        </p:spPr>
        <p:txBody>
          <a:bodyPr spcFirstLastPara="1" wrap="square" lIns="68575" tIns="68575" rIns="68575" bIns="68575" anchor="t" anchorCtr="0">
            <a:noAutofit/>
          </a:bodyPr>
          <a:lstStyle>
            <a:lvl1pPr marL="0" marR="0" lvl="0" indent="0" algn="ctr" rtl="0">
              <a:spcBef>
                <a:spcPts val="2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1pPr>
            <a:lvl2pPr marL="342900" marR="0" lvl="1"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2pPr>
            <a:lvl3pPr marL="685800" marR="0" lvl="2"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3pPr>
            <a:lvl4pPr marL="1028700" marR="0" lvl="3"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4pPr>
            <a:lvl5pPr marL="1371600" marR="0" lvl="4"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5pPr>
            <a:lvl6pPr marL="1714500" marR="0" lvl="5"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6pPr>
            <a:lvl7pPr marL="2057400" marR="0" lvl="6"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7pPr>
            <a:lvl8pPr marL="2400300" marR="0" lvl="7" indent="0" algn="l" rtl="0">
              <a:spcBef>
                <a:spcPts val="500"/>
              </a:spcBef>
              <a:spcAft>
                <a:spcPts val="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8pPr>
            <a:lvl9pPr marL="2743200" marR="0" lvl="8" indent="0" algn="l" rtl="0">
              <a:spcBef>
                <a:spcPts val="500"/>
              </a:spcBef>
              <a:spcAft>
                <a:spcPts val="500"/>
              </a:spcAft>
              <a:buClr>
                <a:schemeClr val="accent2"/>
              </a:buClr>
              <a:buSzPts val="1100"/>
              <a:buFont typeface="Noto Sans Symbols"/>
              <a:buNone/>
              <a:defRPr sz="1200" b="0" i="0" u="none" strike="noStrike" cap="none">
                <a:solidFill>
                  <a:schemeClr val="dk2"/>
                </a:solidFill>
                <a:latin typeface="Cabin"/>
                <a:ea typeface="Cabin"/>
                <a:cs typeface="Cabin"/>
                <a:sym typeface="Cabin"/>
              </a:defRPr>
            </a:lvl9pPr>
          </a:lstStyle>
          <a:p>
            <a:endParaRPr/>
          </a:p>
        </p:txBody>
      </p:sp>
      <p:sp>
        <p:nvSpPr>
          <p:cNvPr id="55" name="Google Shape;55;p7"/>
          <p:cNvSpPr txBox="1">
            <a:spLocks noGrp="1"/>
          </p:cNvSpPr>
          <p:nvPr>
            <p:ph type="body" idx="1"/>
          </p:nvPr>
        </p:nvSpPr>
        <p:spPr>
          <a:xfrm>
            <a:off x="435894" y="3945095"/>
            <a:ext cx="8272200" cy="449100"/>
          </a:xfrm>
          <a:prstGeom prst="rect">
            <a:avLst/>
          </a:prstGeom>
          <a:noFill/>
          <a:ln>
            <a:noFill/>
          </a:ln>
        </p:spPr>
        <p:txBody>
          <a:bodyPr spcFirstLastPara="1" wrap="square" lIns="68575" tIns="68575" rIns="68575" bIns="68575" anchor="ctr" anchorCtr="0">
            <a:noAutofit/>
          </a:bodyPr>
          <a:lstStyle>
            <a:lvl1pPr marL="457200" marR="0" lvl="0" indent="-228600" algn="l" rtl="0">
              <a:spcBef>
                <a:spcPts val="200"/>
              </a:spcBef>
              <a:spcAft>
                <a:spcPts val="0"/>
              </a:spcAft>
              <a:buClr>
                <a:schemeClr val="accent2"/>
              </a:buClr>
              <a:buSzPts val="1200"/>
              <a:buFont typeface="Noto Sans Symbols"/>
              <a:buNone/>
              <a:defRPr sz="900" b="0" i="0" u="none" strike="noStrike" cap="none">
                <a:solidFill>
                  <a:schemeClr val="dk2"/>
                </a:solidFill>
                <a:latin typeface="Cabin"/>
                <a:ea typeface="Cabin"/>
                <a:cs typeface="Cabin"/>
                <a:sym typeface="Cabin"/>
              </a:defRPr>
            </a:lvl1pPr>
            <a:lvl2pPr marL="914400" marR="0" lvl="1" indent="-228600" algn="l" rtl="0">
              <a:spcBef>
                <a:spcPts val="500"/>
              </a:spcBef>
              <a:spcAft>
                <a:spcPts val="0"/>
              </a:spcAft>
              <a:buClr>
                <a:schemeClr val="accent2"/>
              </a:buClr>
              <a:buSzPts val="1100"/>
              <a:buFont typeface="Noto Sans Symbols"/>
              <a:buNone/>
              <a:defRPr sz="900" b="0" i="0" u="none" strike="noStrike" cap="none">
                <a:solidFill>
                  <a:schemeClr val="dk2"/>
                </a:solidFill>
                <a:latin typeface="Cabin"/>
                <a:ea typeface="Cabin"/>
                <a:cs typeface="Cabin"/>
                <a:sym typeface="Cabin"/>
              </a:defRPr>
            </a:lvl2pPr>
            <a:lvl3pPr marL="1371600" marR="0" lvl="2" indent="-228600" algn="l" rtl="0">
              <a:spcBef>
                <a:spcPts val="500"/>
              </a:spcBef>
              <a:spcAft>
                <a:spcPts val="0"/>
              </a:spcAft>
              <a:buClr>
                <a:schemeClr val="accent2"/>
              </a:buClr>
              <a:buSzPts val="1000"/>
              <a:buFont typeface="Noto Sans Symbols"/>
              <a:buNone/>
              <a:defRPr sz="800" b="0" i="0" u="none" strike="noStrike" cap="none">
                <a:solidFill>
                  <a:schemeClr val="dk2"/>
                </a:solidFill>
                <a:latin typeface="Cabin"/>
                <a:ea typeface="Cabin"/>
                <a:cs typeface="Cabin"/>
                <a:sym typeface="Cabin"/>
              </a:defRPr>
            </a:lvl3pPr>
            <a:lvl4pPr marL="1828800" marR="0" lvl="3"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4pPr>
            <a:lvl5pPr marL="2286000" marR="0" lvl="4"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5pPr>
            <a:lvl6pPr marL="2743200" marR="0" lvl="5"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6pPr>
            <a:lvl7pPr marL="3200400" marR="0" lvl="6"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7pPr>
            <a:lvl8pPr marL="3657600" marR="0" lvl="7"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8pPr>
            <a:lvl9pPr marL="4114800" marR="0" lvl="8" indent="-228600" algn="l" rtl="0">
              <a:spcBef>
                <a:spcPts val="500"/>
              </a:spcBef>
              <a:spcAft>
                <a:spcPts val="50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9pPr>
          </a:lstStyle>
          <a:p>
            <a:endParaRPr/>
          </a:p>
        </p:txBody>
      </p:sp>
      <p:sp>
        <p:nvSpPr>
          <p:cNvPr id="56" name="Google Shape;56;p7"/>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57" name="Google Shape;57;p7"/>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58" name="Google Shape;58;p7"/>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en nadpis" type="titleOnly">
  <p:cSld name="TITLE_ONLY">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61" name="Google Shape;61;p8"/>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62" name="Google Shape;62;p8"/>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
        <p:nvSpPr>
          <p:cNvPr id="63" name="Google Shape;63;p8"/>
          <p:cNvSpPr/>
          <p:nvPr/>
        </p:nvSpPr>
        <p:spPr>
          <a:xfrm>
            <a:off x="330512" y="454916"/>
            <a:ext cx="8475000" cy="9441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4" name="Google Shape;64;p8"/>
          <p:cNvSpPr txBox="1">
            <a:spLocks noGrp="1"/>
          </p:cNvSpPr>
          <p:nvPr>
            <p:ph type="title"/>
          </p:nvPr>
        </p:nvSpPr>
        <p:spPr>
          <a:xfrm>
            <a:off x="431920" y="547244"/>
            <a:ext cx="8272200" cy="7413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1100"/>
              <a:buFont typeface="Cabin"/>
              <a:buNone/>
              <a:defRPr sz="2100" b="0" i="0" u="none" strike="noStrike" cap="none">
                <a:solidFill>
                  <a:schemeClr val="l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rázdna" type="blank">
  <p:cSld name="BLANK">
    <p:spTree>
      <p:nvGrpSpPr>
        <p:cNvPr id="1" name="Shape 65"/>
        <p:cNvGrpSpPr/>
        <p:nvPr/>
      </p:nvGrpSpPr>
      <p:grpSpPr>
        <a:xfrm>
          <a:off x="0" y="0"/>
          <a:ext cx="0" cy="0"/>
          <a:chOff x="0" y="0"/>
          <a:chExt cx="0" cy="0"/>
        </a:xfrm>
      </p:grpSpPr>
      <p:sp>
        <p:nvSpPr>
          <p:cNvPr id="66" name="Google Shape;66;p9"/>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67" name="Google Shape;67;p9"/>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68" name="Google Shape;68;p9"/>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bsah s popisom" type="objTx">
  <p:cSld name="OBJECT_WITH_CAPTION_TEXT">
    <p:spTree>
      <p:nvGrpSpPr>
        <p:cNvPr id="1" name="Shape 69"/>
        <p:cNvGrpSpPr/>
        <p:nvPr/>
      </p:nvGrpSpPr>
      <p:grpSpPr>
        <a:xfrm>
          <a:off x="0" y="0"/>
          <a:ext cx="0" cy="0"/>
          <a:chOff x="0" y="0"/>
          <a:chExt cx="0" cy="0"/>
        </a:xfrm>
      </p:grpSpPr>
      <p:sp>
        <p:nvSpPr>
          <p:cNvPr id="70" name="Google Shape;70;p10"/>
          <p:cNvSpPr/>
          <p:nvPr/>
        </p:nvSpPr>
        <p:spPr>
          <a:xfrm>
            <a:off x="335863" y="3856480"/>
            <a:ext cx="8473500" cy="9561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1" name="Google Shape;71;p10"/>
          <p:cNvSpPr txBox="1">
            <a:spLocks noGrp="1"/>
          </p:cNvSpPr>
          <p:nvPr>
            <p:ph type="title"/>
          </p:nvPr>
        </p:nvSpPr>
        <p:spPr>
          <a:xfrm>
            <a:off x="435894" y="3946722"/>
            <a:ext cx="3682200" cy="5172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Clr>
                <a:srgbClr val="2D58AC"/>
              </a:buClr>
              <a:buSzPts val="1100"/>
              <a:buFont typeface="Cabin"/>
              <a:buNone/>
              <a:defRPr sz="1500" b="0" i="0" u="none" strike="noStrike" cap="none">
                <a:solidFill>
                  <a:srgbClr val="2D58AC"/>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72" name="Google Shape;72;p10"/>
          <p:cNvSpPr txBox="1">
            <a:spLocks noGrp="1"/>
          </p:cNvSpPr>
          <p:nvPr>
            <p:ph type="body" idx="1"/>
          </p:nvPr>
        </p:nvSpPr>
        <p:spPr>
          <a:xfrm>
            <a:off x="335862" y="450900"/>
            <a:ext cx="8469600" cy="3153600"/>
          </a:xfrm>
          <a:prstGeom prst="rect">
            <a:avLst/>
          </a:prstGeom>
          <a:noFill/>
          <a:ln>
            <a:noFill/>
          </a:ln>
        </p:spPr>
        <p:txBody>
          <a:bodyPr spcFirstLastPara="1" wrap="square" lIns="68575" tIns="68575" rIns="68575" bIns="68575" anchor="ctr" anchorCtr="0">
            <a:noAutofit/>
          </a:bodyPr>
          <a:lstStyle>
            <a:lvl1pPr marL="457200" marR="0" lvl="0" indent="-317500" algn="l" rtl="0">
              <a:spcBef>
                <a:spcPts val="300"/>
              </a:spcBef>
              <a:spcAft>
                <a:spcPts val="0"/>
              </a:spcAft>
              <a:buClr>
                <a:schemeClr val="accent2"/>
              </a:buClr>
              <a:buSzPts val="1400"/>
              <a:buFont typeface="Noto Sans Symbols"/>
              <a:buChar char="◼"/>
              <a:defRPr sz="1500" b="0" i="0" u="none" strike="noStrike" cap="none">
                <a:solidFill>
                  <a:schemeClr val="dk2"/>
                </a:solidFill>
                <a:latin typeface="Cabin"/>
                <a:ea typeface="Cabin"/>
                <a:cs typeface="Cabin"/>
                <a:sym typeface="Cabin"/>
              </a:defRPr>
            </a:lvl1pPr>
            <a:lvl2pPr marL="914400" marR="0" lvl="1" indent="-304800" algn="l" rtl="0">
              <a:spcBef>
                <a:spcPts val="5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2pPr>
            <a:lvl3pPr marL="1371600" marR="0" lvl="2"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3pPr>
            <a:lvl4pPr marL="1828800" marR="0" lvl="3"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4pPr>
            <a:lvl5pPr marL="2286000" marR="0" lvl="4"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5pPr>
            <a:lvl6pPr marL="2743200" marR="0" lvl="5"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6pPr>
            <a:lvl7pPr marL="3200400" marR="0" lvl="6"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7pPr>
            <a:lvl8pPr marL="3657600" marR="0" lvl="7"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8pPr>
            <a:lvl9pPr marL="4114800" marR="0" lvl="8" indent="-292100" algn="l" rtl="0">
              <a:spcBef>
                <a:spcPts val="500"/>
              </a:spcBef>
              <a:spcAft>
                <a:spcPts val="50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9pPr>
          </a:lstStyle>
          <a:p>
            <a:endParaRPr/>
          </a:p>
        </p:txBody>
      </p:sp>
      <p:sp>
        <p:nvSpPr>
          <p:cNvPr id="73" name="Google Shape;73;p10"/>
          <p:cNvSpPr txBox="1">
            <a:spLocks noGrp="1"/>
          </p:cNvSpPr>
          <p:nvPr>
            <p:ph type="body" idx="2"/>
          </p:nvPr>
        </p:nvSpPr>
        <p:spPr>
          <a:xfrm>
            <a:off x="4305617" y="3946722"/>
            <a:ext cx="4402500" cy="517200"/>
          </a:xfrm>
          <a:prstGeom prst="rect">
            <a:avLst/>
          </a:prstGeom>
          <a:noFill/>
          <a:ln>
            <a:noFill/>
          </a:ln>
        </p:spPr>
        <p:txBody>
          <a:bodyPr spcFirstLastPara="1" wrap="square" lIns="68575" tIns="68575" rIns="68575" bIns="68575" anchor="ctr" anchorCtr="0">
            <a:noAutofit/>
          </a:bodyPr>
          <a:lstStyle>
            <a:lvl1pPr marL="457200" marR="0" lvl="0" indent="-228600" algn="r" rtl="0">
              <a:spcBef>
                <a:spcPts val="200"/>
              </a:spcBef>
              <a:spcAft>
                <a:spcPts val="0"/>
              </a:spcAft>
              <a:buClr>
                <a:schemeClr val="accent2"/>
              </a:buClr>
              <a:buSzPts val="1200"/>
              <a:buFont typeface="Noto Sans Symbols"/>
              <a:buNone/>
              <a:defRPr sz="800" b="0" i="0" u="none" strike="noStrike" cap="none">
                <a:solidFill>
                  <a:schemeClr val="lt1"/>
                </a:solidFill>
                <a:latin typeface="Cabin"/>
                <a:ea typeface="Cabin"/>
                <a:cs typeface="Cabin"/>
                <a:sym typeface="Cabin"/>
              </a:defRPr>
            </a:lvl1pPr>
            <a:lvl2pPr marL="914400" marR="0" lvl="1" indent="-228600" algn="l" rtl="0">
              <a:spcBef>
                <a:spcPts val="500"/>
              </a:spcBef>
              <a:spcAft>
                <a:spcPts val="0"/>
              </a:spcAft>
              <a:buClr>
                <a:schemeClr val="accent2"/>
              </a:buClr>
              <a:buSzPts val="1100"/>
              <a:buFont typeface="Noto Sans Symbols"/>
              <a:buNone/>
              <a:defRPr sz="800" b="0" i="0" u="none" strike="noStrike" cap="none">
                <a:solidFill>
                  <a:schemeClr val="dk2"/>
                </a:solidFill>
                <a:latin typeface="Cabin"/>
                <a:ea typeface="Cabin"/>
                <a:cs typeface="Cabin"/>
                <a:sym typeface="Cabin"/>
              </a:defRPr>
            </a:lvl2pPr>
            <a:lvl3pPr marL="1371600" marR="0" lvl="2" indent="-228600" algn="l" rtl="0">
              <a:spcBef>
                <a:spcPts val="500"/>
              </a:spcBef>
              <a:spcAft>
                <a:spcPts val="0"/>
              </a:spcAft>
              <a:buClr>
                <a:schemeClr val="accent2"/>
              </a:buClr>
              <a:buSzPts val="1000"/>
              <a:buFont typeface="Noto Sans Symbols"/>
              <a:buNone/>
              <a:defRPr sz="800" b="0" i="0" u="none" strike="noStrike" cap="none">
                <a:solidFill>
                  <a:schemeClr val="dk2"/>
                </a:solidFill>
                <a:latin typeface="Cabin"/>
                <a:ea typeface="Cabin"/>
                <a:cs typeface="Cabin"/>
                <a:sym typeface="Cabin"/>
              </a:defRPr>
            </a:lvl3pPr>
            <a:lvl4pPr marL="1828800" marR="0" lvl="3"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4pPr>
            <a:lvl5pPr marL="2286000" marR="0" lvl="4"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5pPr>
            <a:lvl6pPr marL="2743200" marR="0" lvl="5"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6pPr>
            <a:lvl7pPr marL="3200400" marR="0" lvl="6"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7pPr>
            <a:lvl8pPr marL="3657600" marR="0" lvl="7" indent="-228600" algn="l" rtl="0">
              <a:spcBef>
                <a:spcPts val="500"/>
              </a:spcBef>
              <a:spcAft>
                <a:spcPts val="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8pPr>
            <a:lvl9pPr marL="4114800" marR="0" lvl="8" indent="-228600" algn="l" rtl="0">
              <a:spcBef>
                <a:spcPts val="500"/>
              </a:spcBef>
              <a:spcAft>
                <a:spcPts val="500"/>
              </a:spcAft>
              <a:buClr>
                <a:schemeClr val="accent2"/>
              </a:buClr>
              <a:buSzPts val="800"/>
              <a:buFont typeface="Noto Sans Symbols"/>
              <a:buNone/>
              <a:defRPr sz="700" b="0" i="0" u="none" strike="noStrike" cap="none">
                <a:solidFill>
                  <a:schemeClr val="dk2"/>
                </a:solidFill>
                <a:latin typeface="Cabin"/>
                <a:ea typeface="Cabin"/>
                <a:cs typeface="Cabin"/>
                <a:sym typeface="Cabin"/>
              </a:defRPr>
            </a:lvl9pPr>
          </a:lstStyle>
          <a:p>
            <a:endParaRPr/>
          </a:p>
        </p:txBody>
      </p:sp>
      <p:sp>
        <p:nvSpPr>
          <p:cNvPr id="74" name="Google Shape;74;p10"/>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75" name="Google Shape;75;p10"/>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76" name="Google Shape;76;p10"/>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2D58AC"/>
                </a:solidFill>
                <a:latin typeface="Cabin"/>
                <a:ea typeface="Cabin"/>
                <a:cs typeface="Cabin"/>
                <a:sym typeface="Cabin"/>
              </a:defRPr>
            </a:lvl1pPr>
            <a:lvl2pPr marL="0" marR="0" lvl="1" indent="0" algn="r" rtl="0">
              <a:spcBef>
                <a:spcPts val="0"/>
              </a:spcBef>
              <a:buNone/>
              <a:defRPr sz="700" b="0" i="0" u="none" strike="noStrike" cap="none">
                <a:solidFill>
                  <a:srgbClr val="2D58AC"/>
                </a:solidFill>
                <a:latin typeface="Cabin"/>
                <a:ea typeface="Cabin"/>
                <a:cs typeface="Cabin"/>
                <a:sym typeface="Cabin"/>
              </a:defRPr>
            </a:lvl2pPr>
            <a:lvl3pPr marL="0" marR="0" lvl="2" indent="0" algn="r" rtl="0">
              <a:spcBef>
                <a:spcPts val="0"/>
              </a:spcBef>
              <a:buNone/>
              <a:defRPr sz="700" b="0" i="0" u="none" strike="noStrike" cap="none">
                <a:solidFill>
                  <a:srgbClr val="2D58AC"/>
                </a:solidFill>
                <a:latin typeface="Cabin"/>
                <a:ea typeface="Cabin"/>
                <a:cs typeface="Cabin"/>
                <a:sym typeface="Cabin"/>
              </a:defRPr>
            </a:lvl3pPr>
            <a:lvl4pPr marL="0" marR="0" lvl="3" indent="0" algn="r" rtl="0">
              <a:spcBef>
                <a:spcPts val="0"/>
              </a:spcBef>
              <a:buNone/>
              <a:defRPr sz="700" b="0" i="0" u="none" strike="noStrike" cap="none">
                <a:solidFill>
                  <a:srgbClr val="2D58AC"/>
                </a:solidFill>
                <a:latin typeface="Cabin"/>
                <a:ea typeface="Cabin"/>
                <a:cs typeface="Cabin"/>
                <a:sym typeface="Cabin"/>
              </a:defRPr>
            </a:lvl4pPr>
            <a:lvl5pPr marL="0" marR="0" lvl="4" indent="0" algn="r" rtl="0">
              <a:spcBef>
                <a:spcPts val="0"/>
              </a:spcBef>
              <a:buNone/>
              <a:defRPr sz="700" b="0" i="0" u="none" strike="noStrike" cap="none">
                <a:solidFill>
                  <a:srgbClr val="2D58AC"/>
                </a:solidFill>
                <a:latin typeface="Cabin"/>
                <a:ea typeface="Cabin"/>
                <a:cs typeface="Cabin"/>
                <a:sym typeface="Cabin"/>
              </a:defRPr>
            </a:lvl5pPr>
            <a:lvl6pPr marL="0" marR="0" lvl="5" indent="0" algn="r" rtl="0">
              <a:spcBef>
                <a:spcPts val="0"/>
              </a:spcBef>
              <a:buNone/>
              <a:defRPr sz="700" b="0" i="0" u="none" strike="noStrike" cap="none">
                <a:solidFill>
                  <a:srgbClr val="2D58AC"/>
                </a:solidFill>
                <a:latin typeface="Cabin"/>
                <a:ea typeface="Cabin"/>
                <a:cs typeface="Cabin"/>
                <a:sym typeface="Cabin"/>
              </a:defRPr>
            </a:lvl6pPr>
            <a:lvl7pPr marL="0" marR="0" lvl="6" indent="0" algn="r" rtl="0">
              <a:spcBef>
                <a:spcPts val="0"/>
              </a:spcBef>
              <a:buNone/>
              <a:defRPr sz="700" b="0" i="0" u="none" strike="noStrike" cap="none">
                <a:solidFill>
                  <a:srgbClr val="2D58AC"/>
                </a:solidFill>
                <a:latin typeface="Cabin"/>
                <a:ea typeface="Cabin"/>
                <a:cs typeface="Cabin"/>
                <a:sym typeface="Cabin"/>
              </a:defRPr>
            </a:lvl7pPr>
            <a:lvl8pPr marL="0" marR="0" lvl="7" indent="0" algn="r" rtl="0">
              <a:spcBef>
                <a:spcPts val="0"/>
              </a:spcBef>
              <a:buNone/>
              <a:defRPr sz="700" b="0" i="0" u="none" strike="noStrike" cap="none">
                <a:solidFill>
                  <a:srgbClr val="2D58AC"/>
                </a:solidFill>
                <a:latin typeface="Cabin"/>
                <a:ea typeface="Cabin"/>
                <a:cs typeface="Cabin"/>
                <a:sym typeface="Cabin"/>
              </a:defRPr>
            </a:lvl8pPr>
            <a:lvl9pPr marL="0" marR="0" lvl="8" indent="0" algn="r" rtl="0">
              <a:spcBef>
                <a:spcPts val="0"/>
              </a:spcBef>
              <a:buNone/>
              <a:defRPr sz="700" b="0" i="0" u="none" strike="noStrike" cap="none">
                <a:solidFill>
                  <a:srgbClr val="2D58AC"/>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adpis a zvislý text" type="vertTx">
  <p:cSld name="VERTICAL_TEXT">
    <p:spTree>
      <p:nvGrpSpPr>
        <p:cNvPr id="1" name="Shape 77"/>
        <p:cNvGrpSpPr/>
        <p:nvPr/>
      </p:nvGrpSpPr>
      <p:grpSpPr>
        <a:xfrm>
          <a:off x="0" y="0"/>
          <a:ext cx="0" cy="0"/>
          <a:chOff x="0" y="0"/>
          <a:chExt cx="0" cy="0"/>
        </a:xfrm>
      </p:grpSpPr>
      <p:sp>
        <p:nvSpPr>
          <p:cNvPr id="78" name="Google Shape;78;p11"/>
          <p:cNvSpPr/>
          <p:nvPr/>
        </p:nvSpPr>
        <p:spPr>
          <a:xfrm>
            <a:off x="330214" y="460805"/>
            <a:ext cx="8481900" cy="8919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9" name="Google Shape;79;p11"/>
          <p:cNvSpPr txBox="1">
            <a:spLocks noGrp="1"/>
          </p:cNvSpPr>
          <p:nvPr>
            <p:ph type="title"/>
          </p:nvPr>
        </p:nvSpPr>
        <p:spPr>
          <a:xfrm>
            <a:off x="435894" y="526617"/>
            <a:ext cx="8272200" cy="7602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1100"/>
              <a:buFont typeface="Cabin"/>
              <a:buNone/>
              <a:defRPr sz="2100" b="0" i="0" u="none" strike="noStrike" cap="none">
                <a:solidFill>
                  <a:schemeClr val="l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80" name="Google Shape;80;p11"/>
          <p:cNvSpPr txBox="1">
            <a:spLocks noGrp="1"/>
          </p:cNvSpPr>
          <p:nvPr>
            <p:ph type="body" idx="1"/>
          </p:nvPr>
        </p:nvSpPr>
        <p:spPr>
          <a:xfrm rot="5400000">
            <a:off x="3250956" y="-1063048"/>
            <a:ext cx="2642100" cy="8272200"/>
          </a:xfrm>
          <a:prstGeom prst="rect">
            <a:avLst/>
          </a:prstGeom>
          <a:noFill/>
          <a:ln>
            <a:noFill/>
          </a:ln>
        </p:spPr>
        <p:txBody>
          <a:bodyPr spcFirstLastPara="1" wrap="square" lIns="68575" tIns="68575" rIns="68575" bIns="68575" anchor="t"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81" name="Google Shape;81;p11"/>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82" name="Google Shape;82;p11"/>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83" name="Google Shape;83;p11"/>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Zvislý nadpis a text" type="vertTitleAndTx">
  <p:cSld name="VERTICAL_TITLE_AND_VERTICAL_TEXT">
    <p:spTree>
      <p:nvGrpSpPr>
        <p:cNvPr id="1" name="Shape 84"/>
        <p:cNvGrpSpPr/>
        <p:nvPr/>
      </p:nvGrpSpPr>
      <p:grpSpPr>
        <a:xfrm>
          <a:off x="0" y="0"/>
          <a:ext cx="0" cy="0"/>
          <a:chOff x="0" y="0"/>
          <a:chExt cx="0" cy="0"/>
        </a:xfrm>
      </p:grpSpPr>
      <p:sp>
        <p:nvSpPr>
          <p:cNvPr id="85" name="Google Shape;85;p12"/>
          <p:cNvSpPr/>
          <p:nvPr/>
        </p:nvSpPr>
        <p:spPr>
          <a:xfrm>
            <a:off x="6629401" y="449794"/>
            <a:ext cx="2180100" cy="43626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6" name="Google Shape;86;p12"/>
          <p:cNvSpPr txBox="1">
            <a:spLocks noGrp="1"/>
          </p:cNvSpPr>
          <p:nvPr>
            <p:ph type="title"/>
          </p:nvPr>
        </p:nvSpPr>
        <p:spPr>
          <a:xfrm rot="5400000">
            <a:off x="5437324" y="1698994"/>
            <a:ext cx="3887400" cy="15030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1100"/>
              <a:buFont typeface="Cabin"/>
              <a:buNone/>
              <a:defRPr sz="2100" b="0" i="0" u="none" strike="noStrike" cap="none">
                <a:solidFill>
                  <a:schemeClr val="l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87" name="Google Shape;87;p12"/>
          <p:cNvSpPr txBox="1">
            <a:spLocks noGrp="1"/>
          </p:cNvSpPr>
          <p:nvPr>
            <p:ph type="body" idx="1"/>
          </p:nvPr>
        </p:nvSpPr>
        <p:spPr>
          <a:xfrm rot="5400000">
            <a:off x="1598552" y="-510656"/>
            <a:ext cx="3887400" cy="5922300"/>
          </a:xfrm>
          <a:prstGeom prst="rect">
            <a:avLst/>
          </a:prstGeom>
          <a:noFill/>
          <a:ln>
            <a:noFill/>
          </a:ln>
        </p:spPr>
        <p:txBody>
          <a:bodyPr spcFirstLastPara="1" wrap="square" lIns="68575" tIns="68575" rIns="68575" bIns="68575" anchor="t"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88" name="Google Shape;88;p12"/>
          <p:cNvSpPr txBox="1">
            <a:spLocks noGrp="1"/>
          </p:cNvSpPr>
          <p:nvPr>
            <p:ph type="dt" idx="10"/>
          </p:nvPr>
        </p:nvSpPr>
        <p:spPr>
          <a:xfrm>
            <a:off x="6745254" y="4467103"/>
            <a:ext cx="9960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rgbClr val="2D58AC"/>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89" name="Google Shape;89;p12"/>
          <p:cNvSpPr txBox="1">
            <a:spLocks noGrp="1"/>
          </p:cNvSpPr>
          <p:nvPr>
            <p:ph type="ftr" idx="11"/>
          </p:nvPr>
        </p:nvSpPr>
        <p:spPr>
          <a:xfrm>
            <a:off x="581192" y="4463858"/>
            <a:ext cx="59223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90" name="Google Shape;90;p12"/>
          <p:cNvSpPr txBox="1">
            <a:spLocks noGrp="1"/>
          </p:cNvSpPr>
          <p:nvPr>
            <p:ph type="sldNum" idx="12"/>
          </p:nvPr>
        </p:nvSpPr>
        <p:spPr>
          <a:xfrm>
            <a:off x="7834961" y="4467103"/>
            <a:ext cx="8730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2D58AC"/>
                </a:solidFill>
                <a:latin typeface="Cabin"/>
                <a:ea typeface="Cabin"/>
                <a:cs typeface="Cabin"/>
                <a:sym typeface="Cabin"/>
              </a:defRPr>
            </a:lvl1pPr>
            <a:lvl2pPr marL="0" marR="0" lvl="1" indent="0" algn="r" rtl="0">
              <a:spcBef>
                <a:spcPts val="0"/>
              </a:spcBef>
              <a:buNone/>
              <a:defRPr sz="700" b="0" i="0" u="none" strike="noStrike" cap="none">
                <a:solidFill>
                  <a:srgbClr val="2D58AC"/>
                </a:solidFill>
                <a:latin typeface="Cabin"/>
                <a:ea typeface="Cabin"/>
                <a:cs typeface="Cabin"/>
                <a:sym typeface="Cabin"/>
              </a:defRPr>
            </a:lvl2pPr>
            <a:lvl3pPr marL="0" marR="0" lvl="2" indent="0" algn="r" rtl="0">
              <a:spcBef>
                <a:spcPts val="0"/>
              </a:spcBef>
              <a:buNone/>
              <a:defRPr sz="700" b="0" i="0" u="none" strike="noStrike" cap="none">
                <a:solidFill>
                  <a:srgbClr val="2D58AC"/>
                </a:solidFill>
                <a:latin typeface="Cabin"/>
                <a:ea typeface="Cabin"/>
                <a:cs typeface="Cabin"/>
                <a:sym typeface="Cabin"/>
              </a:defRPr>
            </a:lvl3pPr>
            <a:lvl4pPr marL="0" marR="0" lvl="3" indent="0" algn="r" rtl="0">
              <a:spcBef>
                <a:spcPts val="0"/>
              </a:spcBef>
              <a:buNone/>
              <a:defRPr sz="700" b="0" i="0" u="none" strike="noStrike" cap="none">
                <a:solidFill>
                  <a:srgbClr val="2D58AC"/>
                </a:solidFill>
                <a:latin typeface="Cabin"/>
                <a:ea typeface="Cabin"/>
                <a:cs typeface="Cabin"/>
                <a:sym typeface="Cabin"/>
              </a:defRPr>
            </a:lvl4pPr>
            <a:lvl5pPr marL="0" marR="0" lvl="4" indent="0" algn="r" rtl="0">
              <a:spcBef>
                <a:spcPts val="0"/>
              </a:spcBef>
              <a:buNone/>
              <a:defRPr sz="700" b="0" i="0" u="none" strike="noStrike" cap="none">
                <a:solidFill>
                  <a:srgbClr val="2D58AC"/>
                </a:solidFill>
                <a:latin typeface="Cabin"/>
                <a:ea typeface="Cabin"/>
                <a:cs typeface="Cabin"/>
                <a:sym typeface="Cabin"/>
              </a:defRPr>
            </a:lvl5pPr>
            <a:lvl6pPr marL="0" marR="0" lvl="5" indent="0" algn="r" rtl="0">
              <a:spcBef>
                <a:spcPts val="0"/>
              </a:spcBef>
              <a:buNone/>
              <a:defRPr sz="700" b="0" i="0" u="none" strike="noStrike" cap="none">
                <a:solidFill>
                  <a:srgbClr val="2D58AC"/>
                </a:solidFill>
                <a:latin typeface="Cabin"/>
                <a:ea typeface="Cabin"/>
                <a:cs typeface="Cabin"/>
                <a:sym typeface="Cabin"/>
              </a:defRPr>
            </a:lvl6pPr>
            <a:lvl7pPr marL="0" marR="0" lvl="6" indent="0" algn="r" rtl="0">
              <a:spcBef>
                <a:spcPts val="0"/>
              </a:spcBef>
              <a:buNone/>
              <a:defRPr sz="700" b="0" i="0" u="none" strike="noStrike" cap="none">
                <a:solidFill>
                  <a:srgbClr val="2D58AC"/>
                </a:solidFill>
                <a:latin typeface="Cabin"/>
                <a:ea typeface="Cabin"/>
                <a:cs typeface="Cabin"/>
                <a:sym typeface="Cabin"/>
              </a:defRPr>
            </a:lvl7pPr>
            <a:lvl8pPr marL="0" marR="0" lvl="7" indent="0" algn="r" rtl="0">
              <a:spcBef>
                <a:spcPts val="0"/>
              </a:spcBef>
              <a:buNone/>
              <a:defRPr sz="700" b="0" i="0" u="none" strike="noStrike" cap="none">
                <a:solidFill>
                  <a:srgbClr val="2D58AC"/>
                </a:solidFill>
                <a:latin typeface="Cabin"/>
                <a:ea typeface="Cabin"/>
                <a:cs typeface="Cabin"/>
                <a:sym typeface="Cabin"/>
              </a:defRPr>
            </a:lvl8pPr>
            <a:lvl9pPr marL="0" marR="0" lvl="8" indent="0" algn="r" rtl="0">
              <a:spcBef>
                <a:spcPts val="0"/>
              </a:spcBef>
              <a:buNone/>
              <a:defRPr sz="700" b="0" i="0" u="none" strike="noStrike" cap="none">
                <a:solidFill>
                  <a:srgbClr val="2D58AC"/>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311700" y="445025"/>
            <a:ext cx="8520600" cy="572700"/>
          </a:xfrm>
          <a:prstGeom prst="rect">
            <a:avLst/>
          </a:prstGeom>
        </p:spPr>
        <p:txBody>
          <a:bodyPr spcFirstLastPara="1" wrap="square" lIns="68575" tIns="68575" rIns="68575" bIns="68575" anchor="b" anchorCtr="0">
            <a:noAutofit/>
          </a:bodyPr>
          <a:lstStyle>
            <a:lvl1pPr lvl="0" rtl="0">
              <a:spcBef>
                <a:spcPts val="0"/>
              </a:spcBef>
              <a:spcAft>
                <a:spcPts val="0"/>
              </a:spcAft>
              <a:buSzPts val="11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93" name="Google Shape;93;p13"/>
          <p:cNvSpPr txBox="1">
            <a:spLocks noGrp="1"/>
          </p:cNvSpPr>
          <p:nvPr>
            <p:ph type="body" idx="1"/>
          </p:nvPr>
        </p:nvSpPr>
        <p:spPr>
          <a:xfrm>
            <a:off x="311700" y="1152475"/>
            <a:ext cx="8520600" cy="3416400"/>
          </a:xfrm>
          <a:prstGeom prst="rect">
            <a:avLst/>
          </a:prstGeom>
        </p:spPr>
        <p:txBody>
          <a:bodyPr spcFirstLastPara="1" wrap="square" lIns="68575" tIns="68575" rIns="68575" bIns="68575" anchor="ctr" anchorCtr="0">
            <a:noAutofit/>
          </a:bodyPr>
          <a:lstStyle>
            <a:lvl1pPr marL="457200" lvl="0" indent="-304800" rtl="0">
              <a:spcBef>
                <a:spcPts val="300"/>
              </a:spcBef>
              <a:spcAft>
                <a:spcPts val="0"/>
              </a:spcAft>
              <a:buSzPts val="1200"/>
              <a:buChar char="◼"/>
              <a:defRPr/>
            </a:lvl1pPr>
            <a:lvl2pPr marL="914400" lvl="1" indent="-298450" rtl="0">
              <a:spcBef>
                <a:spcPts val="500"/>
              </a:spcBef>
              <a:spcAft>
                <a:spcPts val="0"/>
              </a:spcAft>
              <a:buSzPts val="1100"/>
              <a:buChar char="◼"/>
              <a:defRPr/>
            </a:lvl2pPr>
            <a:lvl3pPr marL="1371600" lvl="2" indent="-292100" rtl="0">
              <a:spcBef>
                <a:spcPts val="500"/>
              </a:spcBef>
              <a:spcAft>
                <a:spcPts val="0"/>
              </a:spcAft>
              <a:buSzPts val="1000"/>
              <a:buChar char="◼"/>
              <a:defRPr/>
            </a:lvl3pPr>
            <a:lvl4pPr marL="1828800" lvl="3" indent="-279400" rtl="0">
              <a:spcBef>
                <a:spcPts val="500"/>
              </a:spcBef>
              <a:spcAft>
                <a:spcPts val="0"/>
              </a:spcAft>
              <a:buSzPts val="800"/>
              <a:buChar char="◼"/>
              <a:defRPr/>
            </a:lvl4pPr>
            <a:lvl5pPr marL="2286000" lvl="4" indent="-279400" rtl="0">
              <a:spcBef>
                <a:spcPts val="500"/>
              </a:spcBef>
              <a:spcAft>
                <a:spcPts val="0"/>
              </a:spcAft>
              <a:buSzPts val="800"/>
              <a:buChar char="◼"/>
              <a:defRPr/>
            </a:lvl5pPr>
            <a:lvl6pPr marL="2743200" lvl="5" indent="-279400" rtl="0">
              <a:spcBef>
                <a:spcPts val="500"/>
              </a:spcBef>
              <a:spcAft>
                <a:spcPts val="0"/>
              </a:spcAft>
              <a:buSzPts val="800"/>
              <a:buChar char="◼"/>
              <a:defRPr/>
            </a:lvl6pPr>
            <a:lvl7pPr marL="3200400" lvl="6" indent="-279400" rtl="0">
              <a:spcBef>
                <a:spcPts val="500"/>
              </a:spcBef>
              <a:spcAft>
                <a:spcPts val="0"/>
              </a:spcAft>
              <a:buSzPts val="800"/>
              <a:buChar char="◼"/>
              <a:defRPr/>
            </a:lvl7pPr>
            <a:lvl8pPr marL="3657600" lvl="7" indent="-279400" rtl="0">
              <a:spcBef>
                <a:spcPts val="500"/>
              </a:spcBef>
              <a:spcAft>
                <a:spcPts val="0"/>
              </a:spcAft>
              <a:buSzPts val="800"/>
              <a:buChar char="◼"/>
              <a:defRPr/>
            </a:lvl8pPr>
            <a:lvl9pPr marL="4114800" lvl="8" indent="-279400" rtl="0">
              <a:spcBef>
                <a:spcPts val="500"/>
              </a:spcBef>
              <a:spcAft>
                <a:spcPts val="500"/>
              </a:spcAft>
              <a:buSzPts val="800"/>
              <a:buChar char="◼"/>
              <a:defRPr/>
            </a:lvl9pPr>
          </a:lstStyle>
          <a:p>
            <a:endParaRPr/>
          </a:p>
        </p:txBody>
      </p:sp>
      <p:sp>
        <p:nvSpPr>
          <p:cNvPr id="94" name="Google Shape;94;p13"/>
          <p:cNvSpPr txBox="1">
            <a:spLocks noGrp="1"/>
          </p:cNvSpPr>
          <p:nvPr>
            <p:ph type="sldNum" idx="12"/>
          </p:nvPr>
        </p:nvSpPr>
        <p:spPr>
          <a:xfrm>
            <a:off x="8472458" y="4663217"/>
            <a:ext cx="548700" cy="393600"/>
          </a:xfrm>
          <a:prstGeom prst="rect">
            <a:avLst/>
          </a:prstGeom>
        </p:spPr>
        <p:txBody>
          <a:bodyPr spcFirstLastPara="1" wrap="square" lIns="68575" tIns="34275" rIns="68575" bIns="3427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pic>
        <p:nvPicPr>
          <p:cNvPr id="95" name="Google Shape;95;p13" descr="logo_azet.png"/>
          <p:cNvPicPr preferRelativeResize="0"/>
          <p:nvPr/>
        </p:nvPicPr>
        <p:blipFill>
          <a:blip r:embed="rId2">
            <a:alphaModFix/>
          </a:blip>
          <a:stretch>
            <a:fillRect/>
          </a:stretch>
        </p:blipFill>
        <p:spPr>
          <a:xfrm>
            <a:off x="358036" y="4765296"/>
            <a:ext cx="548700" cy="209029"/>
          </a:xfrm>
          <a:prstGeom prst="rect">
            <a:avLst/>
          </a:prstGeom>
          <a:noFill/>
          <a:ln>
            <a:noFill/>
          </a:ln>
        </p:spPr>
      </p:pic>
      <p:sp>
        <p:nvSpPr>
          <p:cNvPr id="96" name="Google Shape;96;p13"/>
          <p:cNvSpPr txBox="1"/>
          <p:nvPr/>
        </p:nvSpPr>
        <p:spPr>
          <a:xfrm>
            <a:off x="897350" y="4749928"/>
            <a:ext cx="7734900" cy="90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rgbClr val="147CC1"/>
                </a:solidFill>
              </a:rPr>
              <a:t>číslo </a:t>
            </a:r>
            <a:r>
              <a:rPr lang="en-GB" sz="1000" b="1">
                <a:solidFill>
                  <a:srgbClr val="147CC1"/>
                </a:solidFill>
              </a:rPr>
              <a:t>1</a:t>
            </a:r>
            <a:r>
              <a:rPr lang="en-GB" sz="1000">
                <a:solidFill>
                  <a:srgbClr val="147CC1"/>
                </a:solidFill>
              </a:rPr>
              <a:t> na slovenskom internete</a:t>
            </a:r>
            <a:endParaRPr sz="1000">
              <a:solidFill>
                <a:srgbClr val="147CC1"/>
              </a:solidFill>
            </a:endParaRPr>
          </a:p>
        </p:txBody>
      </p:sp>
      <p:pic>
        <p:nvPicPr>
          <p:cNvPr id="97" name="Google Shape;97;p13" descr="azet-logo-ringier-axel-springer.png"/>
          <p:cNvPicPr preferRelativeResize="0"/>
          <p:nvPr/>
        </p:nvPicPr>
        <p:blipFill>
          <a:blip r:embed="rId3">
            <a:alphaModFix/>
          </a:blip>
          <a:stretch>
            <a:fillRect/>
          </a:stretch>
        </p:blipFill>
        <p:spPr>
          <a:xfrm>
            <a:off x="2783051" y="4779825"/>
            <a:ext cx="675500" cy="311075"/>
          </a:xfrm>
          <a:prstGeom prst="rect">
            <a:avLst/>
          </a:prstGeom>
          <a:noFill/>
          <a:ln>
            <a:noFill/>
          </a:ln>
        </p:spPr>
      </p:pic>
      <p:sp>
        <p:nvSpPr>
          <p:cNvPr id="98" name="Google Shape;98;p13"/>
          <p:cNvSpPr/>
          <p:nvPr/>
        </p:nvSpPr>
        <p:spPr>
          <a:xfrm>
            <a:off x="0" y="0"/>
            <a:ext cx="9144000" cy="445200"/>
          </a:xfrm>
          <a:prstGeom prst="rect">
            <a:avLst/>
          </a:prstGeom>
          <a:solidFill>
            <a:srgbClr val="6EB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txBox="1">
            <a:spLocks noGrp="1"/>
          </p:cNvSpPr>
          <p:nvPr>
            <p:ph type="title" idx="2"/>
          </p:nvPr>
        </p:nvSpPr>
        <p:spPr>
          <a:xfrm>
            <a:off x="311700" y="-37350"/>
            <a:ext cx="7735200" cy="519900"/>
          </a:xfrm>
          <a:prstGeom prst="rect">
            <a:avLst/>
          </a:prstGeom>
        </p:spPr>
        <p:txBody>
          <a:bodyPr spcFirstLastPara="1" wrap="square" lIns="68575" tIns="68575" rIns="68575" bIns="68575" anchor="ctr" anchorCtr="0">
            <a:noAutofit/>
          </a:bodyPr>
          <a:lstStyle>
            <a:lvl1pPr lvl="0" rtl="0">
              <a:spcBef>
                <a:spcPts val="0"/>
              </a:spcBef>
              <a:spcAft>
                <a:spcPts val="0"/>
              </a:spcAft>
              <a:buNone/>
              <a:defRPr sz="2400">
                <a:solidFill>
                  <a:srgbClr val="FFFFFF"/>
                </a:solidFill>
              </a:defRPr>
            </a:lvl1pPr>
            <a:lvl2pPr lvl="1" rtl="0">
              <a:spcBef>
                <a:spcPts val="0"/>
              </a:spcBef>
              <a:spcAft>
                <a:spcPts val="0"/>
              </a:spcAft>
              <a:buNone/>
              <a:defRPr sz="2400">
                <a:solidFill>
                  <a:srgbClr val="FFFFFF"/>
                </a:solidFill>
              </a:defRPr>
            </a:lvl2pPr>
            <a:lvl3pPr lvl="2" rtl="0">
              <a:spcBef>
                <a:spcPts val="0"/>
              </a:spcBef>
              <a:spcAft>
                <a:spcPts val="0"/>
              </a:spcAft>
              <a:buNone/>
              <a:defRPr sz="2400">
                <a:solidFill>
                  <a:srgbClr val="FFFFFF"/>
                </a:solidFill>
              </a:defRPr>
            </a:lvl3pPr>
            <a:lvl4pPr lvl="3" rtl="0">
              <a:spcBef>
                <a:spcPts val="0"/>
              </a:spcBef>
              <a:spcAft>
                <a:spcPts val="0"/>
              </a:spcAft>
              <a:buNone/>
              <a:defRPr sz="2400">
                <a:solidFill>
                  <a:srgbClr val="FFFFFF"/>
                </a:solidFill>
              </a:defRPr>
            </a:lvl4pPr>
            <a:lvl5pPr lvl="4" rtl="0">
              <a:spcBef>
                <a:spcPts val="0"/>
              </a:spcBef>
              <a:spcAft>
                <a:spcPts val="0"/>
              </a:spcAft>
              <a:buNone/>
              <a:defRPr sz="2400">
                <a:solidFill>
                  <a:srgbClr val="FFFFFF"/>
                </a:solidFill>
              </a:defRPr>
            </a:lvl5pPr>
            <a:lvl6pPr lvl="5" rtl="0">
              <a:spcBef>
                <a:spcPts val="0"/>
              </a:spcBef>
              <a:spcAft>
                <a:spcPts val="0"/>
              </a:spcAft>
              <a:buNone/>
              <a:defRPr sz="2400">
                <a:solidFill>
                  <a:srgbClr val="FFFFFF"/>
                </a:solidFill>
              </a:defRPr>
            </a:lvl6pPr>
            <a:lvl7pPr lvl="6" rtl="0">
              <a:spcBef>
                <a:spcPts val="0"/>
              </a:spcBef>
              <a:spcAft>
                <a:spcPts val="0"/>
              </a:spcAft>
              <a:buNone/>
              <a:defRPr sz="2400">
                <a:solidFill>
                  <a:srgbClr val="FFFFFF"/>
                </a:solidFill>
              </a:defRPr>
            </a:lvl7pPr>
            <a:lvl8pPr lvl="7" rtl="0">
              <a:spcBef>
                <a:spcPts val="0"/>
              </a:spcBef>
              <a:spcAft>
                <a:spcPts val="0"/>
              </a:spcAft>
              <a:buNone/>
              <a:defRPr sz="2400">
                <a:solidFill>
                  <a:srgbClr val="FFFFFF"/>
                </a:solidFill>
              </a:defRPr>
            </a:lvl8pPr>
            <a:lvl9pPr lvl="8" rtl="0">
              <a:spcBef>
                <a:spcPts val="0"/>
              </a:spcBef>
              <a:spcAft>
                <a:spcPts val="0"/>
              </a:spcAft>
              <a:buNone/>
              <a:defRPr sz="2400">
                <a:solidFill>
                  <a:srgbClr val="FFFFFF"/>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35894" y="528843"/>
            <a:ext cx="8272200" cy="892200"/>
          </a:xfrm>
          <a:prstGeom prst="rect">
            <a:avLst/>
          </a:prstGeom>
          <a:noFill/>
          <a:ln>
            <a:noFill/>
          </a:ln>
        </p:spPr>
        <p:txBody>
          <a:bodyPr spcFirstLastPara="1" wrap="square" lIns="68575" tIns="68575" rIns="68575" bIns="68575" anchor="b" anchorCtr="0">
            <a:noAutofit/>
          </a:bodyPr>
          <a:lstStyle>
            <a:lvl1pPr marL="0" marR="0" lvl="0" indent="0" algn="l" rtl="0">
              <a:spcBef>
                <a:spcPts val="0"/>
              </a:spcBef>
              <a:spcAft>
                <a:spcPts val="0"/>
              </a:spcAft>
              <a:buClr>
                <a:schemeClr val="lt1"/>
              </a:buClr>
              <a:buSzPts val="1100"/>
              <a:buFont typeface="Cabin"/>
              <a:buNone/>
              <a:defRPr sz="2100" b="0" i="0" u="none" strike="noStrike" cap="none">
                <a:solidFill>
                  <a:schemeClr val="lt1"/>
                </a:solidFill>
                <a:latin typeface="Cabin"/>
                <a:ea typeface="Cabin"/>
                <a:cs typeface="Cabin"/>
                <a:sym typeface="Cabin"/>
              </a:defRPr>
            </a:lvl1pPr>
            <a:lvl2pPr marL="0" marR="0" lvl="1" indent="0" algn="l" rtl="0">
              <a:spcBef>
                <a:spcPts val="0"/>
              </a:spcBef>
              <a:spcAft>
                <a:spcPts val="0"/>
              </a:spcAft>
              <a:buSzPts val="1100"/>
              <a:buNone/>
              <a:defRPr sz="1400" b="0" i="0" u="none" strike="noStrike" cap="none">
                <a:solidFill>
                  <a:schemeClr val="dk2"/>
                </a:solidFill>
              </a:defRPr>
            </a:lvl2pPr>
            <a:lvl3pPr marL="0" marR="0" lvl="2" indent="0" algn="l" rtl="0">
              <a:spcBef>
                <a:spcPts val="0"/>
              </a:spcBef>
              <a:spcAft>
                <a:spcPts val="0"/>
              </a:spcAft>
              <a:buSzPts val="1100"/>
              <a:buNone/>
              <a:defRPr sz="1400" b="0" i="0" u="none" strike="noStrike" cap="none">
                <a:solidFill>
                  <a:schemeClr val="dk2"/>
                </a:solidFill>
              </a:defRPr>
            </a:lvl3pPr>
            <a:lvl4pPr marL="0" marR="0" lvl="3" indent="0" algn="l" rtl="0">
              <a:spcBef>
                <a:spcPts val="0"/>
              </a:spcBef>
              <a:spcAft>
                <a:spcPts val="0"/>
              </a:spcAft>
              <a:buSzPts val="1100"/>
              <a:buNone/>
              <a:defRPr sz="1400" b="0" i="0" u="none" strike="noStrike" cap="none">
                <a:solidFill>
                  <a:schemeClr val="dk2"/>
                </a:solidFill>
              </a:defRPr>
            </a:lvl4pPr>
            <a:lvl5pPr marL="0" marR="0" lvl="4" indent="0" algn="l" rtl="0">
              <a:spcBef>
                <a:spcPts val="0"/>
              </a:spcBef>
              <a:spcAft>
                <a:spcPts val="0"/>
              </a:spcAft>
              <a:buSzPts val="1100"/>
              <a:buNone/>
              <a:defRPr sz="1400" b="0" i="0" u="none" strike="noStrike" cap="none">
                <a:solidFill>
                  <a:schemeClr val="dk2"/>
                </a:solidFill>
              </a:defRPr>
            </a:lvl5pPr>
            <a:lvl6pPr marL="0" marR="0" lvl="5" indent="0" algn="l" rtl="0">
              <a:spcBef>
                <a:spcPts val="0"/>
              </a:spcBef>
              <a:spcAft>
                <a:spcPts val="0"/>
              </a:spcAft>
              <a:buSzPts val="1100"/>
              <a:buNone/>
              <a:defRPr sz="1400" b="0" i="0" u="none" strike="noStrike" cap="none">
                <a:solidFill>
                  <a:schemeClr val="dk2"/>
                </a:solidFill>
              </a:defRPr>
            </a:lvl6pPr>
            <a:lvl7pPr marL="0" marR="0" lvl="6" indent="0" algn="l" rtl="0">
              <a:spcBef>
                <a:spcPts val="0"/>
              </a:spcBef>
              <a:spcAft>
                <a:spcPts val="0"/>
              </a:spcAft>
              <a:buSzPts val="1100"/>
              <a:buNone/>
              <a:defRPr sz="1400" b="0" i="0" u="none" strike="noStrike" cap="none">
                <a:solidFill>
                  <a:schemeClr val="dk2"/>
                </a:solidFill>
              </a:defRPr>
            </a:lvl7pPr>
            <a:lvl8pPr marL="0" marR="0" lvl="7" indent="0" algn="l" rtl="0">
              <a:spcBef>
                <a:spcPts val="0"/>
              </a:spcBef>
              <a:spcAft>
                <a:spcPts val="0"/>
              </a:spcAft>
              <a:buSzPts val="1100"/>
              <a:buNone/>
              <a:defRPr sz="1400" b="0" i="0" u="none" strike="noStrike" cap="none">
                <a:solidFill>
                  <a:schemeClr val="dk2"/>
                </a:solidFill>
              </a:defRPr>
            </a:lvl8pPr>
            <a:lvl9pPr marL="0" marR="0" lvl="8" indent="0" algn="l" rtl="0">
              <a:spcBef>
                <a:spcPts val="0"/>
              </a:spcBef>
              <a:spcAft>
                <a:spcPts val="0"/>
              </a:spcAft>
              <a:buSzPts val="1100"/>
              <a:buNone/>
              <a:defRPr sz="1400" b="0" i="0" u="none" strike="noStrike" cap="none">
                <a:solidFill>
                  <a:schemeClr val="dk2"/>
                </a:solidFill>
              </a:defRPr>
            </a:lvl9pPr>
          </a:lstStyle>
          <a:p>
            <a:endParaRPr/>
          </a:p>
        </p:txBody>
      </p:sp>
      <p:sp>
        <p:nvSpPr>
          <p:cNvPr id="7" name="Google Shape;7;p1"/>
          <p:cNvSpPr txBox="1">
            <a:spLocks noGrp="1"/>
          </p:cNvSpPr>
          <p:nvPr>
            <p:ph type="body" idx="1"/>
          </p:nvPr>
        </p:nvSpPr>
        <p:spPr>
          <a:xfrm>
            <a:off x="435894" y="1752002"/>
            <a:ext cx="8272200" cy="2642100"/>
          </a:xfrm>
          <a:prstGeom prst="rect">
            <a:avLst/>
          </a:prstGeom>
          <a:noFill/>
          <a:ln>
            <a:noFill/>
          </a:ln>
        </p:spPr>
        <p:txBody>
          <a:bodyPr spcFirstLastPara="1" wrap="square" lIns="68575" tIns="68575" rIns="68575" bIns="68575" anchor="ctr" anchorCtr="0">
            <a:noAutofit/>
          </a:bodyPr>
          <a:lstStyle>
            <a:lvl1pPr marL="457200" marR="0" lvl="0" indent="-304800" algn="l" rtl="0">
              <a:spcBef>
                <a:spcPts val="300"/>
              </a:spcBef>
              <a:spcAft>
                <a:spcPts val="0"/>
              </a:spcAft>
              <a:buClr>
                <a:schemeClr val="accent2"/>
              </a:buClr>
              <a:buSzPts val="1200"/>
              <a:buFont typeface="Noto Sans Symbols"/>
              <a:buChar char="◼"/>
              <a:defRPr sz="1400" b="0" i="0" u="none" strike="noStrike" cap="none">
                <a:solidFill>
                  <a:schemeClr val="dk2"/>
                </a:solidFill>
                <a:latin typeface="Cabin"/>
                <a:ea typeface="Cabin"/>
                <a:cs typeface="Cabin"/>
                <a:sym typeface="Cabin"/>
              </a:defRPr>
            </a:lvl1pPr>
            <a:lvl2pPr marL="914400" marR="0" lvl="1" indent="-298450" algn="l" rtl="0">
              <a:spcBef>
                <a:spcPts val="500"/>
              </a:spcBef>
              <a:spcAft>
                <a:spcPts val="0"/>
              </a:spcAft>
              <a:buClr>
                <a:schemeClr val="accent2"/>
              </a:buClr>
              <a:buSzPts val="1100"/>
              <a:buFont typeface="Noto Sans Symbols"/>
              <a:buChar char="◼"/>
              <a:defRPr sz="1200" b="0" i="0" u="none" strike="noStrike" cap="none">
                <a:solidFill>
                  <a:schemeClr val="dk2"/>
                </a:solidFill>
                <a:latin typeface="Cabin"/>
                <a:ea typeface="Cabin"/>
                <a:cs typeface="Cabin"/>
                <a:sym typeface="Cabin"/>
              </a:defRPr>
            </a:lvl2pPr>
            <a:lvl3pPr marL="1371600" marR="0" lvl="2" indent="-292100" algn="l" rtl="0">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endParaRPr/>
          </a:p>
        </p:txBody>
      </p:sp>
      <p:sp>
        <p:nvSpPr>
          <p:cNvPr id="8" name="Google Shape;8;p1"/>
          <p:cNvSpPr txBox="1">
            <a:spLocks noGrp="1"/>
          </p:cNvSpPr>
          <p:nvPr>
            <p:ph type="dt" idx="10"/>
          </p:nvPr>
        </p:nvSpPr>
        <p:spPr>
          <a:xfrm>
            <a:off x="5704463" y="4467103"/>
            <a:ext cx="2133600" cy="2739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9" name="Google Shape;9;p1"/>
          <p:cNvSpPr txBox="1">
            <a:spLocks noGrp="1"/>
          </p:cNvSpPr>
          <p:nvPr>
            <p:ph type="ftr" idx="11"/>
          </p:nvPr>
        </p:nvSpPr>
        <p:spPr>
          <a:xfrm>
            <a:off x="435894" y="4463858"/>
            <a:ext cx="5187900" cy="273900"/>
          </a:xfrm>
          <a:prstGeom prst="rect">
            <a:avLst/>
          </a:prstGeom>
          <a:noFill/>
          <a:ln>
            <a:noFill/>
          </a:ln>
        </p:spPr>
        <p:txBody>
          <a:bodyPr spcFirstLastPara="1" wrap="square" lIns="68575" tIns="68575" rIns="68575" bIns="68575" anchor="ctr" anchorCtr="0">
            <a:noAutofit/>
          </a:bodyPr>
          <a:lstStyle>
            <a:lvl1pPr marL="0" marR="0" lvl="0" indent="0" algn="l" rtl="0">
              <a:spcBef>
                <a:spcPts val="0"/>
              </a:spcBef>
              <a:spcAft>
                <a:spcPts val="0"/>
              </a:spcAft>
              <a:buSzPts val="1100"/>
              <a:buNone/>
              <a:defRPr sz="700" b="0" i="0" u="none" strike="noStrike" cap="none">
                <a:solidFill>
                  <a:schemeClr val="accent2"/>
                </a:solidFill>
                <a:latin typeface="Cabin"/>
                <a:ea typeface="Cabin"/>
                <a:cs typeface="Cabin"/>
                <a:sym typeface="Cabin"/>
              </a:defRPr>
            </a:lvl1pPr>
            <a:lvl2pPr marL="342900" marR="0" lvl="1"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2pPr>
            <a:lvl3pPr marL="685800" marR="0" lvl="2"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3pPr>
            <a:lvl4pPr marL="1028700" marR="0" lvl="3"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4pPr>
            <a:lvl5pPr marL="1371600" marR="0" lvl="4"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5pPr>
            <a:lvl6pPr marL="1714500" marR="0" lvl="5"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6pPr>
            <a:lvl7pPr marL="2057400" marR="0" lvl="6"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7pPr>
            <a:lvl8pPr marL="2400300" marR="0" lvl="7"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8pPr>
            <a:lvl9pPr marL="2743200" marR="0" lvl="8" indent="0" algn="l" rtl="0">
              <a:spcBef>
                <a:spcPts val="0"/>
              </a:spcBef>
              <a:spcAft>
                <a:spcPts val="0"/>
              </a:spcAft>
              <a:buSzPts val="1100"/>
              <a:buNone/>
              <a:defRPr sz="1400" b="0" i="0" u="none" strike="noStrike" cap="none">
                <a:solidFill>
                  <a:schemeClr val="dk1"/>
                </a:solidFill>
                <a:latin typeface="Cabin"/>
                <a:ea typeface="Cabin"/>
                <a:cs typeface="Cabin"/>
                <a:sym typeface="Cabin"/>
              </a:defRPr>
            </a:lvl9pPr>
          </a:lstStyle>
          <a:p>
            <a:endParaRPr/>
          </a:p>
        </p:txBody>
      </p:sp>
      <p:sp>
        <p:nvSpPr>
          <p:cNvPr id="10" name="Google Shape;10;p1"/>
          <p:cNvSpPr txBox="1">
            <a:spLocks noGrp="1"/>
          </p:cNvSpPr>
          <p:nvPr>
            <p:ph type="sldNum" idx="12"/>
          </p:nvPr>
        </p:nvSpPr>
        <p:spPr>
          <a:xfrm>
            <a:off x="7918725" y="4467103"/>
            <a:ext cx="7893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chemeClr val="accent2"/>
                </a:solidFill>
                <a:latin typeface="Cabin"/>
                <a:ea typeface="Cabin"/>
                <a:cs typeface="Cabin"/>
                <a:sym typeface="Cabin"/>
              </a:defRPr>
            </a:lvl1pPr>
            <a:lvl2pPr marL="0" marR="0" lvl="1" indent="0" algn="r" rtl="0">
              <a:spcBef>
                <a:spcPts val="0"/>
              </a:spcBef>
              <a:buNone/>
              <a:defRPr sz="700" b="0" i="0" u="none" strike="noStrike" cap="none">
                <a:solidFill>
                  <a:schemeClr val="accent2"/>
                </a:solidFill>
                <a:latin typeface="Cabin"/>
                <a:ea typeface="Cabin"/>
                <a:cs typeface="Cabin"/>
                <a:sym typeface="Cabin"/>
              </a:defRPr>
            </a:lvl2pPr>
            <a:lvl3pPr marL="0" marR="0" lvl="2" indent="0" algn="r" rtl="0">
              <a:spcBef>
                <a:spcPts val="0"/>
              </a:spcBef>
              <a:buNone/>
              <a:defRPr sz="700" b="0" i="0" u="none" strike="noStrike" cap="none">
                <a:solidFill>
                  <a:schemeClr val="accent2"/>
                </a:solidFill>
                <a:latin typeface="Cabin"/>
                <a:ea typeface="Cabin"/>
                <a:cs typeface="Cabin"/>
                <a:sym typeface="Cabin"/>
              </a:defRPr>
            </a:lvl3pPr>
            <a:lvl4pPr marL="0" marR="0" lvl="3" indent="0" algn="r" rtl="0">
              <a:spcBef>
                <a:spcPts val="0"/>
              </a:spcBef>
              <a:buNone/>
              <a:defRPr sz="700" b="0" i="0" u="none" strike="noStrike" cap="none">
                <a:solidFill>
                  <a:schemeClr val="accent2"/>
                </a:solidFill>
                <a:latin typeface="Cabin"/>
                <a:ea typeface="Cabin"/>
                <a:cs typeface="Cabin"/>
                <a:sym typeface="Cabin"/>
              </a:defRPr>
            </a:lvl4pPr>
            <a:lvl5pPr marL="0" marR="0" lvl="4" indent="0" algn="r" rtl="0">
              <a:spcBef>
                <a:spcPts val="0"/>
              </a:spcBef>
              <a:buNone/>
              <a:defRPr sz="700" b="0" i="0" u="none" strike="noStrike" cap="none">
                <a:solidFill>
                  <a:schemeClr val="accent2"/>
                </a:solidFill>
                <a:latin typeface="Cabin"/>
                <a:ea typeface="Cabin"/>
                <a:cs typeface="Cabin"/>
                <a:sym typeface="Cabin"/>
              </a:defRPr>
            </a:lvl5pPr>
            <a:lvl6pPr marL="0" marR="0" lvl="5" indent="0" algn="r" rtl="0">
              <a:spcBef>
                <a:spcPts val="0"/>
              </a:spcBef>
              <a:buNone/>
              <a:defRPr sz="700" b="0" i="0" u="none" strike="noStrike" cap="none">
                <a:solidFill>
                  <a:schemeClr val="accent2"/>
                </a:solidFill>
                <a:latin typeface="Cabin"/>
                <a:ea typeface="Cabin"/>
                <a:cs typeface="Cabin"/>
                <a:sym typeface="Cabin"/>
              </a:defRPr>
            </a:lvl6pPr>
            <a:lvl7pPr marL="0" marR="0" lvl="6" indent="0" algn="r" rtl="0">
              <a:spcBef>
                <a:spcPts val="0"/>
              </a:spcBef>
              <a:buNone/>
              <a:defRPr sz="700" b="0" i="0" u="none" strike="noStrike" cap="none">
                <a:solidFill>
                  <a:schemeClr val="accent2"/>
                </a:solidFill>
                <a:latin typeface="Cabin"/>
                <a:ea typeface="Cabin"/>
                <a:cs typeface="Cabin"/>
                <a:sym typeface="Cabin"/>
              </a:defRPr>
            </a:lvl7pPr>
            <a:lvl8pPr marL="0" marR="0" lvl="7" indent="0" algn="r" rtl="0">
              <a:spcBef>
                <a:spcPts val="0"/>
              </a:spcBef>
              <a:buNone/>
              <a:defRPr sz="700" b="0" i="0" u="none" strike="noStrike" cap="none">
                <a:solidFill>
                  <a:schemeClr val="accent2"/>
                </a:solidFill>
                <a:latin typeface="Cabin"/>
                <a:ea typeface="Cabin"/>
                <a:cs typeface="Cabin"/>
                <a:sym typeface="Cabin"/>
              </a:defRPr>
            </a:lvl8pPr>
            <a:lvl9pPr marL="0" marR="0" lvl="8" indent="0" algn="r" rtl="0">
              <a:spcBef>
                <a:spcPts val="0"/>
              </a:spcBef>
              <a:buNone/>
              <a:defRPr sz="700" b="0" i="0" u="none" strike="noStrike" cap="none">
                <a:solidFill>
                  <a:schemeClr val="accent2"/>
                </a:solidFill>
                <a:latin typeface="Cabin"/>
                <a:ea typeface="Cabin"/>
                <a:cs typeface="Cabin"/>
                <a:sym typeface="Cabin"/>
              </a:defRPr>
            </a:lvl9pPr>
          </a:lstStyle>
          <a:p>
            <a:pPr marL="0" lvl="0" indent="0" algn="r" rtl="0">
              <a:spcBef>
                <a:spcPts val="0"/>
              </a:spcBef>
              <a:spcAft>
                <a:spcPts val="0"/>
              </a:spcAft>
              <a:buNone/>
            </a:pPr>
            <a:fld id="{00000000-1234-1234-1234-123412341234}" type="slidenum">
              <a:rPr lang="en-GB"/>
              <a:t>‹#›</a:t>
            </a:fld>
            <a:endParaRPr/>
          </a:p>
        </p:txBody>
      </p:sp>
      <p:sp>
        <p:nvSpPr>
          <p:cNvPr id="11" name="Google Shape;11;p1"/>
          <p:cNvSpPr/>
          <p:nvPr/>
        </p:nvSpPr>
        <p:spPr>
          <a:xfrm>
            <a:off x="334900" y="342900"/>
            <a:ext cx="2777400" cy="711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 name="Google Shape;12;p1"/>
          <p:cNvSpPr/>
          <p:nvPr/>
        </p:nvSpPr>
        <p:spPr>
          <a:xfrm>
            <a:off x="6031610" y="340232"/>
            <a:ext cx="2777400" cy="73800"/>
          </a:xfrm>
          <a:prstGeom prst="rect">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 name="Google Shape;13;p1"/>
          <p:cNvSpPr/>
          <p:nvPr/>
        </p:nvSpPr>
        <p:spPr>
          <a:xfrm>
            <a:off x="3181373" y="342900"/>
            <a:ext cx="2777400" cy="687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tools.ietf.org/html/rfc1945"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atatracker.ietf.org/doc/html/rfc9114" TargetMode="External"/><Relationship Id="rId5" Type="http://schemas.openxmlformats.org/officeDocument/2006/relationships/hyperlink" Target="https://tools.ietf.org/html/rfc7540" TargetMode="External"/><Relationship Id="rId4" Type="http://schemas.openxmlformats.org/officeDocument/2006/relationships/hyperlink" Target="https://tools.ietf.org/html/rfc261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tsencrypt.or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eveloper.mozilla.org/en-US/docs/Web/HTTP/Headers/Strict-Transport-Security"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www.http2demo.io/" TargetMode="External"/><Relationship Id="rId4" Type="http://schemas.openxmlformats.org/officeDocument/2006/relationships/hyperlink" Target="https://blog.restcase.com/http2-benefits-for-rest-api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chromium.org/quic"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fri.uniza.sk/cms/quizzes/questions/qr/28"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xhr.spec.whatwg.or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w3schools.com/"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w3schools.com/js/tryit.asp?filename=tryjs_ajax_xml2"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www.w3schools.com/js/tryit.asp?filename=tryjs_ajax_header"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json.org/"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hyperlink" Target="https://tools.ietf.org/html/rfc4627"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fri.uniza.sk/cms/quizzes/questions/qr/29"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developer.mozilla.org/en-US/docs/Web/API/Web_Workers_API" TargetMode="External"/><Relationship Id="rId7"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image" Target="../media/image14.png"/><Relationship Id="rId4" Type="http://schemas.openxmlformats.org/officeDocument/2006/relationships/slide" Target="slide30.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eveloper.mozilla.org/en-US/docs/Web/JavaScript/Guide/Using_promise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eveloper.mozilla.org/en-US/docs/Web/JavaScript/Guide/Using_promises" TargetMode="External"/><Relationship Id="rId2" Type="http://schemas.openxmlformats.org/officeDocument/2006/relationships/hyperlink" Target="https://promisesaplus.com/"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github.com/mdn/js-examples/blob/master/promises-test/index.html"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Promise"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developer.mozilla.org/en-US/docs/Web/JavaScript/Guide/Using_promises#Chain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developer.mozilla.org/en-US/docs/Web/API/Fetch_API/Using_Fetch"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fri.uniza.sk/cms/quizzes/questions/qr/30"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hyperlink" Target="https://restfulapi.net/"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graphql.org/" TargetMode="External"/><Relationship Id="rId4" Type="http://schemas.openxmlformats.org/officeDocument/2006/relationships/hyperlink" Target="https://www.w3schools.com/xml/xml_services.asp"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www.ics.uci.edu/~fielding/pubs/dissertation/top.htm"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developer.ibm.com/articles/ws-restful/"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aws.amazon.com/what-is/restful-api/"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www.myservice.org/discussion/%7byear%7d/%7bday%7d/%7bmonth%7d/%7btopic%7d"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hyperlink" Target="http://www.myservice.org/discussion/2020/11/30/General+Info"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8.gif"/></Relationships>
</file>

<file path=ppt/slides/_rels/slide57.xml.rels><?xml version="1.0" encoding="UTF-8" standalone="yes"?>
<Relationships xmlns="http://schemas.openxmlformats.org/package/2006/relationships"><Relationship Id="rId3" Type="http://schemas.openxmlformats.org/officeDocument/2006/relationships/hyperlink" Target="https://blog.restcase.com/4-most-used-rest-api-authentication-methods/" TargetMode="External"/><Relationship Id="rId2" Type="http://schemas.openxmlformats.org/officeDocument/2006/relationships/hyperlink" Target="https://openid.net/developers/how-connect-works/"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hyperlink" Target="https://github.com/graphql/graphql-js" TargetMode="External"/><Relationship Id="rId2" Type="http://schemas.openxmlformats.org/officeDocument/2006/relationships/hyperlink" Target="https://github.com/graphql/graphql-spec" TargetMode="Externa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hyperlink" Target="https://github.com/graphql/graphiq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howtographql.com/basics/2-core-concepts/" TargetMode="External"/><Relationship Id="rId2" Type="http://schemas.openxmlformats.org/officeDocument/2006/relationships/hyperlink" Target="https://www.howtographq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4"/>
          <p:cNvSpPr txBox="1">
            <a:spLocks noGrp="1"/>
          </p:cNvSpPr>
          <p:nvPr>
            <p:ph type="ctrTitle"/>
          </p:nvPr>
        </p:nvSpPr>
        <p:spPr>
          <a:xfrm>
            <a:off x="345300" y="550077"/>
            <a:ext cx="8245200" cy="548473"/>
          </a:xfrm>
          <a:prstGeom prst="rect">
            <a:avLst/>
          </a:prstGeom>
        </p:spPr>
        <p:txBody>
          <a:bodyPr spcFirstLastPara="1" wrap="square" lIns="68575" tIns="68575" rIns="68575" bIns="68575" anchor="t" anchorCtr="0">
            <a:noAutofit/>
          </a:bodyPr>
          <a:lstStyle/>
          <a:p>
            <a:pPr marL="0" lvl="0" indent="0" algn="l" rtl="0">
              <a:spcBef>
                <a:spcPts val="0"/>
              </a:spcBef>
              <a:spcAft>
                <a:spcPts val="0"/>
              </a:spcAft>
              <a:buNone/>
            </a:pPr>
            <a:r>
              <a:rPr lang="sk-SK" dirty="0"/>
              <a:t>HTTP, AJAX, webové API</a:t>
            </a:r>
          </a:p>
          <a:p>
            <a:pPr marL="0" lvl="0" indent="0" algn="l" rtl="0">
              <a:spcBef>
                <a:spcPts val="0"/>
              </a:spcBef>
              <a:spcAft>
                <a:spcPts val="0"/>
              </a:spcAft>
              <a:buNone/>
            </a:pPr>
            <a:endParaRPr lang="sk-SK" dirty="0"/>
          </a:p>
        </p:txBody>
      </p:sp>
      <p:pic>
        <p:nvPicPr>
          <p:cNvPr id="106" name="Google Shape;106;p14"/>
          <p:cNvPicPr preferRelativeResize="0"/>
          <p:nvPr/>
        </p:nvPicPr>
        <p:blipFill>
          <a:blip r:embed="rId3">
            <a:alphaModFix/>
          </a:blip>
          <a:stretch>
            <a:fillRect/>
          </a:stretch>
        </p:blipFill>
        <p:spPr>
          <a:xfrm>
            <a:off x="6522858" y="1839575"/>
            <a:ext cx="2252267" cy="442800"/>
          </a:xfrm>
          <a:prstGeom prst="rect">
            <a:avLst/>
          </a:prstGeom>
          <a:noFill/>
          <a:ln>
            <a:noFill/>
          </a:ln>
        </p:spPr>
      </p:pic>
      <p:sp>
        <p:nvSpPr>
          <p:cNvPr id="108" name="Google Shape;108;p14"/>
          <p:cNvSpPr txBox="1"/>
          <p:nvPr/>
        </p:nvSpPr>
        <p:spPr>
          <a:xfrm>
            <a:off x="6942425" y="2656175"/>
            <a:ext cx="1240500" cy="144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k-SK" sz="6000" dirty="0">
                <a:solidFill>
                  <a:srgbClr val="FFFFFF"/>
                </a:solidFill>
                <a:latin typeface="Cabin"/>
                <a:ea typeface="Cabin"/>
                <a:cs typeface="Cabin"/>
                <a:sym typeface="Cabin"/>
              </a:rPr>
              <a:t>9</a:t>
            </a:r>
          </a:p>
        </p:txBody>
      </p:sp>
      <p:sp>
        <p:nvSpPr>
          <p:cNvPr id="2" name="Google Shape;96;p13">
            <a:extLst>
              <a:ext uri="{FF2B5EF4-FFF2-40B4-BE49-F238E27FC236}">
                <a16:creationId xmlns:a16="http://schemas.microsoft.com/office/drawing/2014/main" id="{D1E73D09-0072-B557-EAC0-917D06A97524}"/>
              </a:ext>
            </a:extLst>
          </p:cNvPr>
          <p:cNvSpPr txBox="1">
            <a:spLocks/>
          </p:cNvSpPr>
          <p:nvPr/>
        </p:nvSpPr>
        <p:spPr>
          <a:xfrm>
            <a:off x="345299" y="1036977"/>
            <a:ext cx="8429825" cy="328800"/>
          </a:xfrm>
          <a:prstGeom prst="rect">
            <a:avLst/>
          </a:prstGeom>
          <a:noFill/>
          <a:ln>
            <a:noFill/>
          </a:ln>
        </p:spPr>
        <p:txBody>
          <a:bodyPr spcFirstLastPara="1" wrap="square" lIns="68575" tIns="68575" rIns="68575" bIns="68575" anchor="t" anchorCtr="0">
            <a:noAutofit/>
          </a:bodyPr>
          <a:lstStyle>
            <a:defPPr marR="0" lvl="0" algn="l" rtl="0">
              <a:lnSpc>
                <a:spcPct val="100000"/>
              </a:lnSpc>
              <a:spcBef>
                <a:spcPts val="0"/>
              </a:spcBef>
              <a:spcAft>
                <a:spcPts val="0"/>
              </a:spcAft>
            </a:defPPr>
            <a:lvl1pPr marL="0" marR="0" lvl="0" indent="0" algn="l" rtl="0">
              <a:lnSpc>
                <a:spcPct val="100000"/>
              </a:lnSpc>
              <a:spcBef>
                <a:spcPts val="200"/>
              </a:spcBef>
              <a:spcAft>
                <a:spcPts val="0"/>
              </a:spcAft>
              <a:buClr>
                <a:schemeClr val="accent2"/>
              </a:buClr>
              <a:buSzPts val="1200"/>
              <a:buFont typeface="Noto Sans Symbols"/>
              <a:buNone/>
              <a:defRPr sz="1200" b="0" i="0" u="none" strike="noStrike" cap="none">
                <a:solidFill>
                  <a:schemeClr val="accent2"/>
                </a:solidFill>
                <a:latin typeface="Cabin"/>
                <a:ea typeface="Cabin"/>
                <a:cs typeface="Cabin"/>
                <a:sym typeface="Cabin"/>
              </a:defRPr>
            </a:lvl1pPr>
            <a:lvl2pPr marL="342900" marR="0" lvl="1" indent="0" algn="ctr" rtl="0">
              <a:lnSpc>
                <a:spcPct val="100000"/>
              </a:lnSpc>
              <a:spcBef>
                <a:spcPts val="500"/>
              </a:spcBef>
              <a:spcAft>
                <a:spcPts val="0"/>
              </a:spcAft>
              <a:buClr>
                <a:schemeClr val="accent2"/>
              </a:buClr>
              <a:buSzPts val="1100"/>
              <a:buFont typeface="Noto Sans Symbols"/>
              <a:buNone/>
              <a:defRPr sz="1200" b="0" i="0" u="none" strike="noStrike" cap="none">
                <a:solidFill>
                  <a:srgbClr val="888888"/>
                </a:solidFill>
                <a:latin typeface="Cabin"/>
                <a:ea typeface="Cabin"/>
                <a:cs typeface="Cabin"/>
                <a:sym typeface="Cabin"/>
              </a:defRPr>
            </a:lvl2pPr>
            <a:lvl3pPr marL="685800" marR="0" lvl="2" indent="0" algn="ctr" rtl="0">
              <a:lnSpc>
                <a:spcPct val="100000"/>
              </a:lnSpc>
              <a:spcBef>
                <a:spcPts val="500"/>
              </a:spcBef>
              <a:spcAft>
                <a:spcPts val="0"/>
              </a:spcAft>
              <a:buClr>
                <a:schemeClr val="accent2"/>
              </a:buClr>
              <a:buSzPts val="1000"/>
              <a:buFont typeface="Noto Sans Symbols"/>
              <a:buNone/>
              <a:defRPr sz="1100" b="0" i="0" u="none" strike="noStrike" cap="none">
                <a:solidFill>
                  <a:srgbClr val="888888"/>
                </a:solidFill>
                <a:latin typeface="Cabin"/>
                <a:ea typeface="Cabin"/>
                <a:cs typeface="Cabin"/>
                <a:sym typeface="Cabin"/>
              </a:defRPr>
            </a:lvl3pPr>
            <a:lvl4pPr marL="1028700" marR="0" lvl="3" indent="0" algn="ctr" rtl="0">
              <a:lnSpc>
                <a:spcPct val="100000"/>
              </a:lnSpc>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4pPr>
            <a:lvl5pPr marL="1371600" marR="0" lvl="4" indent="0" algn="ctr" rtl="0">
              <a:lnSpc>
                <a:spcPct val="100000"/>
              </a:lnSpc>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5pPr>
            <a:lvl6pPr marL="1714500" marR="0" lvl="5" indent="0" algn="ctr" rtl="0">
              <a:lnSpc>
                <a:spcPct val="100000"/>
              </a:lnSpc>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6pPr>
            <a:lvl7pPr marL="2057400" marR="0" lvl="6" indent="0" algn="ctr" rtl="0">
              <a:lnSpc>
                <a:spcPct val="100000"/>
              </a:lnSpc>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7pPr>
            <a:lvl8pPr marL="2400300" marR="0" lvl="7" indent="0" algn="ctr" rtl="0">
              <a:lnSpc>
                <a:spcPct val="100000"/>
              </a:lnSpc>
              <a:spcBef>
                <a:spcPts val="500"/>
              </a:spcBef>
              <a:spcAft>
                <a:spcPts val="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8pPr>
            <a:lvl9pPr marL="2743200" marR="0" lvl="8" indent="0" algn="ctr" rtl="0">
              <a:lnSpc>
                <a:spcPct val="100000"/>
              </a:lnSpc>
              <a:spcBef>
                <a:spcPts val="500"/>
              </a:spcBef>
              <a:spcAft>
                <a:spcPts val="500"/>
              </a:spcAft>
              <a:buClr>
                <a:schemeClr val="accent2"/>
              </a:buClr>
              <a:buSzPts val="800"/>
              <a:buFont typeface="Noto Sans Symbols"/>
              <a:buNone/>
              <a:defRPr sz="900" b="0" i="0" u="none" strike="noStrike" cap="none">
                <a:solidFill>
                  <a:srgbClr val="888888"/>
                </a:solidFill>
                <a:latin typeface="Cabin"/>
                <a:ea typeface="Cabin"/>
                <a:cs typeface="Cabin"/>
                <a:sym typeface="Cabin"/>
              </a:defRPr>
            </a:lvl9pPr>
          </a:lstStyle>
          <a:p>
            <a:pPr>
              <a:spcAft>
                <a:spcPts val="500"/>
              </a:spcAft>
            </a:pPr>
            <a:r>
              <a:rPr lang="sk-SK" dirty="0"/>
              <a:t>6UI0012 Vývoj aplikácií pre internet a intranet				                          šk. rok 2025/26</a:t>
            </a:r>
          </a:p>
        </p:txBody>
      </p:sp>
      <p:sp>
        <p:nvSpPr>
          <p:cNvPr id="5" name="Google Shape;98;p13">
            <a:extLst>
              <a:ext uri="{FF2B5EF4-FFF2-40B4-BE49-F238E27FC236}">
                <a16:creationId xmlns:a16="http://schemas.microsoft.com/office/drawing/2014/main" id="{73A45ED1-339F-9177-5C69-B86F386E5B88}"/>
              </a:ext>
            </a:extLst>
          </p:cNvPr>
          <p:cNvSpPr txBox="1"/>
          <p:nvPr/>
        </p:nvSpPr>
        <p:spPr>
          <a:xfrm>
            <a:off x="6400800" y="3810726"/>
            <a:ext cx="2374325" cy="94214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sk-SK" dirty="0">
              <a:solidFill>
                <a:srgbClr val="FFFFFF"/>
              </a:solidFill>
            </a:endParaRPr>
          </a:p>
          <a:p>
            <a:pPr marL="0" lvl="0" indent="0" algn="l" rtl="0">
              <a:spcBef>
                <a:spcPts val="0"/>
              </a:spcBef>
              <a:spcAft>
                <a:spcPts val="0"/>
              </a:spcAft>
              <a:buNone/>
            </a:pPr>
            <a:r>
              <a:rPr lang="sk-SK" dirty="0">
                <a:solidFill>
                  <a:srgbClr val="FFFFFF"/>
                </a:solidFill>
              </a:rPr>
              <a:t>doc. Ing. Patrik Hrkút, PhD.</a:t>
            </a:r>
          </a:p>
          <a:p>
            <a:pPr marL="0" lvl="0" indent="0" algn="l" rtl="0">
              <a:spcBef>
                <a:spcPts val="0"/>
              </a:spcBef>
              <a:spcAft>
                <a:spcPts val="0"/>
              </a:spcAft>
              <a:buNone/>
            </a:pPr>
            <a:r>
              <a:rPr lang="sk-SK" dirty="0">
                <a:solidFill>
                  <a:srgbClr val="FFFFFF"/>
                </a:solidFill>
              </a:rPr>
              <a:t>Ing. Matej </a:t>
            </a:r>
            <a:r>
              <a:rPr lang="sk-SK" dirty="0" err="1">
                <a:solidFill>
                  <a:srgbClr val="FFFFFF"/>
                </a:solidFill>
              </a:rPr>
              <a:t>Meško</a:t>
            </a:r>
            <a:r>
              <a:rPr lang="sk-SK" dirty="0">
                <a:solidFill>
                  <a:srgbClr val="FFFFFF"/>
                </a:solidFill>
              </a:rPr>
              <a:t>, PhD.</a:t>
            </a:r>
          </a:p>
          <a:p>
            <a:r>
              <a:rPr lang="sk-SK" dirty="0">
                <a:solidFill>
                  <a:srgbClr val="FFFFFF"/>
                </a:solidFill>
              </a:rPr>
              <a:t>Ing. Michal </a:t>
            </a:r>
            <a:r>
              <a:rPr lang="sk-SK" dirty="0" err="1">
                <a:solidFill>
                  <a:srgbClr val="FFFFFF"/>
                </a:solidFill>
              </a:rPr>
              <a:t>Ďuračík</a:t>
            </a:r>
            <a:r>
              <a:rPr lang="sk-SK" dirty="0">
                <a:solidFill>
                  <a:srgbClr val="FFFFFF"/>
                </a:solidFill>
              </a:rPr>
              <a:t>, PhD.</a:t>
            </a:r>
          </a:p>
          <a:p>
            <a:pPr marL="0" lvl="0" indent="0" algn="l" rtl="0">
              <a:spcBef>
                <a:spcPts val="0"/>
              </a:spcBef>
              <a:spcAft>
                <a:spcPts val="0"/>
              </a:spcAft>
              <a:buNone/>
            </a:pPr>
            <a:endParaRPr lang="sk-SK" dirty="0">
              <a:solidFill>
                <a:srgbClr val="FFFFFF"/>
              </a:solidFill>
            </a:endParaRPr>
          </a:p>
          <a:p>
            <a:pPr marL="0" lvl="0" indent="0" algn="l" rtl="0">
              <a:spcBef>
                <a:spcPts val="0"/>
              </a:spcBef>
              <a:spcAft>
                <a:spcPts val="0"/>
              </a:spcAft>
              <a:buNone/>
            </a:pPr>
            <a:endParaRPr lang="sk-SK"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5"/>
          <p:cNvSpPr txBox="1">
            <a:spLocks noGrp="1"/>
          </p:cNvSpPr>
          <p:nvPr>
            <p:ph type="body" idx="1"/>
          </p:nvPr>
        </p:nvSpPr>
        <p:spPr>
          <a:xfrm>
            <a:off x="335862" y="450900"/>
            <a:ext cx="8469600" cy="3153600"/>
          </a:xfrm>
          <a:prstGeom prst="rect">
            <a:avLst/>
          </a:prstGeom>
        </p:spPr>
        <p:txBody>
          <a:bodyPr spcFirstLastPara="1" wrap="square" lIns="68575" tIns="68575" rIns="68575" bIns="68575" anchor="ctr" anchorCtr="0">
            <a:noAutofit/>
          </a:bodyPr>
          <a:lstStyle/>
          <a:p>
            <a:pPr marL="228600" lvl="0" indent="-139700" algn="l" rtl="0">
              <a:spcBef>
                <a:spcPts val="300"/>
              </a:spcBef>
              <a:spcAft>
                <a:spcPts val="0"/>
              </a:spcAft>
              <a:buNone/>
            </a:pPr>
            <a:r>
              <a:rPr lang="sk-SK" sz="2400"/>
              <a:t>Obsah prednášky:</a:t>
            </a:r>
          </a:p>
          <a:p>
            <a:pPr marL="228600" lvl="0" indent="-139700" algn="l" rtl="0">
              <a:spcBef>
                <a:spcPts val="500"/>
              </a:spcBef>
              <a:spcAft>
                <a:spcPts val="0"/>
              </a:spcAft>
              <a:buNone/>
            </a:pPr>
            <a:endParaRPr lang="sk-SK" sz="1800"/>
          </a:p>
          <a:p>
            <a:pPr marL="457200" lvl="0" indent="-330200" algn="l" rtl="0">
              <a:lnSpc>
                <a:spcPct val="115000"/>
              </a:lnSpc>
              <a:spcBef>
                <a:spcPts val="500"/>
              </a:spcBef>
              <a:spcAft>
                <a:spcPts val="0"/>
              </a:spcAft>
              <a:buSzPts val="1600"/>
              <a:buChar char="●"/>
            </a:pPr>
            <a:r>
              <a:rPr lang="sk-SK" sz="1600"/>
              <a:t>Popis protokolu HTTP</a:t>
            </a:r>
          </a:p>
          <a:p>
            <a:pPr marL="457200" lvl="0" indent="-330200" algn="l" rtl="0">
              <a:lnSpc>
                <a:spcPct val="115000"/>
              </a:lnSpc>
              <a:spcBef>
                <a:spcPts val="0"/>
              </a:spcBef>
              <a:spcAft>
                <a:spcPts val="0"/>
              </a:spcAft>
              <a:buSzPts val="1600"/>
              <a:buChar char="●"/>
            </a:pPr>
            <a:r>
              <a:rPr lang="sk-SK" sz="1600"/>
              <a:t>AJAX a jeho použitie vo web aplikáciách</a:t>
            </a:r>
          </a:p>
          <a:p>
            <a:pPr marL="457200" lvl="0" indent="-330200" algn="l" rtl="0">
              <a:lnSpc>
                <a:spcPct val="115000"/>
              </a:lnSpc>
              <a:spcBef>
                <a:spcPts val="0"/>
              </a:spcBef>
              <a:spcAft>
                <a:spcPts val="0"/>
              </a:spcAft>
              <a:buSzPts val="1600"/>
              <a:buChar char="●"/>
            </a:pPr>
            <a:r>
              <a:rPr lang="sk-SK" sz="1600"/>
              <a:t>Asynchrónne programovanie v JS</a:t>
            </a:r>
          </a:p>
          <a:p>
            <a:pPr marL="457200" lvl="0" indent="-330200" algn="l" rtl="0">
              <a:lnSpc>
                <a:spcPct val="115000"/>
              </a:lnSpc>
              <a:spcBef>
                <a:spcPts val="0"/>
              </a:spcBef>
              <a:spcAft>
                <a:spcPts val="0"/>
              </a:spcAft>
              <a:buSzPts val="1600"/>
              <a:buChar char="●"/>
            </a:pPr>
            <a:r>
              <a:rPr lang="sk-SK" sz="1600"/>
              <a:t>Tvorba webových API</a:t>
            </a:r>
          </a:p>
        </p:txBody>
      </p:sp>
      <p:sp>
        <p:nvSpPr>
          <p:cNvPr id="114" name="Google Shape;114;p15"/>
          <p:cNvSpPr txBox="1">
            <a:spLocks noGrp="1"/>
          </p:cNvSpPr>
          <p:nvPr>
            <p:ph type="body" idx="2"/>
          </p:nvPr>
        </p:nvSpPr>
        <p:spPr>
          <a:xfrm>
            <a:off x="4305617" y="3946722"/>
            <a:ext cx="4402500" cy="517200"/>
          </a:xfrm>
          <a:prstGeom prst="rect">
            <a:avLst/>
          </a:prstGeom>
        </p:spPr>
        <p:txBody>
          <a:bodyPr spcFirstLastPara="1" wrap="square" lIns="68575" tIns="68575" rIns="68575" bIns="68575" anchor="ctr" anchorCtr="0">
            <a:noAutofit/>
          </a:bodyPr>
          <a:lstStyle/>
          <a:p>
            <a:pPr marL="0" lvl="0" indent="0" algn="r" rtl="0">
              <a:spcBef>
                <a:spcPts val="200"/>
              </a:spcBef>
              <a:spcAft>
                <a:spcPts val="500"/>
              </a:spcAft>
              <a:buNone/>
            </a:pPr>
            <a:r>
              <a:rPr lang="sk-SK"/>
              <a:t>Agenda </a:t>
            </a:r>
          </a:p>
        </p:txBody>
      </p:sp>
      <p:sp>
        <p:nvSpPr>
          <p:cNvPr id="115" name="Google Shape;115;p15"/>
          <p:cNvSpPr txBox="1">
            <a:spLocks noGrp="1"/>
          </p:cNvSpPr>
          <p:nvPr>
            <p:ph type="sldNum" idx="12"/>
          </p:nvPr>
        </p:nvSpPr>
        <p:spPr>
          <a:xfrm>
            <a:off x="7918725" y="4467103"/>
            <a:ext cx="7893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a:t>
            </a:fld>
            <a:endParaRPr lang="sk-SK"/>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435895" y="2282932"/>
            <a:ext cx="8272200" cy="1123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HyperText Transfer Protocol  </a:t>
            </a:r>
          </a:p>
        </p:txBody>
      </p:sp>
      <p:sp>
        <p:nvSpPr>
          <p:cNvPr id="121" name="Google Shape;121;p16"/>
          <p:cNvSpPr txBox="1">
            <a:spLocks noGrp="1"/>
          </p:cNvSpPr>
          <p:nvPr>
            <p:ph type="body" idx="1"/>
          </p:nvPr>
        </p:nvSpPr>
        <p:spPr>
          <a:xfrm>
            <a:off x="435894" y="3406063"/>
            <a:ext cx="8272200" cy="450300"/>
          </a:xfrm>
          <a:prstGeom prst="rect">
            <a:avLst/>
          </a:prstGeom>
        </p:spPr>
        <p:txBody>
          <a:bodyPr spcFirstLastPara="1" wrap="square" lIns="68575" tIns="68575" rIns="68575" bIns="68575" anchor="t" anchorCtr="0">
            <a:noAutofit/>
          </a:bodyPr>
          <a:lstStyle/>
          <a:p>
            <a:pPr marL="0" lvl="0" indent="0" algn="l" rtl="0">
              <a:spcBef>
                <a:spcPts val="300"/>
              </a:spcBef>
              <a:spcAft>
                <a:spcPts val="500"/>
              </a:spcAft>
              <a:buNone/>
            </a:pPr>
            <a:endParaRPr lang="sk-SK"/>
          </a:p>
        </p:txBody>
      </p:sp>
      <p:sp>
        <p:nvSpPr>
          <p:cNvPr id="122" name="Google Shape;122;p16"/>
          <p:cNvSpPr txBox="1">
            <a:spLocks noGrp="1"/>
          </p:cNvSpPr>
          <p:nvPr>
            <p:ph type="sldNum" idx="12"/>
          </p:nvPr>
        </p:nvSpPr>
        <p:spPr>
          <a:xfrm>
            <a:off x="7918725" y="4467103"/>
            <a:ext cx="7893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3</a:t>
            </a:fld>
            <a:endParaRPr lang="sk-SK"/>
          </a:p>
        </p:txBody>
      </p:sp>
      <p:pic>
        <p:nvPicPr>
          <p:cNvPr id="123" name="Google Shape;123;p16" descr="https://upload.wikimedia.org/wikipedia/commons/thumb/5/5b/HTTP_logo.svg/500px-HTTP_logo.svg.png"/>
          <p:cNvPicPr preferRelativeResize="0"/>
          <p:nvPr/>
        </p:nvPicPr>
        <p:blipFill>
          <a:blip r:embed="rId3">
            <a:alphaModFix/>
          </a:blip>
          <a:stretch>
            <a:fillRect/>
          </a:stretch>
        </p:blipFill>
        <p:spPr>
          <a:xfrm>
            <a:off x="6951000" y="528750"/>
            <a:ext cx="1757100" cy="938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7"/>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HyperText Transfer Protocol (HTTP)</a:t>
            </a:r>
          </a:p>
        </p:txBody>
      </p:sp>
      <p:sp>
        <p:nvSpPr>
          <p:cNvPr id="129" name="Google Shape;129;p17"/>
          <p:cNvSpPr txBox="1">
            <a:spLocks noGrp="1"/>
          </p:cNvSpPr>
          <p:nvPr>
            <p:ph type="body" idx="1"/>
          </p:nvPr>
        </p:nvSpPr>
        <p:spPr>
          <a:xfrm>
            <a:off x="435900" y="1583325"/>
            <a:ext cx="8272200" cy="3227826"/>
          </a:xfrm>
          <a:prstGeom prst="rect">
            <a:avLst/>
          </a:prstGeom>
        </p:spPr>
        <p:txBody>
          <a:bodyPr spcFirstLastPara="1" wrap="square" lIns="68575" tIns="68575" rIns="68575" bIns="68575" anchor="t" anchorCtr="0">
            <a:noAutofit/>
          </a:bodyPr>
          <a:lstStyle/>
          <a:p>
            <a:pPr marL="457200" marR="0" lvl="0" indent="-330200" algn="l" rtl="0">
              <a:lnSpc>
                <a:spcPct val="115000"/>
              </a:lnSpc>
              <a:spcBef>
                <a:spcPts val="300"/>
              </a:spcBef>
              <a:spcAft>
                <a:spcPts val="0"/>
              </a:spcAft>
              <a:buSzPts val="1600"/>
              <a:buChar char="●"/>
            </a:pPr>
            <a:r>
              <a:rPr lang="sk-SK" dirty="0"/>
              <a:t>Univerzálny protokol na prenos súborov</a:t>
            </a:r>
          </a:p>
          <a:p>
            <a:pPr lvl="1">
              <a:spcBef>
                <a:spcPts val="0"/>
              </a:spcBef>
            </a:pPr>
            <a:r>
              <a:rPr lang="sk-SK" dirty="0"/>
              <a:t>Používaný hlavne v oblasti webu na komunikáciu medzi prehliadačom a web serverom</a:t>
            </a:r>
          </a:p>
          <a:p>
            <a:pPr marL="457200" marR="0" lvl="0" indent="-330200" algn="l" rtl="0">
              <a:lnSpc>
                <a:spcPct val="115000"/>
              </a:lnSpc>
              <a:spcBef>
                <a:spcPts val="0"/>
              </a:spcBef>
              <a:spcAft>
                <a:spcPts val="0"/>
              </a:spcAft>
              <a:buSzPts val="1600"/>
              <a:buChar char="●"/>
            </a:pPr>
            <a:r>
              <a:rPr lang="sk-SK" dirty="0"/>
              <a:t>Vlastnosti:</a:t>
            </a:r>
          </a:p>
          <a:p>
            <a:pPr lvl="1">
              <a:spcBef>
                <a:spcPts val="0"/>
              </a:spcBef>
            </a:pPr>
            <a:r>
              <a:rPr lang="sk-SK" dirty="0"/>
              <a:t>Textový protokol (do verzie 1.1)</a:t>
            </a:r>
          </a:p>
          <a:p>
            <a:pPr lvl="1">
              <a:spcBef>
                <a:spcPts val="0"/>
              </a:spcBef>
            </a:pPr>
            <a:r>
              <a:rPr lang="sk-SK" dirty="0"/>
              <a:t>Aplikačný protokol viazaný na TCP (do verzie 2)</a:t>
            </a:r>
          </a:p>
          <a:p>
            <a:pPr lvl="1">
              <a:spcBef>
                <a:spcPts val="0"/>
              </a:spcBef>
            </a:pPr>
            <a:r>
              <a:rPr lang="sk-SK" dirty="0"/>
              <a:t>Bezstavový protokol</a:t>
            </a:r>
          </a:p>
          <a:p>
            <a:pPr lvl="1">
              <a:spcBef>
                <a:spcPts val="0"/>
              </a:spcBef>
            </a:pPr>
            <a:r>
              <a:rPr lang="sk-SK" dirty="0"/>
              <a:t>Komunikácia formou žiadosť a odpoveď</a:t>
            </a:r>
          </a:p>
          <a:p>
            <a:pPr marL="457200" marR="0" lvl="0" indent="-330200" algn="l" rtl="0">
              <a:lnSpc>
                <a:spcPct val="115000"/>
              </a:lnSpc>
              <a:spcBef>
                <a:spcPts val="0"/>
              </a:spcBef>
              <a:spcAft>
                <a:spcPts val="0"/>
              </a:spcAft>
              <a:buSzPts val="1600"/>
              <a:buChar char="●"/>
            </a:pPr>
            <a:r>
              <a:rPr lang="sk-SK" dirty="0"/>
              <a:t>Verzie:</a:t>
            </a:r>
          </a:p>
          <a:p>
            <a:pPr marL="914400" marR="0" lvl="1" indent="-298450" algn="l" rtl="0">
              <a:lnSpc>
                <a:spcPct val="115000"/>
              </a:lnSpc>
              <a:spcBef>
                <a:spcPts val="0"/>
              </a:spcBef>
              <a:spcAft>
                <a:spcPts val="0"/>
              </a:spcAft>
              <a:buSzPts val="1100"/>
              <a:buChar char="○"/>
            </a:pPr>
            <a:r>
              <a:rPr lang="sk-SK" dirty="0"/>
              <a:t>1.0 (</a:t>
            </a:r>
            <a:r>
              <a:rPr lang="sk-SK" u="sng" dirty="0">
                <a:solidFill>
                  <a:schemeClr val="hlink"/>
                </a:solidFill>
                <a:hlinkClick r:id="rId3"/>
              </a:rPr>
              <a:t>RFC 1945</a:t>
            </a:r>
            <a:r>
              <a:rPr lang="sk-SK" dirty="0"/>
              <a:t>) – máj 1996</a:t>
            </a:r>
          </a:p>
          <a:p>
            <a:pPr marL="914400" marR="0" lvl="1" indent="-298450" algn="l" rtl="0">
              <a:lnSpc>
                <a:spcPct val="115000"/>
              </a:lnSpc>
              <a:spcBef>
                <a:spcPts val="0"/>
              </a:spcBef>
              <a:spcAft>
                <a:spcPts val="0"/>
              </a:spcAft>
              <a:buSzPts val="1100"/>
              <a:buChar char="○"/>
            </a:pPr>
            <a:r>
              <a:rPr lang="sk-SK" dirty="0"/>
              <a:t>1.1 (</a:t>
            </a:r>
            <a:r>
              <a:rPr lang="sk-SK" u="sng" dirty="0">
                <a:solidFill>
                  <a:schemeClr val="hlink"/>
                </a:solidFill>
                <a:hlinkClick r:id="rId4"/>
              </a:rPr>
              <a:t>RFC 2616</a:t>
            </a:r>
            <a:r>
              <a:rPr lang="sk-SK" dirty="0"/>
              <a:t>) – jún 1999</a:t>
            </a:r>
          </a:p>
          <a:p>
            <a:pPr marL="914400" marR="0" lvl="1" indent="-298450" algn="l" rtl="0">
              <a:lnSpc>
                <a:spcPct val="115000"/>
              </a:lnSpc>
              <a:spcBef>
                <a:spcPts val="0"/>
              </a:spcBef>
              <a:spcAft>
                <a:spcPts val="0"/>
              </a:spcAft>
              <a:buSzPts val="1100"/>
              <a:buChar char="○"/>
            </a:pPr>
            <a:r>
              <a:rPr lang="sk-SK" dirty="0"/>
              <a:t>HTTP/2 (</a:t>
            </a:r>
            <a:r>
              <a:rPr lang="sk-SK" u="sng" dirty="0">
                <a:hlinkClick r:id="rId5"/>
              </a:rPr>
              <a:t>RFC 7540</a:t>
            </a:r>
            <a:r>
              <a:rPr lang="sk-SK" dirty="0"/>
              <a:t>) – máj 2015</a:t>
            </a:r>
          </a:p>
          <a:p>
            <a:pPr marL="914400" marR="0" lvl="1" indent="-298450" algn="l" rtl="0">
              <a:lnSpc>
                <a:spcPct val="115000"/>
              </a:lnSpc>
              <a:spcBef>
                <a:spcPts val="0"/>
              </a:spcBef>
              <a:spcAft>
                <a:spcPts val="0"/>
              </a:spcAft>
              <a:buSzPts val="1100"/>
              <a:buChar char="○"/>
            </a:pPr>
            <a:r>
              <a:rPr lang="sk-SK" dirty="0"/>
              <a:t>HTTP/3 - </a:t>
            </a:r>
            <a:r>
              <a:rPr lang="sk-SK" dirty="0">
                <a:sym typeface="Arial"/>
              </a:rPr>
              <a:t>HTTP-over-QUIC (</a:t>
            </a:r>
            <a:r>
              <a:rPr lang="en-US" dirty="0">
                <a:sym typeface="Arial"/>
              </a:rPr>
              <a:t>Quick UDP Internet Connections</a:t>
            </a:r>
            <a:r>
              <a:rPr lang="sk-SK" dirty="0">
                <a:sym typeface="Arial"/>
              </a:rPr>
              <a:t>) </a:t>
            </a:r>
            <a:r>
              <a:rPr lang="sk-SK" dirty="0">
                <a:solidFill>
                  <a:srgbClr val="080E14"/>
                </a:solidFill>
                <a:highlight>
                  <a:srgbClr val="FFFFFF"/>
                </a:highlight>
                <a:ea typeface="Arial"/>
                <a:cs typeface="Arial"/>
                <a:sym typeface="Arial"/>
              </a:rPr>
              <a:t>(</a:t>
            </a:r>
            <a:r>
              <a:rPr lang="sk-SK" dirty="0">
                <a:solidFill>
                  <a:srgbClr val="080E14"/>
                </a:solidFill>
                <a:highlight>
                  <a:srgbClr val="FFFFFF"/>
                </a:highlight>
                <a:ea typeface="Arial"/>
                <a:cs typeface="Arial"/>
                <a:sym typeface="Arial"/>
                <a:hlinkClick r:id="rId6"/>
              </a:rPr>
              <a:t>RFC 9114</a:t>
            </a:r>
            <a:r>
              <a:rPr lang="sk-SK" dirty="0">
                <a:solidFill>
                  <a:srgbClr val="080E14"/>
                </a:solidFill>
                <a:highlight>
                  <a:srgbClr val="FFFFFF"/>
                </a:highlight>
                <a:ea typeface="Arial"/>
                <a:cs typeface="Arial"/>
                <a:sym typeface="Arial"/>
              </a:rPr>
              <a:t>) – jún 2022</a:t>
            </a:r>
            <a:endParaRPr lang="sk-SK" dirty="0"/>
          </a:p>
        </p:txBody>
      </p:sp>
      <p:sp>
        <p:nvSpPr>
          <p:cNvPr id="130" name="Google Shape;130;p17"/>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4</a:t>
            </a:fld>
            <a:endParaRPr lang="sk-SK"/>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8"/>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Vlastnosti protokolu HTTP 1.1</a:t>
            </a:r>
          </a:p>
        </p:txBody>
      </p:sp>
      <p:sp>
        <p:nvSpPr>
          <p:cNvPr id="136" name="Google Shape;136;p18"/>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a:t>Virtuálne servre (</a:t>
            </a:r>
            <a:r>
              <a:rPr lang="sk-SK" i="1"/>
              <a:t>virtual hosting</a:t>
            </a:r>
            <a:r>
              <a:rPr lang="sk-SK"/>
              <a:t>)</a:t>
            </a:r>
          </a:p>
          <a:p>
            <a:pPr marL="457200" lvl="0" indent="-330200" algn="l" rtl="0">
              <a:spcBef>
                <a:spcPts val="0"/>
              </a:spcBef>
              <a:spcAft>
                <a:spcPts val="0"/>
              </a:spcAft>
              <a:buSzPts val="1600"/>
              <a:buChar char="●"/>
            </a:pPr>
            <a:r>
              <a:rPr lang="sk-SK"/>
              <a:t>Dávkové posielanie dát (</a:t>
            </a:r>
            <a:r>
              <a:rPr lang="sk-SK" i="1"/>
              <a:t>chunked transfer encoding</a:t>
            </a:r>
            <a:r>
              <a:rPr lang="sk-SK"/>
              <a:t>)</a:t>
            </a:r>
          </a:p>
          <a:p>
            <a:pPr marL="457200" lvl="0" indent="-330200" algn="l" rtl="0">
              <a:spcBef>
                <a:spcPts val="0"/>
              </a:spcBef>
              <a:spcAft>
                <a:spcPts val="0"/>
              </a:spcAft>
              <a:buSzPts val="1600"/>
              <a:buChar char="●"/>
            </a:pPr>
            <a:r>
              <a:rPr lang="sk-SK"/>
              <a:t>Trvalé spojenia (</a:t>
            </a:r>
            <a:r>
              <a:rPr lang="sk-SK" i="1"/>
              <a:t>persistent connections</a:t>
            </a:r>
            <a:r>
              <a:rPr lang="sk-SK"/>
              <a:t>)</a:t>
            </a:r>
          </a:p>
          <a:p>
            <a:pPr marL="457200" lvl="0" indent="-330200" algn="l" rtl="0">
              <a:spcBef>
                <a:spcPts val="0"/>
              </a:spcBef>
              <a:spcAft>
                <a:spcPts val="0"/>
              </a:spcAft>
              <a:buSzPts val="1600"/>
              <a:buChar char="●"/>
            </a:pPr>
            <a:r>
              <a:rPr lang="sk-SK"/>
              <a:t>Zreťazené spracovanie (</a:t>
            </a:r>
            <a:r>
              <a:rPr lang="sk-SK" i="1"/>
              <a:t>pipelining</a:t>
            </a:r>
            <a:r>
              <a:rPr lang="sk-SK"/>
              <a:t>)</a:t>
            </a:r>
          </a:p>
          <a:p>
            <a:pPr marL="457200" lvl="0" indent="-330200" algn="l" rtl="0">
              <a:spcBef>
                <a:spcPts val="0"/>
              </a:spcBef>
              <a:spcAft>
                <a:spcPts val="0"/>
              </a:spcAft>
              <a:buSzPts val="1600"/>
              <a:buChar char="●"/>
            </a:pPr>
            <a:r>
              <a:rPr lang="sk-SK"/>
              <a:t>Podpora komprimácie</a:t>
            </a:r>
          </a:p>
          <a:p>
            <a:pPr marL="457200" lvl="0" indent="-330200" algn="l" rtl="0">
              <a:spcBef>
                <a:spcPts val="0"/>
              </a:spcBef>
              <a:spcAft>
                <a:spcPts val="0"/>
              </a:spcAft>
              <a:buSzPts val="1600"/>
              <a:buChar char="●"/>
            </a:pPr>
            <a:r>
              <a:rPr lang="sk-SK"/>
              <a:t>Žiadosť o časť dokumentu (</a:t>
            </a:r>
            <a:r>
              <a:rPr lang="sk-SK" i="1"/>
              <a:t>range request</a:t>
            </a:r>
            <a:r>
              <a:rPr lang="sk-SK"/>
              <a:t>)</a:t>
            </a:r>
          </a:p>
          <a:p>
            <a:pPr marL="457200" lvl="0" indent="-330200" algn="l" rtl="0">
              <a:spcBef>
                <a:spcPts val="0"/>
              </a:spcBef>
              <a:spcAft>
                <a:spcPts val="0"/>
              </a:spcAft>
              <a:buSzPts val="1600"/>
              <a:buChar char="●"/>
            </a:pPr>
            <a:r>
              <a:rPr lang="sk-SK"/>
              <a:t>Vyjednávanie o obsahu (</a:t>
            </a:r>
            <a:r>
              <a:rPr lang="sk-SK" i="1"/>
              <a:t>content negotiation</a:t>
            </a:r>
            <a:r>
              <a:rPr lang="sk-SK"/>
              <a:t>)</a:t>
            </a:r>
          </a:p>
          <a:p>
            <a:pPr marL="457200" lvl="0" indent="-330200" algn="l" rtl="0">
              <a:spcBef>
                <a:spcPts val="0"/>
              </a:spcBef>
              <a:spcAft>
                <a:spcPts val="0"/>
              </a:spcAft>
              <a:buSzPts val="1600"/>
              <a:buChar char="●"/>
            </a:pPr>
            <a:r>
              <a:rPr lang="sk-SK"/>
              <a:t>Používa štandard MIME (RFC 1521-4)</a:t>
            </a:r>
          </a:p>
          <a:p>
            <a:pPr marL="457200" lvl="0" indent="0" algn="l" rtl="0">
              <a:spcBef>
                <a:spcPts val="500"/>
              </a:spcBef>
              <a:spcAft>
                <a:spcPts val="500"/>
              </a:spcAft>
              <a:buNone/>
            </a:pPr>
            <a:endParaRPr lang="sk-SK"/>
          </a:p>
        </p:txBody>
      </p:sp>
      <p:sp>
        <p:nvSpPr>
          <p:cNvPr id="137" name="Google Shape;137;p18"/>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a:t>
            </a:fld>
            <a:endParaRPr lang="sk-SK"/>
          </a:p>
        </p:txBody>
      </p:sp>
      <p:pic>
        <p:nvPicPr>
          <p:cNvPr id="3" name="Obrázok 2" descr="Obrázok, na ktorom je text, kreslený obrázok, animák, zábavný&#10;&#10;Obsah vygenerovaný pomocou AI môže byť nesprávny.">
            <a:extLst>
              <a:ext uri="{FF2B5EF4-FFF2-40B4-BE49-F238E27FC236}">
                <a16:creationId xmlns:a16="http://schemas.microsoft.com/office/drawing/2014/main" id="{0ABD7BC3-B213-5B64-C427-B2F0ED1825FC}"/>
              </a:ext>
            </a:extLst>
          </p:cNvPr>
          <p:cNvPicPr>
            <a:picLocks noChangeAspect="1"/>
          </p:cNvPicPr>
          <p:nvPr/>
        </p:nvPicPr>
        <p:blipFill>
          <a:blip r:embed="rId3"/>
          <a:stretch>
            <a:fillRect/>
          </a:stretch>
        </p:blipFill>
        <p:spPr>
          <a:xfrm>
            <a:off x="5555040" y="1371547"/>
            <a:ext cx="3153054" cy="33960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HTTP žiadosť (</a:t>
            </a:r>
            <a:r>
              <a:rPr lang="en-US" i="1" dirty="0"/>
              <a:t>request</a:t>
            </a:r>
            <a:r>
              <a:rPr lang="sk-SK" dirty="0"/>
              <a:t>)</a:t>
            </a:r>
          </a:p>
        </p:txBody>
      </p:sp>
      <p:sp>
        <p:nvSpPr>
          <p:cNvPr id="143" name="Google Shape;143;p19"/>
          <p:cNvSpPr txBox="1">
            <a:spLocks noGrp="1"/>
          </p:cNvSpPr>
          <p:nvPr>
            <p:ph type="body" idx="1"/>
          </p:nvPr>
        </p:nvSpPr>
        <p:spPr>
          <a:xfrm>
            <a:off x="435900" y="1535950"/>
            <a:ext cx="8272200" cy="32067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Formát žiadosti:</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&lt;metóda&gt; &lt;URI&gt; &lt;verzia protokolu&gt;</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&lt;HTTP hlavičky&gt;</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a:t>
            </a:r>
          </a:p>
          <a:p>
            <a:pPr marL="0" indent="0">
              <a:lnSpc>
                <a:spcPct val="100000"/>
              </a:lnSpc>
              <a:spcBef>
                <a:spcPts val="500"/>
              </a:spcBef>
              <a:buNone/>
            </a:pPr>
            <a:r>
              <a:rPr lang="sk-SK" sz="1200" dirty="0">
                <a:latin typeface="Consolas" panose="020B0609020204030204" pitchFamily="49" charset="0"/>
                <a:ea typeface="Roboto Mono"/>
                <a:cs typeface="Roboto Mono"/>
                <a:sym typeface="Roboto Mono"/>
              </a:rPr>
              <a:t>     &lt;telo žiadosti&gt;</a:t>
            </a:r>
            <a:endParaRPr lang="sk-SK" sz="1200" dirty="0">
              <a:latin typeface="Roboto Mono"/>
              <a:ea typeface="Roboto Mono"/>
              <a:cs typeface="Roboto Mono"/>
              <a:sym typeface="Roboto Mono"/>
            </a:endParaRPr>
          </a:p>
          <a:p>
            <a:pPr>
              <a:spcBef>
                <a:spcPts val="600"/>
              </a:spcBef>
            </a:pPr>
            <a:r>
              <a:rPr lang="sk-SK" dirty="0"/>
              <a:t>Metódy:</a:t>
            </a:r>
          </a:p>
          <a:p>
            <a:pPr marL="914400" lvl="1" indent="-298450" algn="l" rtl="0">
              <a:spcBef>
                <a:spcPts val="0"/>
              </a:spcBef>
              <a:spcAft>
                <a:spcPts val="0"/>
              </a:spcAft>
              <a:buSzPts val="1100"/>
              <a:buChar char="○"/>
            </a:pPr>
            <a:r>
              <a:rPr lang="sk-SK" dirty="0">
                <a:latin typeface="Consolas" panose="020B0609020204030204" pitchFamily="49" charset="0"/>
                <a:ea typeface="Roboto Mono"/>
                <a:cs typeface="Roboto Mono"/>
                <a:sym typeface="Roboto Mono"/>
              </a:rPr>
              <a:t>GET</a:t>
            </a:r>
            <a:r>
              <a:rPr lang="sk-SK" dirty="0"/>
              <a:t>, </a:t>
            </a:r>
            <a:r>
              <a:rPr lang="sk-SK" dirty="0">
                <a:latin typeface="Consolas" panose="020B0609020204030204" pitchFamily="49" charset="0"/>
                <a:ea typeface="Roboto Mono"/>
                <a:sym typeface="Roboto Mono"/>
              </a:rPr>
              <a:t>POST</a:t>
            </a:r>
            <a:r>
              <a:rPr lang="sk-SK" dirty="0"/>
              <a:t>, </a:t>
            </a:r>
            <a:r>
              <a:rPr lang="sk-SK" dirty="0">
                <a:latin typeface="Consolas" panose="020B0609020204030204" pitchFamily="49" charset="0"/>
                <a:ea typeface="Roboto Mono"/>
                <a:sym typeface="Roboto Mono"/>
              </a:rPr>
              <a:t>HEAD</a:t>
            </a:r>
            <a:r>
              <a:rPr lang="sk-SK" dirty="0"/>
              <a:t>, </a:t>
            </a:r>
            <a:r>
              <a:rPr lang="sk-SK" dirty="0">
                <a:latin typeface="Consolas" panose="020B0609020204030204" pitchFamily="49" charset="0"/>
                <a:ea typeface="Roboto Mono"/>
                <a:sym typeface="Roboto Mono"/>
              </a:rPr>
              <a:t>PUT</a:t>
            </a:r>
            <a:r>
              <a:rPr lang="sk-SK" dirty="0"/>
              <a:t>, </a:t>
            </a:r>
            <a:r>
              <a:rPr lang="sk-SK" dirty="0">
                <a:latin typeface="Consolas" panose="020B0609020204030204" pitchFamily="49" charset="0"/>
                <a:ea typeface="Roboto Mono"/>
                <a:sym typeface="Roboto Mono"/>
              </a:rPr>
              <a:t>DELETE</a:t>
            </a:r>
            <a:r>
              <a:rPr lang="sk-SK" dirty="0"/>
              <a:t>, </a:t>
            </a:r>
            <a:r>
              <a:rPr lang="sk-SK" dirty="0">
                <a:latin typeface="Consolas" panose="020B0609020204030204" pitchFamily="49" charset="0"/>
                <a:ea typeface="Roboto Mono"/>
                <a:sym typeface="Roboto Mono"/>
              </a:rPr>
              <a:t>OPTIONS</a:t>
            </a:r>
            <a:r>
              <a:rPr lang="sk-SK" dirty="0"/>
              <a:t>, </a:t>
            </a:r>
            <a:r>
              <a:rPr lang="sk-SK" dirty="0">
                <a:latin typeface="Consolas" panose="020B0609020204030204" pitchFamily="49" charset="0"/>
                <a:ea typeface="Roboto Mono"/>
                <a:sym typeface="Roboto Mono"/>
              </a:rPr>
              <a:t>TRACE</a:t>
            </a:r>
            <a:r>
              <a:rPr lang="sk-SK" dirty="0"/>
              <a:t>, </a:t>
            </a:r>
            <a:r>
              <a:rPr lang="sk-SK" dirty="0">
                <a:latin typeface="Consolas" panose="020B0609020204030204" pitchFamily="49" charset="0"/>
                <a:ea typeface="Roboto Mono"/>
                <a:sym typeface="Roboto Mono"/>
              </a:rPr>
              <a:t>CONNECT</a:t>
            </a:r>
            <a:endParaRPr lang="sk-SK" dirty="0"/>
          </a:p>
          <a:p>
            <a:pPr marL="457200" lvl="0" indent="-330200" algn="l" rtl="0">
              <a:spcBef>
                <a:spcPts val="0"/>
              </a:spcBef>
              <a:spcAft>
                <a:spcPts val="0"/>
              </a:spcAft>
              <a:buSzPts val="1600"/>
              <a:buChar char="●"/>
            </a:pPr>
            <a:r>
              <a:rPr lang="sk-SK" dirty="0"/>
              <a:t>HTTP hlavičky (MIME štandard): </a:t>
            </a:r>
          </a:p>
          <a:p>
            <a:pPr marL="914400" lvl="1" indent="-298450" algn="l" rtl="0">
              <a:spcBef>
                <a:spcPts val="0"/>
              </a:spcBef>
              <a:spcAft>
                <a:spcPts val="0"/>
              </a:spcAft>
              <a:buSzPts val="1100"/>
              <a:buChar char="○"/>
            </a:pPr>
            <a:r>
              <a:rPr lang="sk-SK" dirty="0"/>
              <a:t>Definovanie typu, dĺžky, kódovania tela žiadosti</a:t>
            </a:r>
          </a:p>
          <a:p>
            <a:pPr marL="914400" lvl="1" indent="-298450" algn="l" rtl="0">
              <a:spcBef>
                <a:spcPts val="0"/>
              </a:spcBef>
              <a:spcAft>
                <a:spcPts val="0"/>
              </a:spcAft>
              <a:buSzPts val="1100"/>
              <a:buChar char="○"/>
            </a:pPr>
            <a:r>
              <a:rPr lang="sk-SK" dirty="0"/>
              <a:t>Predstavenie  klienta, podmienené a čiastočné žiadosti, atď.</a:t>
            </a:r>
          </a:p>
          <a:p>
            <a:pPr>
              <a:spcBef>
                <a:spcPts val="0"/>
              </a:spcBef>
            </a:pPr>
            <a:r>
              <a:rPr lang="sk-SK" dirty="0"/>
              <a:t>Telo existuje len pri niektorých metódach</a:t>
            </a:r>
          </a:p>
        </p:txBody>
      </p:sp>
      <p:sp>
        <p:nvSpPr>
          <p:cNvPr id="144" name="Google Shape;144;p19"/>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6</a:t>
            </a:fld>
            <a:endParaRPr lang="sk-S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2"/>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Príklad HTTP žiadosti</a:t>
            </a:r>
          </a:p>
        </p:txBody>
      </p:sp>
      <p:sp>
        <p:nvSpPr>
          <p:cNvPr id="165" name="Google Shape;165;p22"/>
          <p:cNvSpPr txBox="1">
            <a:spLocks noGrp="1"/>
          </p:cNvSpPr>
          <p:nvPr>
            <p:ph type="body" idx="1"/>
          </p:nvPr>
        </p:nvSpPr>
        <p:spPr>
          <a:xfrm>
            <a:off x="435900" y="1635375"/>
            <a:ext cx="8272200" cy="3030900"/>
          </a:xfrm>
          <a:prstGeom prst="rect">
            <a:avLst/>
          </a:prstGeom>
        </p:spPr>
        <p:txBody>
          <a:bodyPr spcFirstLastPara="1" wrap="square" lIns="68575" tIns="68575" rIns="68575" bIns="68575" anchor="t" anchorCtr="0">
            <a:noAutofit/>
          </a:bodyPr>
          <a:lstStyle/>
          <a:p>
            <a:pPr marL="228600" lvl="0" indent="-152400" algn="l" rtl="0">
              <a:lnSpc>
                <a:spcPct val="100000"/>
              </a:lnSpc>
              <a:spcBef>
                <a:spcPts val="300"/>
              </a:spcBef>
              <a:spcAft>
                <a:spcPts val="0"/>
              </a:spcAft>
              <a:buClr>
                <a:schemeClr val="dk1"/>
              </a:buClr>
              <a:buSzPts val="1100"/>
              <a:buFont typeface="Arial"/>
              <a:buNone/>
            </a:pPr>
            <a:r>
              <a:rPr lang="en-US" sz="1100" b="1" dirty="0">
                <a:latin typeface="Consolas" panose="020B0609020204030204" pitchFamily="49" charset="0"/>
                <a:ea typeface="Roboto Mono"/>
                <a:cs typeface="Roboto Mono"/>
                <a:sym typeface="Roboto Mono"/>
              </a:rPr>
              <a:t>GET / HTTP/1.1</a:t>
            </a:r>
          </a:p>
          <a:p>
            <a:pPr marL="228600" lvl="0" indent="-152400" algn="l" rtl="0">
              <a:lnSpc>
                <a:spcPct val="100000"/>
              </a:lnSpc>
              <a:spcBef>
                <a:spcPts val="300"/>
              </a:spcBef>
              <a:spcAft>
                <a:spcPts val="0"/>
              </a:spcAft>
              <a:buClr>
                <a:schemeClr val="dk1"/>
              </a:buClr>
              <a:buSzPts val="1100"/>
              <a:buFont typeface="Arial"/>
              <a:buNone/>
            </a:pPr>
            <a:r>
              <a:rPr lang="en-US" sz="1100" b="1" dirty="0">
                <a:latin typeface="Consolas" panose="020B0609020204030204" pitchFamily="49" charset="0"/>
                <a:ea typeface="Roboto Mono"/>
                <a:cs typeface="Roboto Mono"/>
                <a:sym typeface="Roboto Mono"/>
              </a:rPr>
              <a:t>Host: www.fri.uniza.sk</a:t>
            </a: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User-Agent: Mozilla/5.0 (Windows NT 10.0; Win64; x64; rv:83.0) Gecko/20100101 Firefox/83.0</a:t>
            </a: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Accept: text/</a:t>
            </a:r>
            <a:r>
              <a:rPr lang="en-US" sz="1100" dirty="0" err="1">
                <a:latin typeface="Consolas" panose="020B0609020204030204" pitchFamily="49" charset="0"/>
                <a:ea typeface="Roboto Mono"/>
                <a:cs typeface="Roboto Mono"/>
                <a:sym typeface="Roboto Mono"/>
              </a:rPr>
              <a:t>html,application</a:t>
            </a:r>
            <a:r>
              <a:rPr lang="en-US" sz="1100" dirty="0">
                <a:latin typeface="Consolas" panose="020B0609020204030204" pitchFamily="49" charset="0"/>
                <a:ea typeface="Roboto Mono"/>
                <a:cs typeface="Roboto Mono"/>
                <a:sym typeface="Roboto Mono"/>
              </a:rPr>
              <a:t>/</a:t>
            </a:r>
            <a:r>
              <a:rPr lang="en-US" sz="1100" dirty="0" err="1">
                <a:latin typeface="Consolas" panose="020B0609020204030204" pitchFamily="49" charset="0"/>
                <a:ea typeface="Roboto Mono"/>
                <a:cs typeface="Roboto Mono"/>
                <a:sym typeface="Roboto Mono"/>
              </a:rPr>
              <a:t>xhtml+xml,application</a:t>
            </a:r>
            <a:r>
              <a:rPr lang="en-US" sz="1100" dirty="0">
                <a:latin typeface="Consolas" panose="020B0609020204030204" pitchFamily="49" charset="0"/>
                <a:ea typeface="Roboto Mono"/>
                <a:cs typeface="Roboto Mono"/>
                <a:sym typeface="Roboto Mono"/>
              </a:rPr>
              <a:t>/</a:t>
            </a:r>
            <a:r>
              <a:rPr lang="en-US" sz="1100" dirty="0" err="1">
                <a:latin typeface="Consolas" panose="020B0609020204030204" pitchFamily="49" charset="0"/>
                <a:ea typeface="Roboto Mono"/>
                <a:cs typeface="Roboto Mono"/>
                <a:sym typeface="Roboto Mono"/>
              </a:rPr>
              <a:t>xml;q</a:t>
            </a:r>
            <a:r>
              <a:rPr lang="en-US" sz="1100" dirty="0">
                <a:latin typeface="Consolas" panose="020B0609020204030204" pitchFamily="49" charset="0"/>
                <a:ea typeface="Roboto Mono"/>
                <a:cs typeface="Roboto Mono"/>
                <a:sym typeface="Roboto Mono"/>
              </a:rPr>
              <a:t>=0.9,image/</a:t>
            </a:r>
            <a:r>
              <a:rPr lang="en-US" sz="1100" dirty="0" err="1">
                <a:latin typeface="Consolas" panose="020B0609020204030204" pitchFamily="49" charset="0"/>
                <a:ea typeface="Roboto Mono"/>
                <a:cs typeface="Roboto Mono"/>
                <a:sym typeface="Roboto Mono"/>
              </a:rPr>
              <a:t>webp</a:t>
            </a:r>
            <a:r>
              <a:rPr lang="en-US" sz="1100" dirty="0">
                <a:latin typeface="Consolas" panose="020B0609020204030204" pitchFamily="49" charset="0"/>
                <a:ea typeface="Roboto Mono"/>
                <a:cs typeface="Roboto Mono"/>
                <a:sym typeface="Roboto Mono"/>
              </a:rPr>
              <a:t>,*/*;q=0.8</a:t>
            </a: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Accept-Language: </a:t>
            </a:r>
            <a:r>
              <a:rPr lang="en-US" sz="1100" dirty="0" err="1">
                <a:latin typeface="Consolas" panose="020B0609020204030204" pitchFamily="49" charset="0"/>
                <a:ea typeface="Roboto Mono"/>
                <a:cs typeface="Roboto Mono"/>
                <a:sym typeface="Roboto Mono"/>
              </a:rPr>
              <a:t>sk,en;q</a:t>
            </a:r>
            <a:r>
              <a:rPr lang="en-US" sz="1100" dirty="0">
                <a:latin typeface="Consolas" panose="020B0609020204030204" pitchFamily="49" charset="0"/>
                <a:ea typeface="Roboto Mono"/>
                <a:cs typeface="Roboto Mono"/>
                <a:sym typeface="Roboto Mono"/>
              </a:rPr>
              <a:t>=0.7,cs;q=0.3</a:t>
            </a: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Accept-Encoding: </a:t>
            </a:r>
            <a:r>
              <a:rPr lang="en-US" sz="1100" dirty="0" err="1">
                <a:latin typeface="Consolas" panose="020B0609020204030204" pitchFamily="49" charset="0"/>
                <a:ea typeface="Roboto Mono"/>
                <a:cs typeface="Roboto Mono"/>
                <a:sym typeface="Roboto Mono"/>
              </a:rPr>
              <a:t>gzip</a:t>
            </a:r>
            <a:r>
              <a:rPr lang="en-US" sz="1100" dirty="0">
                <a:latin typeface="Consolas" panose="020B0609020204030204" pitchFamily="49" charset="0"/>
                <a:ea typeface="Roboto Mono"/>
                <a:cs typeface="Roboto Mono"/>
                <a:sym typeface="Roboto Mono"/>
              </a:rPr>
              <a:t>, deflate, </a:t>
            </a:r>
            <a:r>
              <a:rPr lang="en-US" sz="1100" dirty="0" err="1">
                <a:latin typeface="Consolas" panose="020B0609020204030204" pitchFamily="49" charset="0"/>
                <a:ea typeface="Roboto Mono"/>
                <a:cs typeface="Roboto Mono"/>
                <a:sym typeface="Roboto Mono"/>
              </a:rPr>
              <a:t>br</a:t>
            </a:r>
            <a:endParaRPr lang="en-US" sz="11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Connection: keep-alive</a:t>
            </a: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Upgrade-Insecure-Requests: 1</a:t>
            </a:r>
          </a:p>
          <a:p>
            <a:pPr marL="228600" lvl="0" indent="-152400" algn="l" rtl="0">
              <a:lnSpc>
                <a:spcPct val="100000"/>
              </a:lnSpc>
              <a:spcBef>
                <a:spcPts val="300"/>
              </a:spcBef>
              <a:spcAft>
                <a:spcPts val="0"/>
              </a:spcAft>
              <a:buClr>
                <a:schemeClr val="dk1"/>
              </a:buClr>
              <a:buSzPts val="1100"/>
              <a:buFont typeface="Arial"/>
              <a:buNone/>
            </a:pPr>
            <a:r>
              <a:rPr lang="en-US" sz="1100" dirty="0">
                <a:latin typeface="Consolas" panose="020B0609020204030204" pitchFamily="49" charset="0"/>
                <a:ea typeface="Roboto Mono"/>
                <a:cs typeface="Roboto Mono"/>
                <a:sym typeface="Roboto Mono"/>
              </a:rPr>
              <a:t>Cache-Control: max-age=0</a:t>
            </a:r>
          </a:p>
        </p:txBody>
      </p:sp>
      <p:sp>
        <p:nvSpPr>
          <p:cNvPr id="166" name="Google Shape;166;p22"/>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7</a:t>
            </a:fld>
            <a:endParaRPr lang="sk-SK"/>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0"/>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HTTP odpoveď (</a:t>
            </a:r>
            <a:r>
              <a:rPr lang="en-US" i="1" dirty="0"/>
              <a:t>response</a:t>
            </a:r>
            <a:r>
              <a:rPr lang="sk-SK" dirty="0"/>
              <a:t>)</a:t>
            </a:r>
          </a:p>
        </p:txBody>
      </p:sp>
      <p:sp>
        <p:nvSpPr>
          <p:cNvPr id="150" name="Google Shape;150;p20"/>
          <p:cNvSpPr txBox="1">
            <a:spLocks noGrp="1"/>
          </p:cNvSpPr>
          <p:nvPr>
            <p:ph type="body" idx="1"/>
          </p:nvPr>
        </p:nvSpPr>
        <p:spPr>
          <a:xfrm>
            <a:off x="435894" y="1540897"/>
            <a:ext cx="8272200" cy="3239928"/>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Formát odpovede:</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&lt;verzia protokolu&gt; &lt;stavový kód&gt; &lt;popis&gt;</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&lt;hlavičky&gt;</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a:t>
            </a:r>
          </a:p>
          <a:p>
            <a:pPr marL="0" lvl="0" indent="0" algn="l" rtl="0">
              <a:lnSpc>
                <a:spcPct val="100000"/>
              </a:lnSpc>
              <a:spcBef>
                <a:spcPts val="500"/>
              </a:spcBef>
              <a:spcAft>
                <a:spcPts val="0"/>
              </a:spcAft>
              <a:buNone/>
            </a:pPr>
            <a:r>
              <a:rPr lang="sk-SK" sz="1200" dirty="0">
                <a:latin typeface="Consolas" panose="020B0609020204030204" pitchFamily="49" charset="0"/>
                <a:ea typeface="Roboto Mono"/>
                <a:cs typeface="Roboto Mono"/>
                <a:sym typeface="Roboto Mono"/>
              </a:rPr>
              <a:t>     &lt;telo odpovede&gt;</a:t>
            </a:r>
            <a:endParaRPr lang="sk-SK" sz="1200" dirty="0">
              <a:latin typeface="Roboto Mono"/>
              <a:ea typeface="Roboto Mono"/>
              <a:cs typeface="Roboto Mono"/>
              <a:sym typeface="Roboto Mono"/>
            </a:endParaRPr>
          </a:p>
          <a:p>
            <a:pPr>
              <a:spcBef>
                <a:spcPts val="600"/>
              </a:spcBef>
            </a:pPr>
            <a:r>
              <a:rPr lang="sk-SK" dirty="0"/>
              <a:t>Stavové kódy:</a:t>
            </a:r>
          </a:p>
          <a:p>
            <a:pPr marL="914400" lvl="1" indent="-298450" algn="l" rtl="0">
              <a:spcBef>
                <a:spcPts val="0"/>
              </a:spcBef>
              <a:spcAft>
                <a:spcPts val="0"/>
              </a:spcAft>
              <a:buSzPts val="1100"/>
              <a:buChar char="○"/>
            </a:pPr>
            <a:r>
              <a:rPr lang="sk-SK" dirty="0"/>
              <a:t>Popisujú výsledok spracovania žiadosti webovým serverom</a:t>
            </a:r>
          </a:p>
          <a:p>
            <a:pPr marL="457200" lvl="0" indent="-330200" algn="l" rtl="0">
              <a:spcBef>
                <a:spcPts val="0"/>
              </a:spcBef>
              <a:spcAft>
                <a:spcPts val="0"/>
              </a:spcAft>
              <a:buSzPts val="1600"/>
              <a:buChar char="●"/>
            </a:pPr>
            <a:r>
              <a:rPr lang="sk-SK" dirty="0"/>
              <a:t>Hlavičky: </a:t>
            </a:r>
          </a:p>
          <a:p>
            <a:pPr marL="914400" lvl="1" indent="-298450" algn="l" rtl="0">
              <a:spcBef>
                <a:spcPts val="0"/>
              </a:spcBef>
              <a:spcAft>
                <a:spcPts val="0"/>
              </a:spcAft>
              <a:buSzPts val="1100"/>
              <a:buChar char="○"/>
            </a:pPr>
            <a:r>
              <a:rPr lang="sk-SK" dirty="0"/>
              <a:t>Informácie o serveri, informácie o dokumente (typ, dĺžka, kódovanie, atď.)</a:t>
            </a:r>
          </a:p>
          <a:p>
            <a:pPr marL="457200" lvl="0" indent="-330200" algn="l" rtl="0">
              <a:spcBef>
                <a:spcPts val="0"/>
              </a:spcBef>
              <a:spcAft>
                <a:spcPts val="0"/>
              </a:spcAft>
              <a:buSzPts val="1600"/>
              <a:buChar char="●"/>
            </a:pPr>
            <a:r>
              <a:rPr lang="sk-SK" dirty="0"/>
              <a:t>Telo odpovede = požadovaný dokument (alebo jeho časť)</a:t>
            </a:r>
          </a:p>
        </p:txBody>
      </p:sp>
      <p:sp>
        <p:nvSpPr>
          <p:cNvPr id="151" name="Google Shape;151;p20"/>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8</a:t>
            </a:fld>
            <a:endParaRPr lang="sk-SK"/>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Stavové kódy odpovedí</a:t>
            </a:r>
          </a:p>
        </p:txBody>
      </p:sp>
      <p:sp>
        <p:nvSpPr>
          <p:cNvPr id="157" name="Google Shape;157;p21"/>
          <p:cNvSpPr txBox="1">
            <a:spLocks noGrp="1"/>
          </p:cNvSpPr>
          <p:nvPr>
            <p:ph type="body" idx="1"/>
          </p:nvPr>
        </p:nvSpPr>
        <p:spPr>
          <a:xfrm>
            <a:off x="435900" y="1542575"/>
            <a:ext cx="8272200" cy="29553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a:t>1XX informačné (zriedkavé)</a:t>
            </a:r>
          </a:p>
          <a:p>
            <a:pPr marL="914400" lvl="1" indent="-304800" algn="l" rtl="0">
              <a:spcBef>
                <a:spcPts val="0"/>
              </a:spcBef>
              <a:spcAft>
                <a:spcPts val="0"/>
              </a:spcAft>
              <a:buSzPts val="1200"/>
              <a:buFont typeface="Roboto Mono"/>
              <a:buChar char="○"/>
            </a:pPr>
            <a:r>
              <a:rPr lang="sk-SK" sz="1200">
                <a:latin typeface="Consolas" panose="020B0609020204030204" pitchFamily="49" charset="0"/>
                <a:ea typeface="Roboto Mono"/>
                <a:cs typeface="Roboto Mono"/>
                <a:sym typeface="Roboto Mono"/>
              </a:rPr>
              <a:t>100 </a:t>
            </a:r>
            <a:r>
              <a:rPr lang="en-US" sz="1200">
                <a:latin typeface="Consolas" panose="020B0609020204030204" pitchFamily="49" charset="0"/>
                <a:ea typeface="Roboto Mono"/>
                <a:cs typeface="Roboto Mono"/>
                <a:sym typeface="Roboto Mono"/>
              </a:rPr>
              <a:t>Continue</a:t>
            </a:r>
          </a:p>
          <a:p>
            <a:pPr marL="457200" lvl="0" indent="-330200" algn="l" rtl="0">
              <a:spcBef>
                <a:spcPts val="0"/>
              </a:spcBef>
              <a:spcAft>
                <a:spcPts val="0"/>
              </a:spcAft>
              <a:buSzPts val="1600"/>
              <a:buChar char="●"/>
            </a:pPr>
            <a:r>
              <a:rPr lang="sk-SK"/>
              <a:t>2XX úspech</a:t>
            </a:r>
          </a:p>
          <a:p>
            <a:pPr lvl="1" indent="-304800">
              <a:spcBef>
                <a:spcPts val="0"/>
              </a:spcBef>
              <a:buSzPts val="1200"/>
              <a:buFont typeface="Roboto Mono"/>
              <a:buChar char="○"/>
            </a:pPr>
            <a:r>
              <a:rPr lang="sk-SK" sz="1200">
                <a:latin typeface="Consolas" panose="020B0609020204030204" pitchFamily="49" charset="0"/>
                <a:ea typeface="Roboto Mono"/>
                <a:sym typeface="Roboto Mono"/>
              </a:rPr>
              <a:t>200 OK</a:t>
            </a:r>
            <a:endParaRPr lang="sk-SK" sz="1200">
              <a:latin typeface="Consolas" panose="020B0609020204030204" pitchFamily="49" charset="0"/>
              <a:ea typeface="Roboto Mono"/>
            </a:endParaRPr>
          </a:p>
          <a:p>
            <a:pPr marL="457200" lvl="0" indent="-330200" algn="l" rtl="0">
              <a:spcBef>
                <a:spcPts val="0"/>
              </a:spcBef>
              <a:spcAft>
                <a:spcPts val="0"/>
              </a:spcAft>
              <a:buSzPts val="1600"/>
              <a:buChar char="●"/>
            </a:pPr>
            <a:r>
              <a:rPr lang="sk-SK"/>
              <a:t>3XX presmerovanie</a:t>
            </a:r>
          </a:p>
          <a:p>
            <a:pPr lvl="1" indent="-304800">
              <a:spcBef>
                <a:spcPts val="0"/>
              </a:spcBef>
              <a:buSzPts val="1200"/>
              <a:buFont typeface="Roboto Mono"/>
              <a:buChar char="○"/>
            </a:pPr>
            <a:r>
              <a:rPr lang="sk-SK" sz="1200">
                <a:latin typeface="Consolas" panose="020B0609020204030204" pitchFamily="49" charset="0"/>
                <a:ea typeface="Roboto Mono"/>
                <a:sym typeface="Roboto Mono"/>
              </a:rPr>
              <a:t>301 </a:t>
            </a:r>
            <a:r>
              <a:rPr lang="en-US" sz="1200">
                <a:latin typeface="Consolas" panose="020B0609020204030204" pitchFamily="49" charset="0"/>
                <a:ea typeface="Roboto Mono"/>
                <a:sym typeface="Roboto Mono"/>
              </a:rPr>
              <a:t>Moved permanently</a:t>
            </a:r>
          </a:p>
          <a:p>
            <a:pPr lvl="1" indent="-304800">
              <a:spcBef>
                <a:spcPts val="0"/>
              </a:spcBef>
              <a:buSzPts val="1200"/>
              <a:buFont typeface="Roboto Mono"/>
              <a:buChar char="○"/>
            </a:pPr>
            <a:r>
              <a:rPr lang="sk-SK" sz="1200">
                <a:latin typeface="Consolas" panose="020B0609020204030204" pitchFamily="49" charset="0"/>
                <a:ea typeface="Roboto Mono"/>
                <a:sym typeface="Roboto Mono"/>
              </a:rPr>
              <a:t>304 </a:t>
            </a:r>
            <a:r>
              <a:rPr lang="en-US" sz="1200">
                <a:latin typeface="Consolas" panose="020B0609020204030204" pitchFamily="49" charset="0"/>
                <a:ea typeface="Roboto Mono"/>
                <a:sym typeface="Roboto Mono"/>
              </a:rPr>
              <a:t>Not Modified</a:t>
            </a:r>
            <a:endParaRPr lang="en-US" sz="1200">
              <a:latin typeface="Consolas" panose="020B0609020204030204" pitchFamily="49" charset="0"/>
              <a:ea typeface="Roboto Mono"/>
            </a:endParaRPr>
          </a:p>
          <a:p>
            <a:pPr marL="457200" lvl="0" indent="-330200" algn="l" rtl="0">
              <a:spcBef>
                <a:spcPts val="0"/>
              </a:spcBef>
              <a:spcAft>
                <a:spcPts val="0"/>
              </a:spcAft>
              <a:buSzPts val="1600"/>
              <a:buChar char="●"/>
            </a:pPr>
            <a:r>
              <a:rPr lang="sk-SK"/>
              <a:t>4XX chyba klienta</a:t>
            </a:r>
          </a:p>
          <a:p>
            <a:pPr lvl="1" indent="-304800">
              <a:spcBef>
                <a:spcPts val="0"/>
              </a:spcBef>
              <a:buSzPts val="1200"/>
              <a:buFont typeface="Roboto Mono"/>
              <a:buChar char="○"/>
            </a:pPr>
            <a:r>
              <a:rPr lang="sk-SK" sz="1200">
                <a:latin typeface="Consolas" panose="020B0609020204030204" pitchFamily="49" charset="0"/>
                <a:ea typeface="Roboto Mono"/>
                <a:sym typeface="Roboto Mono"/>
              </a:rPr>
              <a:t>403 </a:t>
            </a:r>
            <a:r>
              <a:rPr lang="en-US" sz="1200">
                <a:latin typeface="Consolas" panose="020B0609020204030204" pitchFamily="49" charset="0"/>
                <a:ea typeface="Roboto Mono"/>
                <a:sym typeface="Roboto Mono"/>
              </a:rPr>
              <a:t>Forbidden</a:t>
            </a:r>
          </a:p>
          <a:p>
            <a:pPr lvl="1" indent="-304800">
              <a:spcBef>
                <a:spcPts val="0"/>
              </a:spcBef>
              <a:buSzPts val="1200"/>
              <a:buFont typeface="Roboto Mono"/>
              <a:buChar char="○"/>
            </a:pPr>
            <a:r>
              <a:rPr lang="sk-SK" sz="1200">
                <a:latin typeface="Consolas" panose="020B0609020204030204" pitchFamily="49" charset="0"/>
                <a:ea typeface="Roboto Mono"/>
                <a:sym typeface="Roboto Mono"/>
              </a:rPr>
              <a:t>404 </a:t>
            </a:r>
            <a:r>
              <a:rPr lang="en-US" sz="1200">
                <a:latin typeface="Consolas" panose="020B0609020204030204" pitchFamily="49" charset="0"/>
                <a:ea typeface="Roboto Mono"/>
                <a:sym typeface="Roboto Mono"/>
              </a:rPr>
              <a:t>Not found</a:t>
            </a:r>
            <a:endParaRPr lang="en-US" sz="1200">
              <a:latin typeface="Consolas" panose="020B0609020204030204" pitchFamily="49" charset="0"/>
              <a:ea typeface="Roboto Mono"/>
            </a:endParaRPr>
          </a:p>
          <a:p>
            <a:pPr marL="457200" lvl="0" indent="-330200" algn="l" rtl="0">
              <a:spcBef>
                <a:spcPts val="0"/>
              </a:spcBef>
              <a:spcAft>
                <a:spcPts val="0"/>
              </a:spcAft>
              <a:buSzPts val="1600"/>
              <a:buChar char="●"/>
            </a:pPr>
            <a:r>
              <a:rPr lang="sk-SK"/>
              <a:t>5XX chyba servera</a:t>
            </a:r>
          </a:p>
          <a:p>
            <a:pPr lvl="1" indent="-304800">
              <a:spcBef>
                <a:spcPts val="0"/>
              </a:spcBef>
              <a:buSzPts val="1200"/>
              <a:buFont typeface="Roboto Mono"/>
              <a:buChar char="○"/>
            </a:pPr>
            <a:r>
              <a:rPr lang="sk-SK" sz="1200">
                <a:latin typeface="Consolas" panose="020B0609020204030204" pitchFamily="49" charset="0"/>
                <a:ea typeface="Roboto Mono"/>
                <a:sym typeface="Roboto Mono"/>
              </a:rPr>
              <a:t>501 </a:t>
            </a:r>
            <a:r>
              <a:rPr lang="en-US" sz="1200">
                <a:latin typeface="Consolas" panose="020B0609020204030204" pitchFamily="49" charset="0"/>
                <a:ea typeface="Roboto Mono"/>
                <a:sym typeface="Roboto Mono"/>
              </a:rPr>
              <a:t>Internal server error</a:t>
            </a:r>
            <a:endParaRPr lang="en-US" sz="1200">
              <a:latin typeface="Consolas" panose="020B0609020204030204" pitchFamily="49" charset="0"/>
              <a:ea typeface="Roboto Mono"/>
            </a:endParaRPr>
          </a:p>
        </p:txBody>
      </p:sp>
      <p:sp>
        <p:nvSpPr>
          <p:cNvPr id="158" name="Google Shape;158;p21"/>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9</a:t>
            </a:fld>
            <a:endParaRPr lang="sk-SK"/>
          </a:p>
        </p:txBody>
      </p:sp>
      <p:sp>
        <p:nvSpPr>
          <p:cNvPr id="159" name="Google Shape;159;p21"/>
          <p:cNvSpPr txBox="1"/>
          <p:nvPr/>
        </p:nvSpPr>
        <p:spPr>
          <a:xfrm>
            <a:off x="5365751" y="4557475"/>
            <a:ext cx="3342344" cy="32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900" dirty="0">
                <a:solidFill>
                  <a:schemeClr val="tx1"/>
                </a:solidFill>
                <a:latin typeface="Cabin" panose="020B0604020202020204"/>
              </a:rPr>
              <a:t>Zdroj: </a:t>
            </a:r>
            <a:r>
              <a:rPr lang="sk-SK" sz="900" dirty="0">
                <a:solidFill>
                  <a:schemeClr val="tx1"/>
                </a:solidFill>
                <a:latin typeface="Cabin" panose="020B0604020202020204"/>
                <a:hlinkClick r:id="rId3"/>
              </a:rPr>
              <a:t>https://developer.mozilla.org/en-US/docs/Web/HTTP/Status</a:t>
            </a:r>
            <a:r>
              <a:rPr lang="sk-SK" sz="900" u="sng" dirty="0">
                <a:solidFill>
                  <a:schemeClr val="hlink"/>
                </a:solidFill>
                <a:latin typeface="Cabin" panose="020B0604020202020204"/>
              </a:rPr>
              <a:t> </a:t>
            </a:r>
            <a:r>
              <a:rPr lang="sk-SK" sz="900" dirty="0">
                <a:latin typeface="Cabin" panose="020B0604020202020204"/>
              </a:rPr>
              <a:t> </a:t>
            </a:r>
          </a:p>
        </p:txBody>
      </p:sp>
      <p:pic>
        <p:nvPicPr>
          <p:cNvPr id="3" name="Obrázok 2" descr="Obrázok, na ktorom je text, ľudská tvár, snímka obrazovky, chlap&#10;&#10;Obsah vygenerovaný pomocou AI môže byť nesprávny.">
            <a:extLst>
              <a:ext uri="{FF2B5EF4-FFF2-40B4-BE49-F238E27FC236}">
                <a16:creationId xmlns:a16="http://schemas.microsoft.com/office/drawing/2014/main" id="{C726CAB9-9ACD-AC08-FE0D-91AC5DF22E3B}"/>
              </a:ext>
            </a:extLst>
          </p:cNvPr>
          <p:cNvPicPr>
            <a:picLocks noChangeAspect="1"/>
          </p:cNvPicPr>
          <p:nvPr/>
        </p:nvPicPr>
        <p:blipFill>
          <a:blip r:embed="rId4"/>
          <a:stretch>
            <a:fillRect/>
          </a:stretch>
        </p:blipFill>
        <p:spPr>
          <a:xfrm>
            <a:off x="6053372" y="1611326"/>
            <a:ext cx="2758778" cy="28535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3"/>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Príklad HTTP odpovede (dokument sa našiel)</a:t>
            </a:r>
          </a:p>
        </p:txBody>
      </p:sp>
      <p:sp>
        <p:nvSpPr>
          <p:cNvPr id="172" name="Google Shape;172;p23"/>
          <p:cNvSpPr txBox="1">
            <a:spLocks noGrp="1"/>
          </p:cNvSpPr>
          <p:nvPr>
            <p:ph type="body" idx="1"/>
          </p:nvPr>
        </p:nvSpPr>
        <p:spPr>
          <a:xfrm>
            <a:off x="435894" y="1503852"/>
            <a:ext cx="8272200" cy="3385983"/>
          </a:xfrm>
          <a:prstGeom prst="rect">
            <a:avLst/>
          </a:prstGeom>
        </p:spPr>
        <p:txBody>
          <a:bodyPr spcFirstLastPara="1" wrap="square" lIns="68575" tIns="68575" rIns="68575" bIns="68575" anchor="t" anchorCtr="0">
            <a:noAutofit/>
          </a:bodyPr>
          <a:lstStyle/>
          <a:p>
            <a:pPr marL="228600" lvl="0" indent="-152400" algn="l" rtl="0">
              <a:lnSpc>
                <a:spcPct val="100000"/>
              </a:lnSpc>
              <a:spcBef>
                <a:spcPts val="300"/>
              </a:spcBef>
              <a:spcAft>
                <a:spcPts val="0"/>
              </a:spcAft>
              <a:buClr>
                <a:schemeClr val="dk1"/>
              </a:buClr>
              <a:buSzPts val="1100"/>
              <a:buFont typeface="Arial"/>
              <a:buNone/>
            </a:pPr>
            <a:r>
              <a:rPr lang="sk-SK" sz="1000" b="1" dirty="0">
                <a:highlight>
                  <a:srgbClr val="FFFF00"/>
                </a:highlight>
                <a:latin typeface="Consolas" panose="020B0609020204030204" pitchFamily="49" charset="0"/>
                <a:ea typeface="Roboto Mono"/>
                <a:cs typeface="Roboto Mono"/>
                <a:sym typeface="Roboto Mono"/>
              </a:rPr>
              <a:t>HTTP/1.1 200 OK</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Date</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Mon</a:t>
            </a:r>
            <a:r>
              <a:rPr lang="sk-SK" sz="1000" dirty="0">
                <a:latin typeface="Consolas" panose="020B0609020204030204" pitchFamily="49" charset="0"/>
                <a:ea typeface="Roboto Mono"/>
                <a:cs typeface="Roboto Mono"/>
                <a:sym typeface="Roboto Mono"/>
              </a:rPr>
              <a:t>, 30 Nov 2020 12:26:40 GMT</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Server: Apache/2.4.25 (</a:t>
            </a:r>
            <a:r>
              <a:rPr lang="sk-SK" sz="1000" dirty="0" err="1">
                <a:latin typeface="Consolas" panose="020B0609020204030204" pitchFamily="49" charset="0"/>
                <a:ea typeface="Roboto Mono"/>
                <a:cs typeface="Roboto Mono"/>
                <a:sym typeface="Roboto Mono"/>
              </a:rPr>
              <a:t>Debian</a:t>
            </a:r>
            <a:r>
              <a:rPr lang="sk-SK" sz="1000" dirty="0">
                <a:latin typeface="Consolas" panose="020B0609020204030204" pitchFamily="49" charset="0"/>
                <a:ea typeface="Roboto Mono"/>
                <a:cs typeface="Roboto Mono"/>
                <a:sym typeface="Roboto Mono"/>
              </a:rPr>
              <a:t>)</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X-</a:t>
            </a:r>
            <a:r>
              <a:rPr lang="sk-SK" sz="1000" dirty="0" err="1">
                <a:latin typeface="Consolas" panose="020B0609020204030204" pitchFamily="49" charset="0"/>
                <a:ea typeface="Roboto Mono"/>
                <a:cs typeface="Roboto Mono"/>
                <a:sym typeface="Roboto Mono"/>
              </a:rPr>
              <a:t>Powered</a:t>
            </a:r>
            <a:r>
              <a:rPr lang="sk-SK" sz="1000" dirty="0">
                <a:latin typeface="Consolas" panose="020B0609020204030204" pitchFamily="49" charset="0"/>
                <a:ea typeface="Roboto Mono"/>
                <a:cs typeface="Roboto Mono"/>
                <a:sym typeface="Roboto Mono"/>
              </a:rPr>
              <a:t>-By: </a:t>
            </a:r>
            <a:r>
              <a:rPr lang="sk-SK" sz="1000" dirty="0" err="1">
                <a:latin typeface="Consolas" panose="020B0609020204030204" pitchFamily="49" charset="0"/>
                <a:ea typeface="Roboto Mono"/>
                <a:cs typeface="Roboto Mono"/>
                <a:sym typeface="Roboto Mono"/>
              </a:rPr>
              <a:t>Nette</a:t>
            </a:r>
            <a:r>
              <a:rPr lang="sk-SK" sz="1000" dirty="0">
                <a:latin typeface="Consolas" panose="020B0609020204030204" pitchFamily="49" charset="0"/>
                <a:ea typeface="Roboto Mono"/>
                <a:cs typeface="Roboto Mono"/>
                <a:sym typeface="Roboto Mono"/>
              </a:rPr>
              <a:t> Framework</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X-</a:t>
            </a:r>
            <a:r>
              <a:rPr lang="sk-SK" sz="1000" dirty="0" err="1">
                <a:latin typeface="Consolas" panose="020B0609020204030204" pitchFamily="49" charset="0"/>
                <a:ea typeface="Roboto Mono"/>
                <a:cs typeface="Roboto Mono"/>
                <a:sym typeface="Roboto Mono"/>
              </a:rPr>
              <a:t>Frame</a:t>
            </a:r>
            <a:r>
              <a:rPr lang="sk-SK" sz="1000" dirty="0">
                <a:latin typeface="Consolas" panose="020B0609020204030204" pitchFamily="49" charset="0"/>
                <a:ea typeface="Roboto Mono"/>
                <a:cs typeface="Roboto Mono"/>
                <a:sym typeface="Roboto Mono"/>
              </a:rPr>
              <a:t>-</a:t>
            </a:r>
            <a:r>
              <a:rPr lang="sk-SK" sz="1000" dirty="0" err="1">
                <a:latin typeface="Consolas" panose="020B0609020204030204" pitchFamily="49" charset="0"/>
                <a:ea typeface="Roboto Mono"/>
                <a:cs typeface="Roboto Mono"/>
                <a:sym typeface="Roboto Mono"/>
              </a:rPr>
              <a:t>Options</a:t>
            </a:r>
            <a:r>
              <a:rPr lang="sk-SK" sz="1000" dirty="0">
                <a:latin typeface="Consolas" panose="020B0609020204030204" pitchFamily="49" charset="0"/>
                <a:ea typeface="Roboto Mono"/>
                <a:cs typeface="Roboto Mono"/>
                <a:sym typeface="Roboto Mono"/>
              </a:rPr>
              <a:t>: SAMEORIGIN</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Expires</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Thu</a:t>
            </a:r>
            <a:r>
              <a:rPr lang="sk-SK" sz="1000" dirty="0">
                <a:latin typeface="Consolas" panose="020B0609020204030204" pitchFamily="49" charset="0"/>
                <a:ea typeface="Roboto Mono"/>
                <a:cs typeface="Roboto Mono"/>
                <a:sym typeface="Roboto Mono"/>
              </a:rPr>
              <a:t>, 19 Nov 1981 08:52:00 GMT</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Cache-</a:t>
            </a:r>
            <a:r>
              <a:rPr lang="sk-SK" sz="1000" dirty="0" err="1">
                <a:latin typeface="Consolas" panose="020B0609020204030204" pitchFamily="49" charset="0"/>
                <a:ea typeface="Roboto Mono"/>
                <a:cs typeface="Roboto Mono"/>
                <a:sym typeface="Roboto Mono"/>
              </a:rPr>
              <a:t>Control</a:t>
            </a:r>
            <a:r>
              <a:rPr lang="sk-SK" sz="1000" dirty="0">
                <a:latin typeface="Consolas" panose="020B0609020204030204" pitchFamily="49" charset="0"/>
                <a:ea typeface="Roboto Mono"/>
                <a:cs typeface="Roboto Mono"/>
                <a:sym typeface="Roboto Mono"/>
              </a:rPr>
              <a:t>: no-</a:t>
            </a:r>
            <a:r>
              <a:rPr lang="sk-SK" sz="1000" dirty="0" err="1">
                <a:latin typeface="Consolas" panose="020B0609020204030204" pitchFamily="49" charset="0"/>
                <a:ea typeface="Roboto Mono"/>
                <a:cs typeface="Roboto Mono"/>
                <a:sym typeface="Roboto Mono"/>
              </a:rPr>
              <a:t>store</a:t>
            </a:r>
            <a:r>
              <a:rPr lang="sk-SK" sz="1000" dirty="0">
                <a:latin typeface="Consolas" panose="020B0609020204030204" pitchFamily="49" charset="0"/>
                <a:ea typeface="Roboto Mono"/>
                <a:cs typeface="Roboto Mono"/>
                <a:sym typeface="Roboto Mono"/>
              </a:rPr>
              <a:t>, no-cache, </a:t>
            </a:r>
            <a:r>
              <a:rPr lang="sk-SK" sz="1000" dirty="0" err="1">
                <a:latin typeface="Consolas" panose="020B0609020204030204" pitchFamily="49" charset="0"/>
                <a:ea typeface="Roboto Mono"/>
                <a:cs typeface="Roboto Mono"/>
                <a:sym typeface="Roboto Mono"/>
              </a:rPr>
              <a:t>must-revalidate</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Pragma</a:t>
            </a:r>
            <a:r>
              <a:rPr lang="sk-SK" sz="1000" dirty="0">
                <a:latin typeface="Consolas" panose="020B0609020204030204" pitchFamily="49" charset="0"/>
                <a:ea typeface="Roboto Mono"/>
                <a:cs typeface="Roboto Mono"/>
                <a:sym typeface="Roboto Mono"/>
              </a:rPr>
              <a:t>: no-cache</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Strict</a:t>
            </a:r>
            <a:r>
              <a:rPr lang="sk-SK" sz="1000" dirty="0">
                <a:latin typeface="Consolas" panose="020B0609020204030204" pitchFamily="49" charset="0"/>
                <a:ea typeface="Roboto Mono"/>
                <a:cs typeface="Roboto Mono"/>
                <a:sym typeface="Roboto Mono"/>
              </a:rPr>
              <a:t>-Transport-</a:t>
            </a:r>
            <a:r>
              <a:rPr lang="sk-SK" sz="1000" dirty="0" err="1">
                <a:latin typeface="Consolas" panose="020B0609020204030204" pitchFamily="49" charset="0"/>
                <a:ea typeface="Roboto Mono"/>
                <a:cs typeface="Roboto Mono"/>
                <a:sym typeface="Roboto Mono"/>
              </a:rPr>
              <a:t>Security</a:t>
            </a:r>
            <a:r>
              <a:rPr lang="sk-SK" sz="1000" dirty="0">
                <a:latin typeface="Consolas" panose="020B0609020204030204" pitchFamily="49" charset="0"/>
                <a:ea typeface="Roboto Mono"/>
                <a:cs typeface="Roboto Mono"/>
                <a:sym typeface="Roboto Mono"/>
              </a:rPr>
              <a:t>: max-</a:t>
            </a:r>
            <a:r>
              <a:rPr lang="sk-SK" sz="1000" dirty="0" err="1">
                <a:latin typeface="Consolas" panose="020B0609020204030204" pitchFamily="49" charset="0"/>
                <a:ea typeface="Roboto Mono"/>
                <a:cs typeface="Roboto Mono"/>
                <a:sym typeface="Roboto Mono"/>
              </a:rPr>
              <a:t>age</a:t>
            </a:r>
            <a:r>
              <a:rPr lang="sk-SK" sz="1000" dirty="0">
                <a:latin typeface="Consolas" panose="020B0609020204030204" pitchFamily="49" charset="0"/>
                <a:ea typeface="Roboto Mono"/>
                <a:cs typeface="Roboto Mono"/>
                <a:sym typeface="Roboto Mono"/>
              </a:rPr>
              <a:t>=63072000; </a:t>
            </a:r>
            <a:r>
              <a:rPr lang="sk-SK" sz="1000" dirty="0" err="1">
                <a:latin typeface="Consolas" panose="020B0609020204030204" pitchFamily="49" charset="0"/>
                <a:ea typeface="Roboto Mono"/>
                <a:cs typeface="Roboto Mono"/>
                <a:sym typeface="Roboto Mono"/>
              </a:rPr>
              <a:t>includeSubdomains</a:t>
            </a:r>
            <a:r>
              <a:rPr lang="sk-SK" sz="1000" dirty="0">
                <a:latin typeface="Consolas" panose="020B0609020204030204" pitchFamily="49" charset="0"/>
                <a:ea typeface="Roboto Mono"/>
                <a:cs typeface="Roboto Mono"/>
                <a:sym typeface="Roboto Mono"/>
              </a:rPr>
              <a:t>;</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Content-Encoding</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gzip</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Content-Length</a:t>
            </a:r>
            <a:r>
              <a:rPr lang="sk-SK" sz="1000" dirty="0">
                <a:latin typeface="Consolas" panose="020B0609020204030204" pitchFamily="49" charset="0"/>
                <a:ea typeface="Roboto Mono"/>
                <a:cs typeface="Roboto Mono"/>
                <a:sym typeface="Roboto Mono"/>
              </a:rPr>
              <a:t>: 23902</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Keep-Alive</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timeout</a:t>
            </a:r>
            <a:r>
              <a:rPr lang="sk-SK" sz="1000" dirty="0">
                <a:latin typeface="Consolas" panose="020B0609020204030204" pitchFamily="49" charset="0"/>
                <a:ea typeface="Roboto Mono"/>
                <a:cs typeface="Roboto Mono"/>
                <a:sym typeface="Roboto Mono"/>
              </a:rPr>
              <a:t>=5, max=100</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Connection</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Keep-Alive</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b="1" dirty="0" err="1">
                <a:latin typeface="Consolas" panose="020B0609020204030204" pitchFamily="49" charset="0"/>
                <a:ea typeface="Roboto Mono"/>
                <a:cs typeface="Roboto Mono"/>
                <a:sym typeface="Roboto Mono"/>
              </a:rPr>
              <a:t>Content</a:t>
            </a:r>
            <a:r>
              <a:rPr lang="sk-SK" sz="1000" b="1" dirty="0">
                <a:latin typeface="Consolas" panose="020B0609020204030204" pitchFamily="49" charset="0"/>
                <a:ea typeface="Roboto Mono"/>
                <a:cs typeface="Roboto Mono"/>
                <a:sym typeface="Roboto Mono"/>
              </a:rPr>
              <a:t>-Type: text/html; </a:t>
            </a:r>
            <a:r>
              <a:rPr lang="sk-SK" sz="1000" b="1" dirty="0" err="1">
                <a:latin typeface="Consolas" panose="020B0609020204030204" pitchFamily="49" charset="0"/>
                <a:ea typeface="Roboto Mono"/>
                <a:cs typeface="Roboto Mono"/>
                <a:sym typeface="Roboto Mono"/>
              </a:rPr>
              <a:t>charset</a:t>
            </a:r>
            <a:r>
              <a:rPr lang="sk-SK" sz="1000" b="1" dirty="0">
                <a:latin typeface="Consolas" panose="020B0609020204030204" pitchFamily="49" charset="0"/>
                <a:ea typeface="Roboto Mono"/>
                <a:cs typeface="Roboto Mono"/>
                <a:sym typeface="Roboto Mono"/>
              </a:rPr>
              <a:t>=utf-8</a:t>
            </a:r>
            <a:endParaRPr lang="en-US" sz="1000" b="1"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500"/>
              </a:spcBef>
              <a:spcAft>
                <a:spcPts val="0"/>
              </a:spcAft>
              <a:buClr>
                <a:schemeClr val="dk1"/>
              </a:buClr>
              <a:buSzPts val="1100"/>
              <a:buFont typeface="Arial"/>
              <a:buNone/>
            </a:pPr>
            <a:r>
              <a:rPr lang="sk-SK" sz="1000" i="1" dirty="0">
                <a:latin typeface="Consolas" panose="020B0609020204030204" pitchFamily="49" charset="0"/>
                <a:ea typeface="Roboto Mono"/>
                <a:cs typeface="Roboto Mono"/>
                <a:sym typeface="Roboto Mono"/>
              </a:rPr>
              <a:t>vrátený dokument</a:t>
            </a:r>
          </a:p>
        </p:txBody>
      </p:sp>
      <p:sp>
        <p:nvSpPr>
          <p:cNvPr id="173" name="Google Shape;173;p23"/>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10</a:t>
            </a:fld>
            <a:endParaRPr lang="sk-SK"/>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4"/>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Clr>
                <a:schemeClr val="dk1"/>
              </a:buClr>
              <a:buSzPts val="1100"/>
              <a:buFont typeface="Arial"/>
              <a:buNone/>
            </a:pPr>
            <a:r>
              <a:rPr lang="sk-SK"/>
              <a:t>Príklad HTTP odpovede (dokument sa nenašiel)</a:t>
            </a:r>
          </a:p>
        </p:txBody>
      </p:sp>
      <p:sp>
        <p:nvSpPr>
          <p:cNvPr id="179" name="Google Shape;179;p24"/>
          <p:cNvSpPr txBox="1">
            <a:spLocks noGrp="1"/>
          </p:cNvSpPr>
          <p:nvPr>
            <p:ph type="body" idx="1"/>
          </p:nvPr>
        </p:nvSpPr>
        <p:spPr>
          <a:xfrm>
            <a:off x="435894" y="1503718"/>
            <a:ext cx="8272200" cy="3184665"/>
          </a:xfrm>
          <a:prstGeom prst="rect">
            <a:avLst/>
          </a:prstGeom>
        </p:spPr>
        <p:txBody>
          <a:bodyPr spcFirstLastPara="1" wrap="square" lIns="68575" tIns="68575" rIns="68575" bIns="68575" anchor="t" anchorCtr="0">
            <a:noAutofit/>
          </a:bodyPr>
          <a:lstStyle/>
          <a:p>
            <a:pPr marL="228600" lvl="0" indent="-152400" algn="l" rtl="0">
              <a:lnSpc>
                <a:spcPct val="100000"/>
              </a:lnSpc>
              <a:spcBef>
                <a:spcPts val="300"/>
              </a:spcBef>
              <a:spcAft>
                <a:spcPts val="0"/>
              </a:spcAft>
              <a:buClr>
                <a:schemeClr val="dk1"/>
              </a:buClr>
              <a:buSzPts val="1100"/>
              <a:buFont typeface="Arial"/>
              <a:buNone/>
            </a:pPr>
            <a:r>
              <a:rPr lang="sk-SK" sz="1000" b="1" dirty="0">
                <a:highlight>
                  <a:srgbClr val="FFFF00"/>
                </a:highlight>
                <a:latin typeface="Consolas" panose="020B0609020204030204" pitchFamily="49" charset="0"/>
                <a:ea typeface="Roboto Mono"/>
                <a:cs typeface="Roboto Mono"/>
                <a:sym typeface="Roboto Mono"/>
              </a:rPr>
              <a:t>HTTP/1.1 404 </a:t>
            </a:r>
            <a:r>
              <a:rPr lang="sk-SK" sz="1000" b="1" dirty="0" err="1">
                <a:highlight>
                  <a:srgbClr val="FFFF00"/>
                </a:highlight>
                <a:latin typeface="Consolas" panose="020B0609020204030204" pitchFamily="49" charset="0"/>
                <a:ea typeface="Roboto Mono"/>
                <a:cs typeface="Roboto Mono"/>
                <a:sym typeface="Roboto Mono"/>
              </a:rPr>
              <a:t>Not</a:t>
            </a:r>
            <a:r>
              <a:rPr lang="sk-SK" sz="1000" b="1" dirty="0">
                <a:highlight>
                  <a:srgbClr val="FFFF00"/>
                </a:highlight>
                <a:latin typeface="Consolas" panose="020B0609020204030204" pitchFamily="49" charset="0"/>
                <a:ea typeface="Roboto Mono"/>
                <a:cs typeface="Roboto Mono"/>
                <a:sym typeface="Roboto Mono"/>
              </a:rPr>
              <a:t> </a:t>
            </a:r>
            <a:r>
              <a:rPr lang="sk-SK" sz="1000" b="1" dirty="0" err="1">
                <a:highlight>
                  <a:srgbClr val="FFFF00"/>
                </a:highlight>
                <a:latin typeface="Consolas" panose="020B0609020204030204" pitchFamily="49" charset="0"/>
                <a:ea typeface="Roboto Mono"/>
                <a:cs typeface="Roboto Mono"/>
                <a:sym typeface="Roboto Mono"/>
              </a:rPr>
              <a:t>Found</a:t>
            </a:r>
            <a:endParaRPr lang="sk-SK" sz="1000" b="1" dirty="0">
              <a:highlight>
                <a:srgbClr val="FFFF00"/>
              </a:highlight>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Date</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Mon</a:t>
            </a:r>
            <a:r>
              <a:rPr lang="sk-SK" sz="1000" dirty="0">
                <a:latin typeface="Consolas" panose="020B0609020204030204" pitchFamily="49" charset="0"/>
                <a:ea typeface="Roboto Mono"/>
                <a:cs typeface="Roboto Mono"/>
                <a:sym typeface="Roboto Mono"/>
              </a:rPr>
              <a:t>, 30 Nov 2020 12:29:50 GMT</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Server: Apache/2.4.25 (</a:t>
            </a:r>
            <a:r>
              <a:rPr lang="sk-SK" sz="1000" dirty="0" err="1">
                <a:latin typeface="Consolas" panose="020B0609020204030204" pitchFamily="49" charset="0"/>
                <a:ea typeface="Roboto Mono"/>
                <a:cs typeface="Roboto Mono"/>
                <a:sym typeface="Roboto Mono"/>
              </a:rPr>
              <a:t>Debian</a:t>
            </a:r>
            <a:r>
              <a:rPr lang="sk-SK" sz="1000" dirty="0">
                <a:latin typeface="Consolas" panose="020B0609020204030204" pitchFamily="49" charset="0"/>
                <a:ea typeface="Roboto Mono"/>
                <a:cs typeface="Roboto Mono"/>
                <a:sym typeface="Roboto Mono"/>
              </a:rPr>
              <a:t>)</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X-</a:t>
            </a:r>
            <a:r>
              <a:rPr lang="sk-SK" sz="1000" dirty="0" err="1">
                <a:latin typeface="Consolas" panose="020B0609020204030204" pitchFamily="49" charset="0"/>
                <a:ea typeface="Roboto Mono"/>
                <a:cs typeface="Roboto Mono"/>
                <a:sym typeface="Roboto Mono"/>
              </a:rPr>
              <a:t>Powered</a:t>
            </a:r>
            <a:r>
              <a:rPr lang="sk-SK" sz="1000" dirty="0">
                <a:latin typeface="Consolas" panose="020B0609020204030204" pitchFamily="49" charset="0"/>
                <a:ea typeface="Roboto Mono"/>
                <a:cs typeface="Roboto Mono"/>
                <a:sym typeface="Roboto Mono"/>
              </a:rPr>
              <a:t>-By: </a:t>
            </a:r>
            <a:r>
              <a:rPr lang="sk-SK" sz="1000" dirty="0" err="1">
                <a:latin typeface="Consolas" panose="020B0609020204030204" pitchFamily="49" charset="0"/>
                <a:ea typeface="Roboto Mono"/>
                <a:cs typeface="Roboto Mono"/>
                <a:sym typeface="Roboto Mono"/>
              </a:rPr>
              <a:t>Nette</a:t>
            </a:r>
            <a:r>
              <a:rPr lang="sk-SK" sz="1000" dirty="0">
                <a:latin typeface="Consolas" panose="020B0609020204030204" pitchFamily="49" charset="0"/>
                <a:ea typeface="Roboto Mono"/>
                <a:cs typeface="Roboto Mono"/>
                <a:sym typeface="Roboto Mono"/>
              </a:rPr>
              <a:t> Framework</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X-</a:t>
            </a:r>
            <a:r>
              <a:rPr lang="sk-SK" sz="1000" dirty="0" err="1">
                <a:latin typeface="Consolas" panose="020B0609020204030204" pitchFamily="49" charset="0"/>
                <a:ea typeface="Roboto Mono"/>
                <a:cs typeface="Roboto Mono"/>
                <a:sym typeface="Roboto Mono"/>
              </a:rPr>
              <a:t>Frame</a:t>
            </a:r>
            <a:r>
              <a:rPr lang="sk-SK" sz="1000" dirty="0">
                <a:latin typeface="Consolas" panose="020B0609020204030204" pitchFamily="49" charset="0"/>
                <a:ea typeface="Roboto Mono"/>
                <a:cs typeface="Roboto Mono"/>
                <a:sym typeface="Roboto Mono"/>
              </a:rPr>
              <a:t>-</a:t>
            </a:r>
            <a:r>
              <a:rPr lang="sk-SK" sz="1000" dirty="0" err="1">
                <a:latin typeface="Consolas" panose="020B0609020204030204" pitchFamily="49" charset="0"/>
                <a:ea typeface="Roboto Mono"/>
                <a:cs typeface="Roboto Mono"/>
                <a:sym typeface="Roboto Mono"/>
              </a:rPr>
              <a:t>Options</a:t>
            </a:r>
            <a:r>
              <a:rPr lang="sk-SK" sz="1000" dirty="0">
                <a:latin typeface="Consolas" panose="020B0609020204030204" pitchFamily="49" charset="0"/>
                <a:ea typeface="Roboto Mono"/>
                <a:cs typeface="Roboto Mono"/>
                <a:sym typeface="Roboto Mono"/>
              </a:rPr>
              <a:t>: SAMEORIGIN</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Expires</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Thu</a:t>
            </a:r>
            <a:r>
              <a:rPr lang="sk-SK" sz="1000" dirty="0">
                <a:latin typeface="Consolas" panose="020B0609020204030204" pitchFamily="49" charset="0"/>
                <a:ea typeface="Roboto Mono"/>
                <a:cs typeface="Roboto Mono"/>
                <a:sym typeface="Roboto Mono"/>
              </a:rPr>
              <a:t>, 19 Nov 1981 08:52:00 GMT</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Cache-</a:t>
            </a:r>
            <a:r>
              <a:rPr lang="sk-SK" sz="1000" dirty="0" err="1">
                <a:latin typeface="Consolas" panose="020B0609020204030204" pitchFamily="49" charset="0"/>
                <a:ea typeface="Roboto Mono"/>
                <a:cs typeface="Roboto Mono"/>
                <a:sym typeface="Roboto Mono"/>
              </a:rPr>
              <a:t>Control</a:t>
            </a:r>
            <a:r>
              <a:rPr lang="sk-SK" sz="1000" dirty="0">
                <a:latin typeface="Consolas" panose="020B0609020204030204" pitchFamily="49" charset="0"/>
                <a:ea typeface="Roboto Mono"/>
                <a:cs typeface="Roboto Mono"/>
                <a:sym typeface="Roboto Mono"/>
              </a:rPr>
              <a:t>: no-</a:t>
            </a:r>
            <a:r>
              <a:rPr lang="sk-SK" sz="1000" dirty="0" err="1">
                <a:latin typeface="Consolas" panose="020B0609020204030204" pitchFamily="49" charset="0"/>
                <a:ea typeface="Roboto Mono"/>
                <a:cs typeface="Roboto Mono"/>
                <a:sym typeface="Roboto Mono"/>
              </a:rPr>
              <a:t>store</a:t>
            </a:r>
            <a:r>
              <a:rPr lang="sk-SK" sz="1000" dirty="0">
                <a:latin typeface="Consolas" panose="020B0609020204030204" pitchFamily="49" charset="0"/>
                <a:ea typeface="Roboto Mono"/>
                <a:cs typeface="Roboto Mono"/>
                <a:sym typeface="Roboto Mono"/>
              </a:rPr>
              <a:t>, no-cache, </a:t>
            </a:r>
            <a:r>
              <a:rPr lang="sk-SK" sz="1000" dirty="0" err="1">
                <a:latin typeface="Consolas" panose="020B0609020204030204" pitchFamily="49" charset="0"/>
                <a:ea typeface="Roboto Mono"/>
                <a:cs typeface="Roboto Mono"/>
                <a:sym typeface="Roboto Mono"/>
              </a:rPr>
              <a:t>must-revalidate</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Pragma</a:t>
            </a:r>
            <a:r>
              <a:rPr lang="sk-SK" sz="1000" dirty="0">
                <a:latin typeface="Consolas" panose="020B0609020204030204" pitchFamily="49" charset="0"/>
                <a:ea typeface="Roboto Mono"/>
                <a:cs typeface="Roboto Mono"/>
                <a:sym typeface="Roboto Mono"/>
              </a:rPr>
              <a:t>: no-cache</a:t>
            </a: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Vary: X-</a:t>
            </a:r>
            <a:r>
              <a:rPr lang="sk-SK" sz="1000" dirty="0" err="1">
                <a:latin typeface="Consolas" panose="020B0609020204030204" pitchFamily="49" charset="0"/>
                <a:ea typeface="Roboto Mono"/>
                <a:cs typeface="Roboto Mono"/>
                <a:sym typeface="Roboto Mono"/>
              </a:rPr>
              <a:t>Requested</a:t>
            </a:r>
            <a:r>
              <a:rPr lang="sk-SK" sz="1000" dirty="0">
                <a:latin typeface="Consolas" panose="020B0609020204030204" pitchFamily="49" charset="0"/>
                <a:ea typeface="Roboto Mono"/>
                <a:cs typeface="Roboto Mono"/>
                <a:sym typeface="Roboto Mono"/>
              </a:rPr>
              <a:t>-</a:t>
            </a:r>
            <a:r>
              <a:rPr lang="sk-SK" sz="1000" dirty="0" err="1">
                <a:latin typeface="Consolas" panose="020B0609020204030204" pitchFamily="49" charset="0"/>
                <a:ea typeface="Roboto Mono"/>
                <a:cs typeface="Roboto Mono"/>
                <a:sym typeface="Roboto Mono"/>
              </a:rPr>
              <a:t>With</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Strict</a:t>
            </a:r>
            <a:r>
              <a:rPr lang="sk-SK" sz="1000" dirty="0">
                <a:latin typeface="Consolas" panose="020B0609020204030204" pitchFamily="49" charset="0"/>
                <a:ea typeface="Roboto Mono"/>
                <a:cs typeface="Roboto Mono"/>
                <a:sym typeface="Roboto Mono"/>
              </a:rPr>
              <a:t>-Transport-</a:t>
            </a:r>
            <a:r>
              <a:rPr lang="sk-SK" sz="1000" dirty="0" err="1">
                <a:latin typeface="Consolas" panose="020B0609020204030204" pitchFamily="49" charset="0"/>
                <a:ea typeface="Roboto Mono"/>
                <a:cs typeface="Roboto Mono"/>
                <a:sym typeface="Roboto Mono"/>
              </a:rPr>
              <a:t>Security</a:t>
            </a:r>
            <a:r>
              <a:rPr lang="sk-SK" sz="1000" dirty="0">
                <a:latin typeface="Consolas" panose="020B0609020204030204" pitchFamily="49" charset="0"/>
                <a:ea typeface="Roboto Mono"/>
                <a:cs typeface="Roboto Mono"/>
                <a:sym typeface="Roboto Mono"/>
              </a:rPr>
              <a:t>: max-</a:t>
            </a:r>
            <a:r>
              <a:rPr lang="sk-SK" sz="1000" dirty="0" err="1">
                <a:latin typeface="Consolas" panose="020B0609020204030204" pitchFamily="49" charset="0"/>
                <a:ea typeface="Roboto Mono"/>
                <a:cs typeface="Roboto Mono"/>
                <a:sym typeface="Roboto Mono"/>
              </a:rPr>
              <a:t>age</a:t>
            </a:r>
            <a:r>
              <a:rPr lang="sk-SK" sz="1000" dirty="0">
                <a:latin typeface="Consolas" panose="020B0609020204030204" pitchFamily="49" charset="0"/>
                <a:ea typeface="Roboto Mono"/>
                <a:cs typeface="Roboto Mono"/>
                <a:sym typeface="Roboto Mono"/>
              </a:rPr>
              <a:t>=63072000; </a:t>
            </a:r>
            <a:r>
              <a:rPr lang="sk-SK" sz="1000" dirty="0" err="1">
                <a:latin typeface="Consolas" panose="020B0609020204030204" pitchFamily="49" charset="0"/>
                <a:ea typeface="Roboto Mono"/>
                <a:cs typeface="Roboto Mono"/>
                <a:sym typeface="Roboto Mono"/>
              </a:rPr>
              <a:t>includeSubdomains</a:t>
            </a:r>
            <a:r>
              <a:rPr lang="sk-SK" sz="1000" dirty="0">
                <a:latin typeface="Consolas" panose="020B0609020204030204" pitchFamily="49" charset="0"/>
                <a:ea typeface="Roboto Mono"/>
                <a:cs typeface="Roboto Mono"/>
                <a:sym typeface="Roboto Mono"/>
              </a:rPr>
              <a:t>;</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Keep-Alive</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timeout</a:t>
            </a:r>
            <a:r>
              <a:rPr lang="sk-SK" sz="1000" dirty="0">
                <a:latin typeface="Consolas" panose="020B0609020204030204" pitchFamily="49" charset="0"/>
                <a:ea typeface="Roboto Mono"/>
                <a:cs typeface="Roboto Mono"/>
                <a:sym typeface="Roboto Mono"/>
              </a:rPr>
              <a:t>=5, max=100</a:t>
            </a: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Connection</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Keep-Alive</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a:latin typeface="Consolas" panose="020B0609020204030204" pitchFamily="49" charset="0"/>
                <a:ea typeface="Roboto Mono"/>
                <a:cs typeface="Roboto Mono"/>
                <a:sym typeface="Roboto Mono"/>
              </a:rPr>
              <a:t>Transfer-</a:t>
            </a:r>
            <a:r>
              <a:rPr lang="sk-SK" sz="1000" dirty="0" err="1">
                <a:latin typeface="Consolas" panose="020B0609020204030204" pitchFamily="49" charset="0"/>
                <a:ea typeface="Roboto Mono"/>
                <a:cs typeface="Roboto Mono"/>
                <a:sym typeface="Roboto Mono"/>
              </a:rPr>
              <a:t>Encoding</a:t>
            </a:r>
            <a:r>
              <a:rPr lang="sk-SK" sz="1000" dirty="0">
                <a:latin typeface="Consolas" panose="020B0609020204030204" pitchFamily="49" charset="0"/>
                <a:ea typeface="Roboto Mono"/>
                <a:cs typeface="Roboto Mono"/>
                <a:sym typeface="Roboto Mono"/>
              </a:rPr>
              <a:t>: </a:t>
            </a:r>
            <a:r>
              <a:rPr lang="sk-SK" sz="1000" dirty="0" err="1">
                <a:latin typeface="Consolas" panose="020B0609020204030204" pitchFamily="49" charset="0"/>
                <a:ea typeface="Roboto Mono"/>
                <a:cs typeface="Roboto Mono"/>
                <a:sym typeface="Roboto Mono"/>
              </a:rPr>
              <a:t>chunked</a:t>
            </a: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300"/>
              </a:spcBef>
              <a:spcAft>
                <a:spcPts val="0"/>
              </a:spcAft>
              <a:buClr>
                <a:schemeClr val="dk1"/>
              </a:buClr>
              <a:buSzPts val="1100"/>
              <a:buFont typeface="Arial"/>
              <a:buNone/>
            </a:pPr>
            <a:r>
              <a:rPr lang="sk-SK" sz="1000" dirty="0" err="1">
                <a:latin typeface="Consolas" panose="020B0609020204030204" pitchFamily="49" charset="0"/>
                <a:ea typeface="Roboto Mono"/>
                <a:cs typeface="Roboto Mono"/>
                <a:sym typeface="Roboto Mono"/>
              </a:rPr>
              <a:t>Content</a:t>
            </a:r>
            <a:r>
              <a:rPr lang="sk-SK" sz="1000" dirty="0">
                <a:latin typeface="Consolas" panose="020B0609020204030204" pitchFamily="49" charset="0"/>
                <a:ea typeface="Roboto Mono"/>
                <a:cs typeface="Roboto Mono"/>
                <a:sym typeface="Roboto Mono"/>
              </a:rPr>
              <a:t>-Type: text/html; </a:t>
            </a:r>
            <a:r>
              <a:rPr lang="sk-SK" sz="1000" dirty="0" err="1">
                <a:latin typeface="Consolas" panose="020B0609020204030204" pitchFamily="49" charset="0"/>
                <a:ea typeface="Roboto Mono"/>
                <a:cs typeface="Roboto Mono"/>
                <a:sym typeface="Roboto Mono"/>
              </a:rPr>
              <a:t>charset</a:t>
            </a:r>
            <a:r>
              <a:rPr lang="sk-SK" sz="1000" dirty="0">
                <a:latin typeface="Consolas" panose="020B0609020204030204" pitchFamily="49" charset="0"/>
                <a:ea typeface="Roboto Mono"/>
                <a:cs typeface="Roboto Mono"/>
                <a:sym typeface="Roboto Mono"/>
              </a:rPr>
              <a:t>=utf-8</a:t>
            </a:r>
          </a:p>
          <a:p>
            <a:pPr marL="228600" lvl="0" indent="-152400" algn="l" rtl="0">
              <a:lnSpc>
                <a:spcPct val="100000"/>
              </a:lnSpc>
              <a:spcBef>
                <a:spcPts val="500"/>
              </a:spcBef>
              <a:spcAft>
                <a:spcPts val="0"/>
              </a:spcAft>
              <a:buClr>
                <a:schemeClr val="dk1"/>
              </a:buClr>
              <a:buSzPts val="1100"/>
              <a:buFont typeface="Arial"/>
              <a:buNone/>
            </a:pPr>
            <a:endParaRPr lang="en-US" sz="1000" i="1" dirty="0">
              <a:latin typeface="Consolas" panose="020B0609020204030204" pitchFamily="49" charset="0"/>
              <a:ea typeface="Roboto Mono"/>
              <a:cs typeface="Roboto Mono"/>
              <a:sym typeface="Roboto Mono"/>
            </a:endParaRPr>
          </a:p>
          <a:p>
            <a:pPr marL="228600" lvl="0" indent="-152400" algn="l" rtl="0">
              <a:lnSpc>
                <a:spcPct val="100000"/>
              </a:lnSpc>
              <a:spcBef>
                <a:spcPts val="500"/>
              </a:spcBef>
              <a:spcAft>
                <a:spcPts val="0"/>
              </a:spcAft>
              <a:buClr>
                <a:schemeClr val="dk1"/>
              </a:buClr>
              <a:buSzPts val="1100"/>
              <a:buFont typeface="Arial"/>
              <a:buNone/>
            </a:pPr>
            <a:r>
              <a:rPr lang="sk-SK" sz="1000" i="1" dirty="0">
                <a:latin typeface="Consolas" panose="020B0609020204030204" pitchFamily="49" charset="0"/>
                <a:ea typeface="Roboto Mono"/>
                <a:cs typeface="Roboto Mono"/>
                <a:sym typeface="Roboto Mono"/>
              </a:rPr>
              <a:t>HTML chybový dokument</a:t>
            </a:r>
          </a:p>
          <a:p>
            <a:pPr marL="228600" lvl="0" indent="-152400" algn="l" rtl="0">
              <a:lnSpc>
                <a:spcPct val="100000"/>
              </a:lnSpc>
              <a:spcBef>
                <a:spcPts val="500"/>
              </a:spcBef>
              <a:spcAft>
                <a:spcPts val="0"/>
              </a:spcAft>
              <a:buClr>
                <a:schemeClr val="dk1"/>
              </a:buClr>
              <a:buSzPts val="1100"/>
              <a:buFont typeface="Arial"/>
              <a:buNone/>
            </a:pPr>
            <a:endParaRPr lang="sk-SK" sz="1000" dirty="0">
              <a:latin typeface="Consolas" panose="020B0609020204030204" pitchFamily="49" charset="0"/>
              <a:ea typeface="Roboto Mono"/>
              <a:cs typeface="Roboto Mono"/>
              <a:sym typeface="Roboto Mono"/>
            </a:endParaRPr>
          </a:p>
          <a:p>
            <a:pPr marL="228600" lvl="0" indent="-152400" algn="l" rtl="0">
              <a:lnSpc>
                <a:spcPct val="100000"/>
              </a:lnSpc>
              <a:spcBef>
                <a:spcPts val="500"/>
              </a:spcBef>
              <a:spcAft>
                <a:spcPts val="500"/>
              </a:spcAft>
              <a:buNone/>
            </a:pPr>
            <a:endParaRPr lang="sk-SK" sz="1000" dirty="0">
              <a:latin typeface="Consolas" panose="020B0609020204030204" pitchFamily="49" charset="0"/>
              <a:ea typeface="Roboto Mono"/>
              <a:cs typeface="Roboto Mono"/>
              <a:sym typeface="Roboto Mono"/>
            </a:endParaRPr>
          </a:p>
        </p:txBody>
      </p:sp>
      <p:sp>
        <p:nvSpPr>
          <p:cNvPr id="180" name="Google Shape;180;p24"/>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11</a:t>
            </a:fld>
            <a:endParaRPr lang="sk-SK"/>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HTTPS protokol</a:t>
            </a:r>
          </a:p>
        </p:txBody>
      </p:sp>
      <p:sp>
        <p:nvSpPr>
          <p:cNvPr id="186" name="Google Shape;186;p25"/>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Verzia protokolu HTTP s podporou šifrovania</a:t>
            </a:r>
          </a:p>
          <a:p>
            <a:pPr marL="457200" lvl="0" indent="-330200" algn="l" rtl="0">
              <a:spcBef>
                <a:spcPts val="0"/>
              </a:spcBef>
              <a:spcAft>
                <a:spcPts val="0"/>
              </a:spcAft>
              <a:buSzPts val="1600"/>
              <a:buChar char="●"/>
            </a:pPr>
            <a:r>
              <a:rPr lang="sk-SK" dirty="0"/>
              <a:t>Založené na PKI </a:t>
            </a:r>
          </a:p>
          <a:p>
            <a:pPr marL="914400" lvl="1" indent="-298450" algn="l" rtl="0">
              <a:spcBef>
                <a:spcPts val="0"/>
              </a:spcBef>
              <a:spcAft>
                <a:spcPts val="0"/>
              </a:spcAft>
              <a:buSzPts val="1100"/>
              <a:buChar char="○"/>
            </a:pPr>
            <a:r>
              <a:rPr lang="sk-SK" dirty="0"/>
              <a:t>Súkromný a verejný kľúč</a:t>
            </a:r>
          </a:p>
          <a:p>
            <a:pPr marL="457200" lvl="0" indent="-330200" algn="l" rtl="0">
              <a:spcBef>
                <a:spcPts val="0"/>
              </a:spcBef>
              <a:spcAft>
                <a:spcPts val="0"/>
              </a:spcAft>
              <a:buSzPts val="1600"/>
              <a:buChar char="●"/>
            </a:pPr>
            <a:r>
              <a:rPr lang="sk-SK" dirty="0"/>
              <a:t>Nutné mať certifikát:</a:t>
            </a:r>
          </a:p>
          <a:p>
            <a:pPr marL="914400" lvl="1" indent="-298450" algn="l" rtl="0">
              <a:spcBef>
                <a:spcPts val="0"/>
              </a:spcBef>
              <a:spcAft>
                <a:spcPts val="0"/>
              </a:spcAft>
              <a:buSzPts val="1100"/>
              <a:buChar char="○"/>
            </a:pPr>
            <a:r>
              <a:rPr lang="sk-SK" dirty="0"/>
              <a:t>Vydaný napr. dôveryhodnou koreňovou certifikačnou autoritou  </a:t>
            </a:r>
            <a:r>
              <a:rPr lang="en-US" dirty="0"/>
              <a:t>(</a:t>
            </a:r>
            <a:r>
              <a:rPr lang="sk-SK" dirty="0"/>
              <a:t>napr. </a:t>
            </a:r>
            <a:r>
              <a:rPr lang="en-US" dirty="0">
                <a:hlinkClick r:id="rId3"/>
              </a:rPr>
              <a:t>Let's Encrypt</a:t>
            </a:r>
            <a:r>
              <a:rPr lang="en-US" dirty="0"/>
              <a:t>)</a:t>
            </a:r>
            <a:endParaRPr lang="sk-SK" dirty="0"/>
          </a:p>
          <a:p>
            <a:pPr marL="914400" lvl="1" indent="-298450" algn="l" rtl="0">
              <a:spcBef>
                <a:spcPts val="0"/>
              </a:spcBef>
              <a:spcAft>
                <a:spcPts val="0"/>
              </a:spcAft>
              <a:buSzPts val="1100"/>
              <a:buChar char="○"/>
            </a:pPr>
            <a:r>
              <a:rPr lang="sk-SK" dirty="0"/>
              <a:t>Alebo vlastný</a:t>
            </a:r>
            <a:r>
              <a:rPr lang="en-US" dirty="0"/>
              <a:t> (</a:t>
            </a:r>
            <a:r>
              <a:rPr lang="sk-SK" dirty="0"/>
              <a:t>prehliadač však zablokuje načítanie stránky)</a:t>
            </a:r>
          </a:p>
          <a:p>
            <a:pPr marL="457200" lvl="0" indent="-330200" algn="l" rtl="0">
              <a:spcBef>
                <a:spcPts val="0"/>
              </a:spcBef>
              <a:spcAft>
                <a:spcPts val="0"/>
              </a:spcAft>
              <a:buSzPts val="1600"/>
              <a:buChar char="●"/>
            </a:pPr>
            <a:r>
              <a:rPr lang="sk-SK" dirty="0"/>
              <a:t>Nutný zásah do konfigurácie web serveru </a:t>
            </a:r>
          </a:p>
          <a:p>
            <a:pPr marL="914400" lvl="1" indent="-298450" algn="l" rtl="0">
              <a:spcBef>
                <a:spcPts val="0"/>
              </a:spcBef>
              <a:spcAft>
                <a:spcPts val="0"/>
              </a:spcAft>
              <a:buSzPts val="1100"/>
              <a:buChar char="○"/>
            </a:pPr>
            <a:r>
              <a:rPr lang="sk-SK" dirty="0"/>
              <a:t>Prechod z HTTP na HTTPS sa vykoná len zmenou konfigurácie  </a:t>
            </a:r>
          </a:p>
          <a:p>
            <a:pPr marL="914400" lvl="0" indent="0" algn="l" rtl="0">
              <a:spcBef>
                <a:spcPts val="500"/>
              </a:spcBef>
              <a:spcAft>
                <a:spcPts val="500"/>
              </a:spcAft>
              <a:buNone/>
            </a:pPr>
            <a:r>
              <a:rPr lang="sk-SK" dirty="0"/>
              <a:t>	</a:t>
            </a:r>
          </a:p>
        </p:txBody>
      </p:sp>
      <p:sp>
        <p:nvSpPr>
          <p:cNvPr id="187" name="Google Shape;187;p25"/>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12</a:t>
            </a:fld>
            <a:endParaRPr lang="sk-SK"/>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6"/>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HSTS hlavička</a:t>
            </a:r>
          </a:p>
        </p:txBody>
      </p:sp>
      <p:sp>
        <p:nvSpPr>
          <p:cNvPr id="193" name="Google Shape;193;p26"/>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en-US" i="1" dirty="0">
                <a:hlinkClick r:id="rId3"/>
              </a:rPr>
              <a:t>HTTP Strict Transport Security </a:t>
            </a:r>
            <a:endParaRPr lang="en-US" i="1" dirty="0"/>
          </a:p>
          <a:p>
            <a:pPr lvl="1">
              <a:spcBef>
                <a:spcPts val="0"/>
              </a:spcBef>
            </a:pPr>
            <a:r>
              <a:rPr lang="sk-SK" dirty="0"/>
              <a:t>Podpora vo všetkých prehliadačoch</a:t>
            </a:r>
          </a:p>
          <a:p>
            <a:pPr marL="457200" lvl="0" indent="-330200" algn="l" rtl="0">
              <a:spcBef>
                <a:spcPts val="0"/>
              </a:spcBef>
              <a:spcAft>
                <a:spcPts val="0"/>
              </a:spcAft>
              <a:buSzPts val="1600"/>
              <a:buChar char="●"/>
            </a:pPr>
            <a:r>
              <a:rPr lang="sk-SK" dirty="0"/>
              <a:t>Vynucuje po klientovi (prehliadač), aby používal len šifrovanú komunikáciu </a:t>
            </a:r>
          </a:p>
          <a:p>
            <a:pPr marL="457200" lvl="0" indent="-330200" algn="l" rtl="0">
              <a:spcBef>
                <a:spcPts val="0"/>
              </a:spcBef>
              <a:spcAft>
                <a:spcPts val="0"/>
              </a:spcAft>
              <a:buSzPts val="1600"/>
              <a:buChar char="●"/>
            </a:pPr>
            <a:r>
              <a:rPr lang="sk-SK" dirty="0"/>
              <a:t>Pomáha chrániť aplikácie pred rôznymi útokmi</a:t>
            </a:r>
          </a:p>
          <a:p>
            <a:pPr marL="457200" lvl="0" indent="-330200" algn="l" rtl="0">
              <a:spcBef>
                <a:spcPts val="0"/>
              </a:spcBef>
              <a:spcAft>
                <a:spcPts val="0"/>
              </a:spcAft>
              <a:buSzPts val="1600"/>
              <a:buChar char="●"/>
            </a:pPr>
            <a:r>
              <a:rPr lang="sk-SK" dirty="0"/>
              <a:t>Mechanizmus HSTS</a:t>
            </a:r>
          </a:p>
          <a:p>
            <a:pPr marL="914400" lvl="1" indent="-298450" algn="l" rtl="0">
              <a:spcBef>
                <a:spcPts val="0"/>
              </a:spcBef>
              <a:spcAft>
                <a:spcPts val="0"/>
              </a:spcAft>
              <a:buSzPts val="1100"/>
              <a:buChar char="○"/>
            </a:pPr>
            <a:r>
              <a:rPr lang="sk-SK" dirty="0"/>
              <a:t>HTTP žiadosti klienta prevedie do HTTPS</a:t>
            </a:r>
            <a:endParaRPr lang="sk-SK" sz="1200" dirty="0">
              <a:latin typeface="Consolas" panose="020B0609020204030204" pitchFamily="49" charset="0"/>
            </a:endParaRPr>
          </a:p>
          <a:p>
            <a:pPr marL="914400" lvl="1" indent="-298450" algn="l" rtl="0">
              <a:spcBef>
                <a:spcPts val="0"/>
              </a:spcBef>
              <a:spcAft>
                <a:spcPts val="0"/>
              </a:spcAft>
              <a:buSzPts val="1100"/>
              <a:buChar char="○"/>
            </a:pPr>
            <a:r>
              <a:rPr lang="sk-SK" dirty="0"/>
              <a:t>Ak klient nemôže nadviazať zabezpečené pripojenie, zobrazí sa chybová hláška</a:t>
            </a:r>
          </a:p>
        </p:txBody>
      </p:sp>
      <p:sp>
        <p:nvSpPr>
          <p:cNvPr id="194" name="Google Shape;194;p26"/>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13</a:t>
            </a:fld>
            <a:endParaRPr lang="sk-SK"/>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HTTP/2</a:t>
            </a:r>
          </a:p>
        </p:txBody>
      </p:sp>
      <p:sp>
        <p:nvSpPr>
          <p:cNvPr id="207" name="Google Shape;207;p28"/>
          <p:cNvSpPr txBox="1">
            <a:spLocks noGrp="1"/>
          </p:cNvSpPr>
          <p:nvPr>
            <p:ph type="body" idx="1"/>
          </p:nvPr>
        </p:nvSpPr>
        <p:spPr>
          <a:xfrm>
            <a:off x="435900" y="1635375"/>
            <a:ext cx="8272200" cy="29217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a:t>Vytvoril </a:t>
            </a:r>
            <a:r>
              <a:rPr lang="sk-SK" i="1"/>
              <a:t>Google</a:t>
            </a:r>
            <a:r>
              <a:rPr lang="sk-SK"/>
              <a:t> (SPDY protokol)</a:t>
            </a:r>
          </a:p>
          <a:p>
            <a:pPr marL="457200" lvl="0" indent="-330200" algn="l" rtl="0">
              <a:spcBef>
                <a:spcPts val="0"/>
              </a:spcBef>
              <a:spcAft>
                <a:spcPts val="0"/>
              </a:spcAft>
              <a:buSzPts val="1600"/>
              <a:buChar char="●"/>
            </a:pPr>
            <a:r>
              <a:rPr lang="sk-SK"/>
              <a:t>Dobrá podpora v serveroch a prehliadačoch</a:t>
            </a:r>
          </a:p>
          <a:p>
            <a:pPr marL="457200" lvl="0" indent="-330200" algn="l" rtl="0">
              <a:spcBef>
                <a:spcPts val="0"/>
              </a:spcBef>
              <a:spcAft>
                <a:spcPts val="0"/>
              </a:spcAft>
              <a:buSzPts val="1600"/>
              <a:buChar char="●"/>
            </a:pPr>
            <a:r>
              <a:rPr lang="sk-SK"/>
              <a:t>Rozdiely HTTP/2 oproti HTTP/1</a:t>
            </a:r>
          </a:p>
          <a:p>
            <a:pPr marL="914400" lvl="1" indent="-298450" algn="l" rtl="0">
              <a:spcBef>
                <a:spcPts val="0"/>
              </a:spcBef>
              <a:spcAft>
                <a:spcPts val="0"/>
              </a:spcAft>
              <a:buSzPts val="1100"/>
              <a:buChar char="○"/>
            </a:pPr>
            <a:r>
              <a:rPr lang="sk-SK"/>
              <a:t>Binárny protokol</a:t>
            </a:r>
          </a:p>
          <a:p>
            <a:pPr marL="914400" lvl="1" indent="-298450" algn="l" rtl="0">
              <a:spcBef>
                <a:spcPts val="0"/>
              </a:spcBef>
              <a:spcAft>
                <a:spcPts val="0"/>
              </a:spcAft>
              <a:buSzPts val="1100"/>
              <a:buChar char="○"/>
            </a:pPr>
            <a:r>
              <a:rPr lang="sk-SK"/>
              <a:t>Kompresia HTTP hlavičiek </a:t>
            </a:r>
          </a:p>
          <a:p>
            <a:pPr marL="914400" lvl="1" indent="-298450" algn="l" rtl="0">
              <a:spcBef>
                <a:spcPts val="0"/>
              </a:spcBef>
              <a:spcAft>
                <a:spcPts val="0"/>
              </a:spcAft>
              <a:buSzPts val="1100"/>
              <a:buChar char="○"/>
            </a:pPr>
            <a:r>
              <a:rPr lang="en-US" i="1"/>
              <a:t>Multiplexing</a:t>
            </a:r>
            <a:r>
              <a:rPr lang="sk-SK"/>
              <a:t> (súčasné vybavovanie žiadostí)</a:t>
            </a:r>
          </a:p>
          <a:p>
            <a:pPr marL="914400" lvl="1" indent="-298450" algn="l" rtl="0">
              <a:spcBef>
                <a:spcPts val="0"/>
              </a:spcBef>
              <a:spcAft>
                <a:spcPts val="0"/>
              </a:spcAft>
              <a:buSzPts val="1100"/>
              <a:buChar char="○"/>
            </a:pPr>
            <a:r>
              <a:rPr lang="sk-SK"/>
              <a:t>Podporuje </a:t>
            </a:r>
            <a:r>
              <a:rPr lang="sk-SK" i="1"/>
              <a:t>server </a:t>
            </a:r>
            <a:r>
              <a:rPr lang="en-US" i="1"/>
              <a:t>push</a:t>
            </a:r>
          </a:p>
          <a:p>
            <a:pPr marL="914400" lvl="1" indent="-298450" algn="l" rtl="0">
              <a:spcBef>
                <a:spcPts val="0"/>
              </a:spcBef>
              <a:spcAft>
                <a:spcPts val="0"/>
              </a:spcAft>
              <a:buSzPts val="1100"/>
              <a:buChar char="○"/>
            </a:pPr>
            <a:r>
              <a:rPr lang="sk-SK"/>
              <a:t>Prioritizácia spracovanie žiadostí</a:t>
            </a:r>
          </a:p>
          <a:p>
            <a:pPr marL="914400" lvl="1" indent="-298450" algn="l" rtl="0">
              <a:spcBef>
                <a:spcPts val="0"/>
              </a:spcBef>
              <a:spcAft>
                <a:spcPts val="0"/>
              </a:spcAft>
              <a:buSzPts val="1100"/>
              <a:buChar char="○"/>
            </a:pPr>
            <a:r>
              <a:rPr lang="sk-SK"/>
              <a:t>Odporúčané používať HTTPS</a:t>
            </a:r>
          </a:p>
          <a:p>
            <a:pPr marL="457200" lvl="0" indent="0" algn="l" rtl="0">
              <a:spcBef>
                <a:spcPts val="500"/>
              </a:spcBef>
              <a:spcAft>
                <a:spcPts val="500"/>
              </a:spcAft>
              <a:buNone/>
            </a:pPr>
            <a:endParaRPr lang="sk-SK"/>
          </a:p>
        </p:txBody>
      </p:sp>
      <p:sp>
        <p:nvSpPr>
          <p:cNvPr id="208" name="Google Shape;208;p28"/>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14</a:t>
            </a:fld>
            <a:endParaRPr lang="sk-SK"/>
          </a:p>
        </p:txBody>
      </p:sp>
      <p:pic>
        <p:nvPicPr>
          <p:cNvPr id="209" name="Google Shape;209;p28"/>
          <p:cNvPicPr preferRelativeResize="0"/>
          <p:nvPr/>
        </p:nvPicPr>
        <p:blipFill>
          <a:blip r:embed="rId3">
            <a:alphaModFix/>
          </a:blip>
          <a:stretch>
            <a:fillRect/>
          </a:stretch>
        </p:blipFill>
        <p:spPr>
          <a:xfrm>
            <a:off x="5448335" y="1480152"/>
            <a:ext cx="3051215" cy="3069238"/>
          </a:xfrm>
          <a:prstGeom prst="rect">
            <a:avLst/>
          </a:prstGeom>
          <a:noFill/>
          <a:ln>
            <a:noFill/>
          </a:ln>
        </p:spPr>
      </p:pic>
      <p:sp>
        <p:nvSpPr>
          <p:cNvPr id="210" name="Google Shape;210;p28"/>
          <p:cNvSpPr txBox="1"/>
          <p:nvPr/>
        </p:nvSpPr>
        <p:spPr>
          <a:xfrm>
            <a:off x="5604636" y="4593651"/>
            <a:ext cx="3051214" cy="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900" dirty="0">
                <a:latin typeface="Cabin" panose="020B0604020202020204"/>
              </a:rPr>
              <a:t>Zdroj: </a:t>
            </a:r>
            <a:r>
              <a:rPr lang="sk-SK" sz="900" u="sng" dirty="0">
                <a:solidFill>
                  <a:schemeClr val="hlink"/>
                </a:solidFill>
                <a:latin typeface="Cabin" panose="020B0604020202020204"/>
                <a:hlinkClick r:id="rId4"/>
              </a:rPr>
              <a:t>https://blog.restcase.com/http2-benefits-for-rest-apis</a:t>
            </a:r>
            <a:endParaRPr lang="sk-SK" sz="900" dirty="0">
              <a:latin typeface="Cabin" panose="020B0604020202020204"/>
            </a:endParaRPr>
          </a:p>
        </p:txBody>
      </p:sp>
      <p:sp>
        <p:nvSpPr>
          <p:cNvPr id="211" name="Google Shape;211;p28"/>
          <p:cNvSpPr txBox="1"/>
          <p:nvPr/>
        </p:nvSpPr>
        <p:spPr>
          <a:xfrm>
            <a:off x="435900" y="4226500"/>
            <a:ext cx="3331200" cy="3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1200" dirty="0"/>
              <a:t>Porovnanie rýchlostí: </a:t>
            </a:r>
            <a:r>
              <a:rPr lang="sk-SK" sz="1200" u="sng" dirty="0">
                <a:solidFill>
                  <a:schemeClr val="hlink"/>
                </a:solidFill>
                <a:hlinkClick r:id="rId5"/>
              </a:rPr>
              <a:t>http://www.http2demo.io/</a:t>
            </a:r>
            <a:r>
              <a:rPr lang="sk-SK" sz="12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HTTP/2 – hlavičky </a:t>
            </a:r>
          </a:p>
        </p:txBody>
      </p:sp>
      <p:sp>
        <p:nvSpPr>
          <p:cNvPr id="217" name="Google Shape;217;p29"/>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sk-SK" smtClean="0"/>
              <a:t>15</a:t>
            </a:fld>
            <a:endParaRPr lang="sk-SK"/>
          </a:p>
        </p:txBody>
      </p:sp>
      <p:sp>
        <p:nvSpPr>
          <p:cNvPr id="218" name="Google Shape;218;p29"/>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0" lvl="0" indent="0" algn="l" rtl="0">
              <a:spcBef>
                <a:spcPts val="300"/>
              </a:spcBef>
              <a:spcAft>
                <a:spcPts val="0"/>
              </a:spcAft>
              <a:buNone/>
            </a:pPr>
            <a:r>
              <a:rPr lang="sk-SK" dirty="0"/>
              <a:t>HTTP/1</a:t>
            </a:r>
          </a:p>
          <a:p>
            <a:pPr marL="457200" marR="0" lvl="0" indent="-330200" algn="l" rtl="0">
              <a:lnSpc>
                <a:spcPct val="115000"/>
              </a:lnSpc>
              <a:spcBef>
                <a:spcPts val="500"/>
              </a:spcBef>
              <a:spcAft>
                <a:spcPts val="0"/>
              </a:spcAft>
              <a:buClr>
                <a:schemeClr val="accent2"/>
              </a:buClr>
              <a:buSzPts val="1600"/>
              <a:buFont typeface="Noto Sans Symbols"/>
              <a:buChar char="●"/>
            </a:pPr>
            <a:r>
              <a:rPr lang="sk-SK" dirty="0"/>
              <a:t>Hlavička každej odpovede/požiadavky obsahuje tie isté dáta</a:t>
            </a:r>
          </a:p>
          <a:p>
            <a:pPr marL="0" lvl="0" indent="0" algn="l" rtl="0">
              <a:spcBef>
                <a:spcPts val="500"/>
              </a:spcBef>
              <a:spcAft>
                <a:spcPts val="0"/>
              </a:spcAft>
              <a:buNone/>
            </a:pPr>
            <a:r>
              <a:rPr lang="sk-SK" dirty="0"/>
              <a:t>HTTP/2</a:t>
            </a:r>
          </a:p>
          <a:p>
            <a:pPr marL="457200" lvl="0" indent="-330200" algn="l" rtl="0">
              <a:spcBef>
                <a:spcPts val="500"/>
              </a:spcBef>
              <a:spcAft>
                <a:spcPts val="0"/>
              </a:spcAft>
              <a:buSzPts val="1600"/>
              <a:buChar char="●"/>
            </a:pPr>
            <a:r>
              <a:rPr lang="sk-SK" dirty="0"/>
              <a:t>Posielajú sa iba potrebné hlavičky</a:t>
            </a:r>
          </a:p>
          <a:p>
            <a:pPr marL="914400" lvl="1" indent="-298450" algn="l" rtl="0">
              <a:spcBef>
                <a:spcPts val="0"/>
              </a:spcBef>
              <a:spcAft>
                <a:spcPts val="0"/>
              </a:spcAft>
              <a:buSzPts val="1100"/>
              <a:buChar char="○"/>
            </a:pPr>
            <a:r>
              <a:rPr lang="sk-SK" dirty="0"/>
              <a:t>Server a klient si nemenné údaje pamätajú</a:t>
            </a:r>
          </a:p>
          <a:p>
            <a:pPr marL="914400" lvl="1" indent="-298450" algn="l" rtl="0">
              <a:spcBef>
                <a:spcPts val="0"/>
              </a:spcBef>
              <a:spcAft>
                <a:spcPts val="0"/>
              </a:spcAft>
              <a:buSzPts val="1100"/>
              <a:buChar char="○"/>
            </a:pPr>
            <a:r>
              <a:rPr lang="sk-SK" dirty="0"/>
              <a:t>Vytvorí sa tabuľka hlavičiek a hlavička sa nahradí odkazom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HTTP/2 – binárny prenos</a:t>
            </a:r>
          </a:p>
        </p:txBody>
      </p:sp>
      <p:sp>
        <p:nvSpPr>
          <p:cNvPr id="231" name="Google Shape;231;p31"/>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0" lvl="0" indent="0" algn="l" rtl="0">
              <a:spcBef>
                <a:spcPts val="300"/>
              </a:spcBef>
              <a:spcAft>
                <a:spcPts val="0"/>
              </a:spcAft>
              <a:buNone/>
            </a:pPr>
            <a:r>
              <a:rPr lang="sk-SK" dirty="0"/>
              <a:t>HTTP/1</a:t>
            </a:r>
          </a:p>
          <a:p>
            <a:pPr marL="457200" marR="0" lvl="0" indent="-330200" algn="l" rtl="0">
              <a:lnSpc>
                <a:spcPct val="115000"/>
              </a:lnSpc>
              <a:spcBef>
                <a:spcPts val="500"/>
              </a:spcBef>
              <a:spcAft>
                <a:spcPts val="0"/>
              </a:spcAft>
              <a:buClr>
                <a:schemeClr val="accent2"/>
              </a:buClr>
              <a:buSzPts val="1600"/>
              <a:buFont typeface="Noto Sans Symbols"/>
              <a:buChar char="●"/>
            </a:pPr>
            <a:r>
              <a:rPr lang="sk-SK" dirty="0"/>
              <a:t>Čisto textový formát</a:t>
            </a:r>
          </a:p>
          <a:p>
            <a:pPr marL="457200" marR="0" lvl="0" indent="-330200" algn="l" rtl="0">
              <a:lnSpc>
                <a:spcPct val="115000"/>
              </a:lnSpc>
              <a:spcBef>
                <a:spcPts val="0"/>
              </a:spcBef>
              <a:spcAft>
                <a:spcPts val="0"/>
              </a:spcAft>
              <a:buSzPts val="1600"/>
              <a:buChar char="●"/>
            </a:pPr>
            <a:r>
              <a:rPr lang="sk-SK" dirty="0"/>
              <a:t>Nutnosť konvertovať binárne dáta (</a:t>
            </a:r>
            <a:r>
              <a:rPr lang="sk-SK" i="1" dirty="0"/>
              <a:t>base_64</a:t>
            </a:r>
            <a:r>
              <a:rPr lang="sk-SK" dirty="0"/>
              <a:t>)</a:t>
            </a:r>
          </a:p>
          <a:p>
            <a:pPr marL="914400" marR="0" lvl="1" indent="-298450" algn="l" rtl="0">
              <a:lnSpc>
                <a:spcPct val="115000"/>
              </a:lnSpc>
              <a:spcBef>
                <a:spcPts val="0"/>
              </a:spcBef>
              <a:spcAft>
                <a:spcPts val="0"/>
              </a:spcAft>
              <a:buSzPts val="1100"/>
              <a:buChar char="○"/>
            </a:pPr>
            <a:r>
              <a:rPr lang="sk-SK" dirty="0"/>
              <a:t>Konverzia dát potrebuje systémové prostriedky na oboch stranách</a:t>
            </a:r>
          </a:p>
          <a:p>
            <a:pPr marL="914400" marR="0" lvl="1" indent="-298450" algn="l" rtl="0">
              <a:lnSpc>
                <a:spcPct val="115000"/>
              </a:lnSpc>
              <a:spcBef>
                <a:spcPts val="0"/>
              </a:spcBef>
              <a:spcAft>
                <a:spcPts val="0"/>
              </a:spcAft>
              <a:buSzPts val="1100"/>
              <a:buChar char="○"/>
            </a:pPr>
            <a:r>
              <a:rPr lang="sk-SK" dirty="0"/>
              <a:t>Zaberá kapacitu sieťového spojenia</a:t>
            </a:r>
          </a:p>
          <a:p>
            <a:pPr marL="0" lvl="0" indent="0" algn="l" rtl="0">
              <a:spcBef>
                <a:spcPts val="500"/>
              </a:spcBef>
              <a:spcAft>
                <a:spcPts val="0"/>
              </a:spcAft>
              <a:buNone/>
            </a:pPr>
            <a:r>
              <a:rPr lang="sk-SK" dirty="0"/>
              <a:t>HTTP/2</a:t>
            </a:r>
          </a:p>
          <a:p>
            <a:pPr marL="457200" lvl="0" indent="-330200" algn="l" rtl="0">
              <a:spcBef>
                <a:spcPts val="500"/>
              </a:spcBef>
              <a:spcAft>
                <a:spcPts val="0"/>
              </a:spcAft>
              <a:buSzPts val="1600"/>
              <a:buChar char="●"/>
            </a:pPr>
            <a:r>
              <a:rPr lang="sk-SK" dirty="0"/>
              <a:t>Binárny protokol </a:t>
            </a:r>
          </a:p>
        </p:txBody>
      </p:sp>
      <p:sp>
        <p:nvSpPr>
          <p:cNvPr id="232" name="Google Shape;232;p31"/>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sk-SK" smtClean="0"/>
              <a:t>16</a:t>
            </a:fld>
            <a:endParaRPr lang="sk-SK"/>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HTTP/2 – </a:t>
            </a:r>
            <a:r>
              <a:rPr lang="en-US" i="1" dirty="0"/>
              <a:t>push content</a:t>
            </a:r>
          </a:p>
        </p:txBody>
      </p:sp>
      <p:sp>
        <p:nvSpPr>
          <p:cNvPr id="224" name="Google Shape;224;p30"/>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0" lvl="0" indent="0" algn="l" rtl="0">
              <a:spcBef>
                <a:spcPts val="300"/>
              </a:spcBef>
              <a:spcAft>
                <a:spcPts val="0"/>
              </a:spcAft>
              <a:buNone/>
            </a:pPr>
            <a:r>
              <a:rPr lang="sk-SK" dirty="0"/>
              <a:t>HTTP/1</a:t>
            </a:r>
          </a:p>
          <a:p>
            <a:pPr marL="457200" marR="0" lvl="0" indent="-330200" algn="l" rtl="0">
              <a:lnSpc>
                <a:spcPct val="115000"/>
              </a:lnSpc>
              <a:spcBef>
                <a:spcPts val="500"/>
              </a:spcBef>
              <a:spcAft>
                <a:spcPts val="0"/>
              </a:spcAft>
              <a:buClr>
                <a:schemeClr val="accent2"/>
              </a:buClr>
              <a:buSzPts val="1600"/>
              <a:buFont typeface="Noto Sans Symbols"/>
              <a:buChar char="●"/>
            </a:pPr>
            <a:r>
              <a:rPr lang="sk-SK" dirty="0"/>
              <a:t>Každá stránka obsahovala zoznam potrebného obsahu, ktorý sa následne načítal</a:t>
            </a:r>
          </a:p>
          <a:p>
            <a:pPr marL="0" lvl="0" indent="0" algn="l" rtl="0">
              <a:spcBef>
                <a:spcPts val="500"/>
              </a:spcBef>
              <a:spcAft>
                <a:spcPts val="0"/>
              </a:spcAft>
              <a:buNone/>
            </a:pPr>
            <a:r>
              <a:rPr lang="sk-SK" dirty="0"/>
              <a:t>HTTP/2</a:t>
            </a:r>
          </a:p>
          <a:p>
            <a:pPr marL="457200" lvl="0" indent="-330200" algn="l" rtl="0">
              <a:spcBef>
                <a:spcPts val="500"/>
              </a:spcBef>
              <a:spcAft>
                <a:spcPts val="0"/>
              </a:spcAft>
              <a:buSzPts val="1600"/>
              <a:buChar char="●"/>
            </a:pPr>
            <a:r>
              <a:rPr lang="sk-SK" dirty="0"/>
              <a:t>Umožňuje poslať zo servera dáta potrebné v "budúcnosti"</a:t>
            </a:r>
          </a:p>
          <a:p>
            <a:pPr marL="457200" lvl="0" indent="-330200" algn="l" rtl="0">
              <a:spcBef>
                <a:spcPts val="0"/>
              </a:spcBef>
              <a:spcAft>
                <a:spcPts val="0"/>
              </a:spcAft>
              <a:buSzPts val="1600"/>
              <a:buChar char="●"/>
            </a:pPr>
            <a:r>
              <a:rPr lang="sk-SK" dirty="0"/>
              <a:t>Slúži len na urýchlenie komunikácie</a:t>
            </a:r>
          </a:p>
          <a:p>
            <a:pPr marL="457200" lvl="0" indent="-330200" algn="l" rtl="0">
              <a:spcBef>
                <a:spcPts val="0"/>
              </a:spcBef>
              <a:spcAft>
                <a:spcPts val="0"/>
              </a:spcAft>
              <a:buSzPts val="1600"/>
              <a:buChar char="●"/>
            </a:pPr>
            <a:r>
              <a:rPr lang="sk-SK" dirty="0"/>
              <a:t>Nie je to obojsmerná komunikácia typu </a:t>
            </a:r>
            <a:r>
              <a:rPr lang="sk-SK" i="1" dirty="0"/>
              <a:t>Web </a:t>
            </a:r>
            <a:r>
              <a:rPr lang="en-US" i="1" dirty="0"/>
              <a:t>sockets</a:t>
            </a:r>
          </a:p>
        </p:txBody>
      </p:sp>
      <p:sp>
        <p:nvSpPr>
          <p:cNvPr id="225" name="Google Shape;225;p30"/>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sk-SK" smtClean="0"/>
              <a:t>17</a:t>
            </a:fld>
            <a:endParaRPr lang="sk-SK"/>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3"/>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HTTP/3</a:t>
            </a:r>
          </a:p>
        </p:txBody>
      </p:sp>
      <p:sp>
        <p:nvSpPr>
          <p:cNvPr id="245" name="Google Shape;245;p33"/>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HTTP cez QUIC (</a:t>
            </a:r>
            <a:r>
              <a:rPr lang="en-US" dirty="0">
                <a:hlinkClick r:id="rId3"/>
              </a:rPr>
              <a:t>Quick UDP Internet Connections</a:t>
            </a:r>
            <a:r>
              <a:rPr lang="sk-SK" dirty="0"/>
              <a:t>)</a:t>
            </a:r>
          </a:p>
          <a:p>
            <a:pPr marL="914400" lvl="1" indent="-298450" algn="l" rtl="0">
              <a:spcBef>
                <a:spcPts val="0"/>
              </a:spcBef>
              <a:spcAft>
                <a:spcPts val="0"/>
              </a:spcAft>
              <a:buSzPts val="1100"/>
              <a:buChar char="○"/>
            </a:pPr>
            <a:r>
              <a:rPr lang="sk-SK" dirty="0"/>
              <a:t>Nový protokol QUIC – kombinácia TCP+TLS+HTTP/2 implementovaná cez UDP</a:t>
            </a:r>
          </a:p>
          <a:p>
            <a:pPr marL="914400" lvl="1" indent="-298450" algn="l" rtl="0">
              <a:spcBef>
                <a:spcPts val="0"/>
              </a:spcBef>
              <a:spcAft>
                <a:spcPts val="0"/>
              </a:spcAft>
              <a:buSzPts val="1100"/>
              <a:buChar char="○"/>
            </a:pPr>
            <a:r>
              <a:rPr lang="sk-SK" dirty="0"/>
              <a:t>Navrhnutý firmou Google</a:t>
            </a:r>
          </a:p>
          <a:p>
            <a:pPr marL="457200" lvl="0" indent="-330200" algn="l" rtl="0">
              <a:spcBef>
                <a:spcPts val="0"/>
              </a:spcBef>
              <a:spcAft>
                <a:spcPts val="0"/>
              </a:spcAft>
              <a:buSzPts val="1600"/>
              <a:buChar char="●"/>
            </a:pPr>
            <a:r>
              <a:rPr lang="sk-SK" dirty="0"/>
              <a:t>Rozdiely oproti HTTP/2</a:t>
            </a:r>
          </a:p>
          <a:p>
            <a:pPr lvl="1">
              <a:spcBef>
                <a:spcPts val="0"/>
              </a:spcBef>
            </a:pPr>
            <a:r>
              <a:rPr lang="sk-SK" dirty="0"/>
              <a:t>Použitie rýchleho protokolu QUIC na </a:t>
            </a:r>
            <a:r>
              <a:rPr lang="en-US" i="1" dirty="0"/>
              <a:t>streaming</a:t>
            </a:r>
          </a:p>
          <a:p>
            <a:pPr lvl="1">
              <a:spcBef>
                <a:spcPts val="0"/>
              </a:spcBef>
            </a:pPr>
            <a:r>
              <a:rPr lang="sk-SK" dirty="0"/>
              <a:t>UDP namiesto TCP</a:t>
            </a:r>
            <a:r>
              <a:rPr lang="en-US" dirty="0"/>
              <a:t> </a:t>
            </a:r>
            <a:r>
              <a:rPr lang="sk-SK" dirty="0"/>
              <a:t>(rýchlejšie zostavenie spojenia)</a:t>
            </a:r>
          </a:p>
          <a:p>
            <a:pPr lvl="1">
              <a:spcBef>
                <a:spcPts val="0"/>
              </a:spcBef>
            </a:pPr>
            <a:r>
              <a:rPr lang="sk-SK" dirty="0"/>
              <a:t>Len HTTPS</a:t>
            </a:r>
          </a:p>
          <a:p>
            <a:pPr lvl="1">
              <a:spcBef>
                <a:spcPts val="0"/>
              </a:spcBef>
            </a:pPr>
            <a:r>
              <a:rPr lang="sk-SK" dirty="0"/>
              <a:t>Spoľahlivá podpora prenosu dát potrebných v "budúcnosti"</a:t>
            </a:r>
          </a:p>
          <a:p>
            <a:pPr lvl="1" indent="-330200">
              <a:spcBef>
                <a:spcPts val="0"/>
              </a:spcBef>
              <a:buSzPts val="1600"/>
              <a:buChar char="●"/>
            </a:pPr>
            <a:endParaRPr lang="sk-SK" dirty="0"/>
          </a:p>
          <a:p>
            <a:pPr marL="457200" lvl="0" indent="0" algn="l" rtl="0">
              <a:spcBef>
                <a:spcPts val="500"/>
              </a:spcBef>
              <a:spcAft>
                <a:spcPts val="500"/>
              </a:spcAft>
              <a:buNone/>
            </a:pPr>
            <a:endParaRPr lang="sk-SK" dirty="0"/>
          </a:p>
        </p:txBody>
      </p:sp>
      <p:sp>
        <p:nvSpPr>
          <p:cNvPr id="246" name="Google Shape;246;p33"/>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18</a:t>
            </a:fld>
            <a:endParaRPr lang="sk-SK"/>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BD864AB-32EF-E389-4101-BF5125AD695A}"/>
              </a:ext>
            </a:extLst>
          </p:cNvPr>
          <p:cNvSpPr>
            <a:spLocks noGrp="1"/>
          </p:cNvSpPr>
          <p:nvPr>
            <p:ph type="title"/>
          </p:nvPr>
        </p:nvSpPr>
        <p:spPr/>
        <p:txBody>
          <a:bodyPr/>
          <a:lstStyle/>
          <a:p>
            <a:r>
              <a:rPr lang="sk-SK" dirty="0"/>
              <a:t>Otázka 1</a:t>
            </a:r>
            <a:endParaRPr lang="en-US" dirty="0"/>
          </a:p>
        </p:txBody>
      </p:sp>
      <p:sp>
        <p:nvSpPr>
          <p:cNvPr id="4" name="Zástupný objekt pre číslo snímky 3">
            <a:extLst>
              <a:ext uri="{FF2B5EF4-FFF2-40B4-BE49-F238E27FC236}">
                <a16:creationId xmlns:a16="http://schemas.microsoft.com/office/drawing/2014/main" id="{9C4021EB-E77A-5BAC-2ADD-2253C64C34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19</a:t>
            </a:fld>
            <a:endParaRPr lang="en-GB"/>
          </a:p>
        </p:txBody>
      </p:sp>
      <p:pic>
        <p:nvPicPr>
          <p:cNvPr id="6" name="Obrázok 5" descr="Obrázok, na ktorom je zbraň, chlap, ľudská tvár, akčný film&#10;&#10;Obsah vygenerovaný pomocou AI môže byť nesprávny.">
            <a:extLst>
              <a:ext uri="{FF2B5EF4-FFF2-40B4-BE49-F238E27FC236}">
                <a16:creationId xmlns:a16="http://schemas.microsoft.com/office/drawing/2014/main" id="{58D64256-D1D8-F4DE-D68A-4689E200D45E}"/>
              </a:ext>
            </a:extLst>
          </p:cNvPr>
          <p:cNvPicPr>
            <a:picLocks noChangeAspect="1"/>
          </p:cNvPicPr>
          <p:nvPr/>
        </p:nvPicPr>
        <p:blipFill>
          <a:blip r:embed="rId2"/>
          <a:stretch>
            <a:fillRect/>
          </a:stretch>
        </p:blipFill>
        <p:spPr>
          <a:xfrm>
            <a:off x="1897380" y="1520025"/>
            <a:ext cx="5052060" cy="2660752"/>
          </a:xfrm>
          <a:prstGeom prst="rect">
            <a:avLst/>
          </a:prstGeom>
        </p:spPr>
      </p:pic>
      <p:sp>
        <p:nvSpPr>
          <p:cNvPr id="8" name="BlokTextu 7">
            <a:extLst>
              <a:ext uri="{FF2B5EF4-FFF2-40B4-BE49-F238E27FC236}">
                <a16:creationId xmlns:a16="http://schemas.microsoft.com/office/drawing/2014/main" id="{89A82FE3-8FAB-ACEB-94D4-60AC2D85C549}"/>
              </a:ext>
            </a:extLst>
          </p:cNvPr>
          <p:cNvSpPr txBox="1"/>
          <p:nvPr/>
        </p:nvSpPr>
        <p:spPr>
          <a:xfrm>
            <a:off x="2137410" y="4361507"/>
            <a:ext cx="4572000" cy="523220"/>
          </a:xfrm>
          <a:prstGeom prst="rect">
            <a:avLst/>
          </a:prstGeom>
          <a:noFill/>
        </p:spPr>
        <p:txBody>
          <a:bodyPr wrap="square">
            <a:spAutoFit/>
          </a:bodyPr>
          <a:lstStyle/>
          <a:p>
            <a:r>
              <a:rPr lang="en-US" dirty="0">
                <a:hlinkClick r:id="rId3"/>
              </a:rPr>
              <a:t>https://www.fri.uniza.sk/cms/quizzes/questions/qr/28</a:t>
            </a:r>
            <a:endParaRPr lang="sk-SK" dirty="0"/>
          </a:p>
          <a:p>
            <a:endParaRPr lang="sk-SK" dirty="0"/>
          </a:p>
        </p:txBody>
      </p:sp>
    </p:spTree>
    <p:extLst>
      <p:ext uri="{BB962C8B-B14F-4D97-AF65-F5344CB8AC3E}">
        <p14:creationId xmlns:p14="http://schemas.microsoft.com/office/powerpoint/2010/main" val="131829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5"/>
          <p:cNvSpPr txBox="1">
            <a:spLocks noGrp="1"/>
          </p:cNvSpPr>
          <p:nvPr>
            <p:ph type="title"/>
          </p:nvPr>
        </p:nvSpPr>
        <p:spPr>
          <a:xfrm>
            <a:off x="435895" y="2282932"/>
            <a:ext cx="8272200" cy="1123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Asynchronous Javascript And XML</a:t>
            </a:r>
          </a:p>
        </p:txBody>
      </p:sp>
      <p:sp>
        <p:nvSpPr>
          <p:cNvPr id="260" name="Google Shape;260;p35"/>
          <p:cNvSpPr txBox="1">
            <a:spLocks noGrp="1"/>
          </p:cNvSpPr>
          <p:nvPr>
            <p:ph type="body" idx="1"/>
          </p:nvPr>
        </p:nvSpPr>
        <p:spPr>
          <a:xfrm>
            <a:off x="435894" y="3406063"/>
            <a:ext cx="8272200" cy="450300"/>
          </a:xfrm>
          <a:prstGeom prst="rect">
            <a:avLst/>
          </a:prstGeom>
        </p:spPr>
        <p:txBody>
          <a:bodyPr spcFirstLastPara="1" wrap="square" lIns="68575" tIns="68575" rIns="68575" bIns="68575" anchor="t" anchorCtr="0">
            <a:noAutofit/>
          </a:bodyPr>
          <a:lstStyle/>
          <a:p>
            <a:pPr marL="0" lvl="0" indent="0" algn="l" rtl="0">
              <a:spcBef>
                <a:spcPts val="300"/>
              </a:spcBef>
              <a:spcAft>
                <a:spcPts val="500"/>
              </a:spcAft>
              <a:buNone/>
            </a:pPr>
            <a:endParaRPr lang="sk-SK"/>
          </a:p>
        </p:txBody>
      </p:sp>
      <p:sp>
        <p:nvSpPr>
          <p:cNvPr id="261" name="Google Shape;261;p35"/>
          <p:cNvSpPr txBox="1">
            <a:spLocks noGrp="1"/>
          </p:cNvSpPr>
          <p:nvPr>
            <p:ph type="sldNum" idx="12"/>
          </p:nvPr>
        </p:nvSpPr>
        <p:spPr>
          <a:xfrm>
            <a:off x="7918725" y="4467103"/>
            <a:ext cx="7893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20</a:t>
            </a:fld>
            <a:endParaRPr lang="sk-SK"/>
          </a:p>
        </p:txBody>
      </p:sp>
      <p:pic>
        <p:nvPicPr>
          <p:cNvPr id="262" name="Google Shape;262;p35"/>
          <p:cNvPicPr preferRelativeResize="0"/>
          <p:nvPr/>
        </p:nvPicPr>
        <p:blipFill>
          <a:blip r:embed="rId3">
            <a:alphaModFix/>
          </a:blip>
          <a:stretch>
            <a:fillRect/>
          </a:stretch>
        </p:blipFill>
        <p:spPr>
          <a:xfrm>
            <a:off x="7079825" y="567225"/>
            <a:ext cx="1714550" cy="822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6"/>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Čo je to AJAX</a:t>
            </a:r>
          </a:p>
        </p:txBody>
      </p:sp>
      <p:sp>
        <p:nvSpPr>
          <p:cNvPr id="268" name="Google Shape;268;p36"/>
          <p:cNvSpPr txBox="1">
            <a:spLocks noGrp="1"/>
          </p:cNvSpPr>
          <p:nvPr>
            <p:ph type="body" idx="1"/>
          </p:nvPr>
        </p:nvSpPr>
        <p:spPr>
          <a:xfrm>
            <a:off x="435900" y="1635375"/>
            <a:ext cx="8272200" cy="30309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en-US" b="1" i="1" dirty="0">
                <a:solidFill>
                  <a:schemeClr val="tx1"/>
                </a:solidFill>
              </a:rPr>
              <a:t>A</a:t>
            </a:r>
            <a:r>
              <a:rPr lang="en-US" i="1" dirty="0">
                <a:solidFill>
                  <a:schemeClr val="tx1"/>
                </a:solidFill>
              </a:rPr>
              <a:t>synchronous </a:t>
            </a:r>
            <a:r>
              <a:rPr lang="en-US" b="1" i="1" dirty="0">
                <a:solidFill>
                  <a:schemeClr val="tx1"/>
                </a:solidFill>
              </a:rPr>
              <a:t>J</a:t>
            </a:r>
            <a:r>
              <a:rPr lang="en-US" i="1" dirty="0">
                <a:solidFill>
                  <a:schemeClr val="tx1"/>
                </a:solidFill>
              </a:rPr>
              <a:t>avaScript </a:t>
            </a:r>
            <a:r>
              <a:rPr lang="en-US" b="1" i="1" dirty="0">
                <a:solidFill>
                  <a:schemeClr val="tx1"/>
                </a:solidFill>
              </a:rPr>
              <a:t>A</a:t>
            </a:r>
            <a:r>
              <a:rPr lang="en-US" i="1" dirty="0">
                <a:solidFill>
                  <a:schemeClr val="tx1"/>
                </a:solidFill>
              </a:rPr>
              <a:t>nd </a:t>
            </a:r>
            <a:r>
              <a:rPr lang="en-US" b="1" i="1" dirty="0">
                <a:solidFill>
                  <a:schemeClr val="tx1"/>
                </a:solidFill>
              </a:rPr>
              <a:t>X</a:t>
            </a:r>
            <a:r>
              <a:rPr lang="en-US" i="1" dirty="0">
                <a:solidFill>
                  <a:schemeClr val="tx1"/>
                </a:solidFill>
              </a:rPr>
              <a:t>ML</a:t>
            </a:r>
          </a:p>
          <a:p>
            <a:pPr marL="457200" lvl="0" indent="-330200" algn="l" rtl="0">
              <a:spcBef>
                <a:spcPts val="0"/>
              </a:spcBef>
              <a:spcAft>
                <a:spcPts val="0"/>
              </a:spcAft>
              <a:buSzPts val="1600"/>
              <a:buChar char="●"/>
            </a:pPr>
            <a:r>
              <a:rPr lang="sk-SK" dirty="0"/>
              <a:t>Súbor webových techník na tvorbu interaktívnych webových aplikácií</a:t>
            </a:r>
          </a:p>
          <a:p>
            <a:pPr marL="457200" lvl="0" indent="-330200" algn="l" rtl="0">
              <a:spcBef>
                <a:spcPts val="0"/>
              </a:spcBef>
              <a:spcAft>
                <a:spcPts val="0"/>
              </a:spcAft>
              <a:buSzPts val="1600"/>
              <a:buChar char="●"/>
            </a:pPr>
            <a:r>
              <a:rPr lang="sk-SK" dirty="0"/>
              <a:t>Microsoft 1999 </a:t>
            </a:r>
            <a:r>
              <a:rPr lang="sk-SK" i="1" dirty="0" err="1"/>
              <a:t>ActiveX</a:t>
            </a:r>
            <a:r>
              <a:rPr lang="sk-SK" dirty="0"/>
              <a:t> komponent v IE 5</a:t>
            </a:r>
          </a:p>
          <a:p>
            <a:pPr lvl="1">
              <a:spcBef>
                <a:spcPts val="0"/>
              </a:spcBef>
            </a:pPr>
            <a:r>
              <a:rPr lang="sk-SK" dirty="0"/>
              <a:t>Pojem AJAX až v roku 2005</a:t>
            </a:r>
          </a:p>
          <a:p>
            <a:pPr>
              <a:spcBef>
                <a:spcPts val="0"/>
              </a:spcBef>
            </a:pPr>
            <a:r>
              <a:rPr lang="en-US" dirty="0">
                <a:hlinkClick r:id="rId3"/>
              </a:rPr>
              <a:t>Living W3C standard</a:t>
            </a:r>
            <a:endParaRPr lang="en-US" dirty="0"/>
          </a:p>
          <a:p>
            <a:pPr marL="457200" lvl="0" indent="-330200" algn="l" rtl="0">
              <a:spcBef>
                <a:spcPts val="0"/>
              </a:spcBef>
              <a:spcAft>
                <a:spcPts val="0"/>
              </a:spcAft>
              <a:buSzPts val="1600"/>
              <a:buChar char="●"/>
            </a:pPr>
            <a:r>
              <a:rPr lang="sk-SK" dirty="0"/>
              <a:t>V súčasnosti ho používajú takmer všetky webové aplikácie</a:t>
            </a:r>
          </a:p>
        </p:txBody>
      </p:sp>
      <p:sp>
        <p:nvSpPr>
          <p:cNvPr id="269" name="Google Shape;269;p36"/>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21</a:t>
            </a:fld>
            <a:endParaRPr lang="sk-SK"/>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7"/>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Základné princípy AJAX-u</a:t>
            </a:r>
          </a:p>
        </p:txBody>
      </p:sp>
      <p:sp>
        <p:nvSpPr>
          <p:cNvPr id="275" name="Google Shape;275;p37"/>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a:spcBef>
                <a:spcPts val="0"/>
              </a:spcBef>
            </a:pPr>
            <a:r>
              <a:rPr lang="sk-SK" dirty="0"/>
              <a:t>Nie je nutné načítanie celého dokumentu</a:t>
            </a:r>
          </a:p>
          <a:p>
            <a:pPr lvl="1">
              <a:spcBef>
                <a:spcPts val="0"/>
              </a:spcBef>
            </a:pPr>
            <a:r>
              <a:rPr lang="sk-SK" dirty="0"/>
              <a:t>Zmena modelu žiadosť/odpoveď</a:t>
            </a:r>
          </a:p>
          <a:p>
            <a:pPr marL="457200" lvl="0" indent="-330200" algn="l" rtl="0">
              <a:spcBef>
                <a:spcPts val="0"/>
              </a:spcBef>
              <a:spcAft>
                <a:spcPts val="0"/>
              </a:spcAft>
              <a:buSzPts val="1600"/>
              <a:buChar char="●"/>
            </a:pPr>
            <a:r>
              <a:rPr lang="sk-SK" dirty="0"/>
              <a:t>Asynchrónne načítanie dát v pozadí</a:t>
            </a:r>
          </a:p>
          <a:p>
            <a:pPr lvl="1">
              <a:spcBef>
                <a:spcPts val="0"/>
              </a:spcBef>
            </a:pPr>
            <a:r>
              <a:rPr lang="sk-SK" dirty="0"/>
              <a:t>Môže byť aj synchrónne (využíva sa zriedkavo)</a:t>
            </a:r>
          </a:p>
          <a:p>
            <a:pPr marL="457200" lvl="0" indent="-330200" algn="l" rtl="0">
              <a:spcBef>
                <a:spcPts val="0"/>
              </a:spcBef>
              <a:spcAft>
                <a:spcPts val="0"/>
              </a:spcAft>
              <a:buSzPts val="1600"/>
              <a:buChar char="●"/>
            </a:pPr>
            <a:r>
              <a:rPr lang="sk-SK" dirty="0"/>
              <a:t>Obmedzenie: </a:t>
            </a:r>
          </a:p>
          <a:p>
            <a:pPr lvl="1">
              <a:spcBef>
                <a:spcPts val="0"/>
              </a:spcBef>
            </a:pPr>
            <a:r>
              <a:rPr lang="sk-SK" dirty="0"/>
              <a:t>Dáta len zo servera, odkiaľ je dokument (</a:t>
            </a:r>
            <a:r>
              <a:rPr lang="en-US" i="1" dirty="0"/>
              <a:t>same origin policy</a:t>
            </a:r>
            <a:r>
              <a:rPr lang="sk-SK" dirty="0"/>
              <a:t>)</a:t>
            </a:r>
          </a:p>
        </p:txBody>
      </p:sp>
      <p:sp>
        <p:nvSpPr>
          <p:cNvPr id="276" name="Google Shape;276;p37"/>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22</a:t>
            </a:fld>
            <a:endParaRPr lang="sk-SK"/>
          </a:p>
        </p:txBody>
      </p:sp>
      <p:pic>
        <p:nvPicPr>
          <p:cNvPr id="3" name="Obrázok 2" descr="Obrázok, na ktorom je text, ošatenie, osoba, chlap&#10;&#10;Obsah vygenerovaný pomocou AI môže byť nesprávny.">
            <a:extLst>
              <a:ext uri="{FF2B5EF4-FFF2-40B4-BE49-F238E27FC236}">
                <a16:creationId xmlns:a16="http://schemas.microsoft.com/office/drawing/2014/main" id="{EA548C0A-C622-4B5C-5067-B075F9149AE5}"/>
              </a:ext>
            </a:extLst>
          </p:cNvPr>
          <p:cNvPicPr>
            <a:picLocks noChangeAspect="1"/>
          </p:cNvPicPr>
          <p:nvPr/>
        </p:nvPicPr>
        <p:blipFill>
          <a:blip r:embed="rId3"/>
          <a:stretch>
            <a:fillRect/>
          </a:stretch>
        </p:blipFill>
        <p:spPr>
          <a:xfrm>
            <a:off x="6003238" y="1444541"/>
            <a:ext cx="2383144" cy="35081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8"/>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Výhody použitia AJAX-u</a:t>
            </a:r>
          </a:p>
        </p:txBody>
      </p:sp>
      <p:sp>
        <p:nvSpPr>
          <p:cNvPr id="282" name="Google Shape;282;p38"/>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a:t>Je multiplatformový</a:t>
            </a:r>
          </a:p>
          <a:p>
            <a:pPr marL="914400" lvl="1" indent="-298450" algn="l" rtl="0">
              <a:spcBef>
                <a:spcPts val="0"/>
              </a:spcBef>
              <a:spcAft>
                <a:spcPts val="0"/>
              </a:spcAft>
              <a:buSzPts val="1100"/>
              <a:buChar char="○"/>
            </a:pPr>
            <a:r>
              <a:rPr lang="sk-SK"/>
              <a:t>Pracuje na všetkých moderných prehliadačoch (aj mobilných)</a:t>
            </a:r>
          </a:p>
          <a:p>
            <a:pPr marL="457200" lvl="0" indent="-330200" algn="l" rtl="0">
              <a:spcBef>
                <a:spcPts val="0"/>
              </a:spcBef>
              <a:spcAft>
                <a:spcPts val="0"/>
              </a:spcAft>
              <a:buSzPts val="1600"/>
              <a:buChar char="●"/>
            </a:pPr>
            <a:r>
              <a:rPr lang="sk-SK"/>
              <a:t>Postavený na otvorených štandardoch</a:t>
            </a:r>
          </a:p>
          <a:p>
            <a:pPr marL="457200" lvl="0" indent="-330200" algn="l" rtl="0">
              <a:spcBef>
                <a:spcPts val="0"/>
              </a:spcBef>
              <a:spcAft>
                <a:spcPts val="0"/>
              </a:spcAft>
              <a:buSzPts val="1600"/>
              <a:buChar char="●"/>
            </a:pPr>
            <a:r>
              <a:rPr lang="sk-SK"/>
              <a:t>Nie je nutné načítanie celého dokumentu</a:t>
            </a:r>
          </a:p>
          <a:p>
            <a:pPr marL="914400" lvl="1" indent="-298450" algn="l" rtl="0">
              <a:spcBef>
                <a:spcPts val="0"/>
              </a:spcBef>
              <a:spcAft>
                <a:spcPts val="0"/>
              </a:spcAft>
              <a:buSzPts val="1100"/>
              <a:buChar char="○"/>
            </a:pPr>
            <a:r>
              <a:rPr lang="sk-SK"/>
              <a:t>Príjemnejšia práca pre používateľa</a:t>
            </a:r>
          </a:p>
          <a:p>
            <a:pPr marL="914400" lvl="1" indent="-298450" algn="l" rtl="0">
              <a:spcBef>
                <a:spcPts val="0"/>
              </a:spcBef>
              <a:spcAft>
                <a:spcPts val="0"/>
              </a:spcAft>
              <a:buSzPts val="1100"/>
              <a:buChar char="○"/>
            </a:pPr>
            <a:r>
              <a:rPr lang="sk-SK"/>
              <a:t>Zrýchlenie aplikácie</a:t>
            </a:r>
          </a:p>
          <a:p>
            <a:pPr marL="914400" lvl="1" indent="-298450" algn="l" rtl="0">
              <a:spcBef>
                <a:spcPts val="0"/>
              </a:spcBef>
              <a:spcAft>
                <a:spcPts val="0"/>
              </a:spcAft>
              <a:buSzPts val="1100"/>
              <a:buChar char="○"/>
            </a:pPr>
            <a:r>
              <a:rPr lang="sk-SK"/>
              <a:t>Menší objem prenesených dát</a:t>
            </a:r>
          </a:p>
          <a:p>
            <a:pPr marL="457200" lvl="0" indent="-330200" algn="l" rtl="0">
              <a:spcBef>
                <a:spcPts val="0"/>
              </a:spcBef>
              <a:spcAft>
                <a:spcPts val="0"/>
              </a:spcAft>
              <a:buSzPts val="1600"/>
              <a:buChar char="●"/>
            </a:pPr>
            <a:r>
              <a:rPr lang="sk-SK"/>
              <a:t>Správanie podobné desktopovej aplikácii</a:t>
            </a:r>
          </a:p>
        </p:txBody>
      </p:sp>
      <p:sp>
        <p:nvSpPr>
          <p:cNvPr id="283" name="Google Shape;283;p38"/>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23</a:t>
            </a:fld>
            <a:endParaRPr lang="sk-SK"/>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1"/>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Ako AJAX pracuje</a:t>
            </a:r>
          </a:p>
        </p:txBody>
      </p:sp>
      <p:sp>
        <p:nvSpPr>
          <p:cNvPr id="303" name="Google Shape;303;p41"/>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24</a:t>
            </a:fld>
            <a:endParaRPr lang="sk-SK"/>
          </a:p>
        </p:txBody>
      </p:sp>
      <p:pic>
        <p:nvPicPr>
          <p:cNvPr id="304" name="Google Shape;304;p41"/>
          <p:cNvPicPr preferRelativeResize="0"/>
          <p:nvPr/>
        </p:nvPicPr>
        <p:blipFill>
          <a:blip r:embed="rId3">
            <a:alphaModFix/>
          </a:blip>
          <a:stretch>
            <a:fillRect/>
          </a:stretch>
        </p:blipFill>
        <p:spPr>
          <a:xfrm>
            <a:off x="2268386" y="1608850"/>
            <a:ext cx="4607224" cy="2623450"/>
          </a:xfrm>
          <a:prstGeom prst="rect">
            <a:avLst/>
          </a:prstGeom>
          <a:noFill/>
          <a:ln>
            <a:noFill/>
          </a:ln>
        </p:spPr>
      </p:pic>
      <p:sp>
        <p:nvSpPr>
          <p:cNvPr id="305" name="Google Shape;305;p41"/>
          <p:cNvSpPr txBox="1"/>
          <p:nvPr/>
        </p:nvSpPr>
        <p:spPr>
          <a:xfrm>
            <a:off x="7461290" y="4605775"/>
            <a:ext cx="1194560" cy="2739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Clr>
                <a:schemeClr val="dk1"/>
              </a:buClr>
              <a:buSzPts val="1100"/>
              <a:buFont typeface="Arial"/>
              <a:buNone/>
            </a:pPr>
            <a:r>
              <a:rPr lang="sk-SK" sz="900" dirty="0">
                <a:solidFill>
                  <a:schemeClr val="dk1"/>
                </a:solidFill>
                <a:latin typeface="Cabin" panose="020B0604020202020204"/>
              </a:rPr>
              <a:t>Zdroj:</a:t>
            </a:r>
            <a:r>
              <a:rPr lang="sk-SK" sz="900" dirty="0">
                <a:solidFill>
                  <a:schemeClr val="dk1"/>
                </a:solidFill>
                <a:uFill>
                  <a:noFill/>
                </a:uFill>
                <a:latin typeface="Cabin" panose="020B0604020202020204"/>
                <a:hlinkClick r:id="rId4">
                  <a:extLst>
                    <a:ext uri="{A12FA001-AC4F-418D-AE19-62706E023703}">
                      <ahyp:hlinkClr xmlns:ahyp="http://schemas.microsoft.com/office/drawing/2018/hyperlinkcolor" val="tx"/>
                    </a:ext>
                  </a:extLst>
                </a:hlinkClick>
              </a:rPr>
              <a:t> </a:t>
            </a:r>
            <a:r>
              <a:rPr lang="sk-SK" sz="900" u="sng" dirty="0">
                <a:solidFill>
                  <a:schemeClr val="hlink"/>
                </a:solidFill>
                <a:latin typeface="Cabin" panose="020B0604020202020204"/>
                <a:hlinkClick r:id="rId4"/>
              </a:rPr>
              <a:t>w3schools.com</a:t>
            </a:r>
          </a:p>
          <a:p>
            <a:pPr marL="0" lvl="0" indent="0" algn="r" rtl="0">
              <a:spcBef>
                <a:spcPts val="0"/>
              </a:spcBef>
              <a:spcAft>
                <a:spcPts val="0"/>
              </a:spcAft>
              <a:buNone/>
            </a:pPr>
            <a:endParaRPr lang="sk-SK" sz="900" dirty="0">
              <a:latin typeface="Cabin"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2"/>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Objekt </a:t>
            </a:r>
            <a:r>
              <a:rPr lang="sk-SK" sz="2400">
                <a:latin typeface="Roboto Mono"/>
                <a:ea typeface="Roboto Mono"/>
                <a:cs typeface="Roboto Mono"/>
                <a:sym typeface="Roboto Mono"/>
              </a:rPr>
              <a:t>XMLHttpRequest</a:t>
            </a:r>
          </a:p>
        </p:txBody>
      </p:sp>
      <p:sp>
        <p:nvSpPr>
          <p:cNvPr id="311" name="Google Shape;311;p42"/>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Základný objekt na klient/server komunikáciu</a:t>
            </a:r>
          </a:p>
          <a:p>
            <a:pPr marL="457200" lvl="0" indent="-330200" algn="l" rtl="0">
              <a:spcBef>
                <a:spcPts val="0"/>
              </a:spcBef>
              <a:spcAft>
                <a:spcPts val="0"/>
              </a:spcAft>
              <a:buSzPts val="1600"/>
              <a:buChar char="●"/>
            </a:pPr>
            <a:r>
              <a:rPr lang="sk-SK" dirty="0"/>
              <a:t>Príklad na vytvorenie inštancie objektu:</a:t>
            </a:r>
          </a:p>
          <a:p>
            <a:pPr marL="0" lvl="0" indent="0" algn="l" rtl="0">
              <a:spcBef>
                <a:spcPts val="500"/>
              </a:spcBef>
              <a:spcAft>
                <a:spcPts val="500"/>
              </a:spcAft>
              <a:buNone/>
            </a:pPr>
            <a:r>
              <a:rPr lang="sk-SK" sz="1200" dirty="0">
                <a:solidFill>
                  <a:schemeClr val="dk1"/>
                </a:solidFill>
                <a:latin typeface="Roboto Mono"/>
                <a:ea typeface="Roboto Mono"/>
                <a:cs typeface="Roboto Mono"/>
                <a:sym typeface="Roboto Mono"/>
              </a:rPr>
              <a:t>  	</a:t>
            </a:r>
            <a:br>
              <a:rPr lang="sk-SK" sz="1200" dirty="0">
                <a:solidFill>
                  <a:schemeClr val="dk1"/>
                </a:solidFill>
                <a:latin typeface="Roboto Mono"/>
                <a:ea typeface="Roboto Mono"/>
                <a:cs typeface="Roboto Mono"/>
                <a:sym typeface="Roboto Mono"/>
              </a:rPr>
            </a:br>
            <a:r>
              <a:rPr lang="sk-SK" sz="1200" dirty="0">
                <a:solidFill>
                  <a:schemeClr val="dk1"/>
                </a:solidFill>
                <a:latin typeface="Roboto Mono"/>
                <a:ea typeface="Roboto Mono"/>
                <a:cs typeface="Roboto Mono"/>
                <a:sym typeface="Roboto Mono"/>
              </a:rPr>
              <a:t>	</a:t>
            </a:r>
            <a:endParaRPr lang="sk-SK" sz="1200" dirty="0">
              <a:latin typeface="Roboto Mono"/>
              <a:ea typeface="Roboto Mono"/>
              <a:cs typeface="Roboto Mono"/>
              <a:sym typeface="Roboto Mono"/>
            </a:endParaRPr>
          </a:p>
        </p:txBody>
      </p:sp>
      <p:sp>
        <p:nvSpPr>
          <p:cNvPr id="312" name="Google Shape;312;p42"/>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25</a:t>
            </a:fld>
            <a:endParaRPr lang="sk-SK"/>
          </a:p>
        </p:txBody>
      </p:sp>
      <p:sp>
        <p:nvSpPr>
          <p:cNvPr id="2" name="Rectangle 1">
            <a:extLst>
              <a:ext uri="{FF2B5EF4-FFF2-40B4-BE49-F238E27FC236}">
                <a16:creationId xmlns:a16="http://schemas.microsoft.com/office/drawing/2014/main" id="{DB317143-D2D5-4FF1-8C1E-992A67F83636}"/>
              </a:ext>
            </a:extLst>
          </p:cNvPr>
          <p:cNvSpPr>
            <a:spLocks noChangeArrowheads="1"/>
          </p:cNvSpPr>
          <p:nvPr/>
        </p:nvSpPr>
        <p:spPr bwMode="auto">
          <a:xfrm>
            <a:off x="873760" y="2335460"/>
            <a:ext cx="3498073"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k-SK" altLang="sk-SK" sz="1200" b="0" i="0" u="none" strike="noStrike" cap="none" normalizeH="0" baseline="0" dirty="0">
                <a:ln>
                  <a:noFill/>
                </a:ln>
                <a:solidFill>
                  <a:srgbClr val="0033B3"/>
                </a:solidFill>
                <a:effectLst/>
                <a:latin typeface="Consolas" panose="020B0609020204030204" pitchFamily="49" charset="0"/>
              </a:rPr>
              <a:t>let </a:t>
            </a:r>
            <a:r>
              <a:rPr kumimoji="0" lang="sk-SK" altLang="sk-SK" sz="1200" b="0" i="0" u="none" strike="noStrike" cap="none" normalizeH="0" baseline="0" dirty="0" err="1">
                <a:ln>
                  <a:noFill/>
                </a:ln>
                <a:solidFill>
                  <a:srgbClr val="830091"/>
                </a:solidFill>
                <a:effectLst/>
                <a:latin typeface="Consolas" panose="020B0609020204030204" pitchFamily="49" charset="0"/>
              </a:rPr>
              <a:t>xml</a:t>
            </a:r>
            <a:r>
              <a:rPr kumimoji="0" lang="en-US" altLang="sk-SK" sz="1200" b="0" i="0" u="none" strike="noStrike" cap="none" normalizeH="0" baseline="0" dirty="0">
                <a:ln>
                  <a:noFill/>
                </a:ln>
                <a:solidFill>
                  <a:srgbClr val="830091"/>
                </a:solidFill>
                <a:effectLst/>
                <a:latin typeface="Consolas" panose="020B0609020204030204" pitchFamily="49" charset="0"/>
              </a:rPr>
              <a:t>H</a:t>
            </a:r>
            <a:r>
              <a:rPr kumimoji="0" lang="sk-SK" altLang="sk-SK" sz="1200" b="0" i="0" u="none" strike="noStrike" cap="none" normalizeH="0" baseline="0" dirty="0" err="1">
                <a:ln>
                  <a:noFill/>
                </a:ln>
                <a:solidFill>
                  <a:srgbClr val="830091"/>
                </a:solidFill>
                <a:effectLst/>
                <a:latin typeface="Consolas" panose="020B0609020204030204" pitchFamily="49" charset="0"/>
              </a:rPr>
              <a:t>ttp</a:t>
            </a:r>
            <a:r>
              <a:rPr kumimoji="0" lang="en-US" altLang="sk-SK" sz="1200" b="0" i="0" u="none" strike="noStrike" cap="none" normalizeH="0" baseline="0" dirty="0">
                <a:ln>
                  <a:noFill/>
                </a:ln>
                <a:solidFill>
                  <a:srgbClr val="830091"/>
                </a:solidFill>
                <a:effectLst/>
                <a:latin typeface="Consolas" panose="020B0609020204030204" pitchFamily="49" charset="0"/>
              </a:rPr>
              <a:t>Req</a:t>
            </a:r>
            <a:r>
              <a:rPr kumimoji="0" lang="sk-SK" altLang="sk-SK" sz="1200" b="0" i="0" u="none" strike="noStrike" cap="none" normalizeH="0" baseline="0" dirty="0">
                <a:ln>
                  <a:noFill/>
                </a:ln>
                <a:solidFill>
                  <a:srgbClr val="830091"/>
                </a:solidFill>
                <a:effectLst/>
                <a:latin typeface="Consolas" panose="020B0609020204030204" pitchFamily="49" charset="0"/>
              </a:rPr>
              <a:t> </a:t>
            </a:r>
            <a:r>
              <a:rPr kumimoji="0" lang="sk-SK" altLang="sk-SK" sz="1200" b="0" i="0" u="none" strike="noStrike" cap="none" normalizeH="0" baseline="0" dirty="0">
                <a:ln>
                  <a:noFill/>
                </a:ln>
                <a:solidFill>
                  <a:srgbClr val="080808"/>
                </a:solidFill>
                <a:effectLst/>
                <a:latin typeface="Consolas" panose="020B0609020204030204" pitchFamily="49" charset="0"/>
              </a:rPr>
              <a:t>= </a:t>
            </a:r>
            <a:r>
              <a:rPr kumimoji="0" lang="sk-SK" altLang="sk-SK" sz="1200" b="0" i="0" u="none" strike="noStrike" cap="none" normalizeH="0" baseline="0" dirty="0">
                <a:ln>
                  <a:noFill/>
                </a:ln>
                <a:solidFill>
                  <a:srgbClr val="0033B3"/>
                </a:solidFill>
                <a:effectLst/>
                <a:latin typeface="Consolas" panose="020B0609020204030204" pitchFamily="49" charset="0"/>
              </a:rPr>
              <a:t>new </a:t>
            </a:r>
            <a:r>
              <a:rPr kumimoji="0" lang="sk-SK" altLang="sk-SK" sz="1200" b="0" i="0" u="none" strike="noStrike" cap="none" normalizeH="0" baseline="0" dirty="0" err="1">
                <a:ln>
                  <a:noFill/>
                </a:ln>
                <a:solidFill>
                  <a:srgbClr val="830091"/>
                </a:solidFill>
                <a:effectLst/>
                <a:latin typeface="Consolas" panose="020B0609020204030204" pitchFamily="49" charset="0"/>
              </a:rPr>
              <a:t>XMLHttpRequest</a:t>
            </a:r>
            <a:r>
              <a:rPr kumimoji="0" lang="sk-SK" altLang="sk-SK" sz="1200" b="0" i="0" u="none" strike="noStrike" cap="none" normalizeH="0" baseline="0" dirty="0">
                <a:ln>
                  <a:noFill/>
                </a:ln>
                <a:solidFill>
                  <a:srgbClr val="080808"/>
                </a:solidFill>
                <a:effectLst/>
                <a:latin typeface="Consolas" panose="020B0609020204030204" pitchFamily="49" charset="0"/>
              </a:rPr>
              <a:t>();</a:t>
            </a:r>
            <a:endParaRPr kumimoji="0" lang="sk-SK" altLang="sk-SK" sz="1200" b="0" i="0" u="none" strike="noStrike" cap="none" normalizeH="0" baseline="0" dirty="0">
              <a:ln>
                <a:noFill/>
              </a:ln>
              <a:solidFill>
                <a:schemeClr val="tx1"/>
              </a:solidFill>
              <a:effectLst/>
              <a:latin typeface="Consolas" panose="020B0609020204030204" pitchFamily="49" charset="0"/>
            </a:endParaRPr>
          </a:p>
        </p:txBody>
      </p:sp>
      <p:pic>
        <p:nvPicPr>
          <p:cNvPr id="4" name="Obrázok 3" descr="Obrázok, na ktorom je text, ľudská tvár, chlap, osoba&#10;&#10;Obsah vygenerovaný pomocou AI môže byť nesprávny.">
            <a:extLst>
              <a:ext uri="{FF2B5EF4-FFF2-40B4-BE49-F238E27FC236}">
                <a16:creationId xmlns:a16="http://schemas.microsoft.com/office/drawing/2014/main" id="{E6B2ECC1-DD77-A798-C835-06B0891701B4}"/>
              </a:ext>
            </a:extLst>
          </p:cNvPr>
          <p:cNvPicPr>
            <a:picLocks noChangeAspect="1"/>
          </p:cNvPicPr>
          <p:nvPr/>
        </p:nvPicPr>
        <p:blipFill>
          <a:blip r:embed="rId3"/>
          <a:stretch>
            <a:fillRect/>
          </a:stretch>
        </p:blipFill>
        <p:spPr>
          <a:xfrm>
            <a:off x="6138407" y="1404170"/>
            <a:ext cx="2673743" cy="339565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3"/>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Odoslanie žiadosti na server</a:t>
            </a:r>
          </a:p>
        </p:txBody>
      </p:sp>
      <p:sp>
        <p:nvSpPr>
          <p:cNvPr id="318" name="Google Shape;318;p43"/>
          <p:cNvSpPr txBox="1">
            <a:spLocks noGrp="1"/>
          </p:cNvSpPr>
          <p:nvPr>
            <p:ph type="body" idx="1"/>
          </p:nvPr>
        </p:nvSpPr>
        <p:spPr>
          <a:xfrm>
            <a:off x="435894" y="1629022"/>
            <a:ext cx="8272200" cy="2941708"/>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Volanie metód objektu </a:t>
            </a:r>
            <a:r>
              <a:rPr lang="sk-SK" sz="1400" dirty="0" err="1">
                <a:latin typeface="Consolas" panose="020B0609020204030204" pitchFamily="49" charset="0"/>
              </a:rPr>
              <a:t>XMLHttpRequest</a:t>
            </a:r>
            <a:endParaRPr lang="sk-SK" sz="1400" dirty="0">
              <a:latin typeface="Consolas" panose="020B0609020204030204" pitchFamily="49" charset="0"/>
            </a:endParaRPr>
          </a:p>
          <a:p>
            <a:pPr marL="457200" lvl="0" indent="-330200" algn="l" rtl="0">
              <a:spcBef>
                <a:spcPts val="300"/>
              </a:spcBef>
              <a:spcAft>
                <a:spcPts val="0"/>
              </a:spcAft>
              <a:buSzPts val="1600"/>
              <a:buChar char="●"/>
            </a:pPr>
            <a:r>
              <a:rPr lang="sk-SK" dirty="0"/>
              <a:t>Metóda </a:t>
            </a:r>
            <a:r>
              <a:rPr lang="en-US" sz="1400" dirty="0">
                <a:latin typeface="Consolas" panose="020B0609020204030204" pitchFamily="49" charset="0"/>
              </a:rPr>
              <a:t>open(method, </a:t>
            </a:r>
            <a:r>
              <a:rPr lang="en-US" sz="1400" dirty="0" err="1">
                <a:latin typeface="Consolas" panose="020B0609020204030204" pitchFamily="49" charset="0"/>
              </a:rPr>
              <a:t>url</a:t>
            </a:r>
            <a:r>
              <a:rPr lang="en-US" sz="1400" dirty="0">
                <a:latin typeface="Consolas" panose="020B0609020204030204" pitchFamily="49" charset="0"/>
              </a:rPr>
              <a:t>, async)</a:t>
            </a:r>
          </a:p>
          <a:p>
            <a:pPr lvl="1">
              <a:spcBef>
                <a:spcPts val="0"/>
              </a:spcBef>
            </a:pPr>
            <a:r>
              <a:rPr lang="en-US" sz="1200" dirty="0">
                <a:latin typeface="Consolas" panose="020B0609020204030204" pitchFamily="49" charset="0"/>
              </a:rPr>
              <a:t>method</a:t>
            </a:r>
            <a:r>
              <a:rPr lang="en-US" dirty="0"/>
              <a:t> – </a:t>
            </a:r>
            <a:r>
              <a:rPr lang="sk-SK" sz="1200" dirty="0">
                <a:latin typeface="Consolas" panose="020B0609020204030204" pitchFamily="49" charset="0"/>
              </a:rPr>
              <a:t>GET</a:t>
            </a:r>
            <a:r>
              <a:rPr lang="sk-SK" dirty="0"/>
              <a:t>, </a:t>
            </a:r>
            <a:r>
              <a:rPr lang="sk-SK" sz="1200" dirty="0">
                <a:latin typeface="Consolas" panose="020B0609020204030204" pitchFamily="49" charset="0"/>
              </a:rPr>
              <a:t>POST</a:t>
            </a:r>
            <a:r>
              <a:rPr lang="sk-SK" dirty="0"/>
              <a:t>, </a:t>
            </a:r>
            <a:r>
              <a:rPr lang="sk-SK" sz="1200" dirty="0">
                <a:latin typeface="Consolas" panose="020B0609020204030204" pitchFamily="49" charset="0"/>
              </a:rPr>
              <a:t>PUT</a:t>
            </a:r>
            <a:r>
              <a:rPr lang="sk-SK" dirty="0"/>
              <a:t>, </a:t>
            </a:r>
            <a:r>
              <a:rPr lang="sk-SK" sz="1200" dirty="0">
                <a:latin typeface="Consolas" panose="020B0609020204030204" pitchFamily="49" charset="0"/>
              </a:rPr>
              <a:t>DELETE</a:t>
            </a:r>
            <a:endParaRPr lang="sk-SK" dirty="0"/>
          </a:p>
          <a:p>
            <a:pPr lvl="1">
              <a:spcBef>
                <a:spcPts val="0"/>
              </a:spcBef>
            </a:pPr>
            <a:r>
              <a:rPr lang="en-US" sz="1200" dirty="0" err="1">
                <a:latin typeface="Consolas" panose="020B0609020204030204" pitchFamily="49" charset="0"/>
              </a:rPr>
              <a:t>url</a:t>
            </a:r>
            <a:r>
              <a:rPr lang="en-US" dirty="0"/>
              <a:t> – </a:t>
            </a:r>
            <a:r>
              <a:rPr lang="sk-SK" dirty="0"/>
              <a:t>adresa, kde sa nachádza odpoveď</a:t>
            </a:r>
          </a:p>
          <a:p>
            <a:pPr lvl="1">
              <a:spcBef>
                <a:spcPts val="0"/>
              </a:spcBef>
            </a:pPr>
            <a:r>
              <a:rPr lang="en-US" sz="1200" dirty="0">
                <a:latin typeface="Consolas" panose="020B0609020204030204" pitchFamily="49" charset="0"/>
              </a:rPr>
              <a:t>async</a:t>
            </a:r>
            <a:r>
              <a:rPr lang="en-US" dirty="0"/>
              <a:t> – </a:t>
            </a:r>
            <a:r>
              <a:rPr lang="sk-SK" dirty="0"/>
              <a:t>synchrónny</a:t>
            </a:r>
            <a:r>
              <a:rPr lang="en-US" dirty="0"/>
              <a:t> </a:t>
            </a:r>
            <a:r>
              <a:rPr lang="sk-SK" dirty="0"/>
              <a:t>alebo asynchrónny prenos dát</a:t>
            </a:r>
            <a:r>
              <a:rPr lang="en-US" dirty="0"/>
              <a:t> </a:t>
            </a:r>
            <a:endParaRPr lang="sk-SK" dirty="0"/>
          </a:p>
          <a:p>
            <a:pPr marL="457200" lvl="0" indent="-330200" algn="l" rtl="0">
              <a:spcBef>
                <a:spcPts val="300"/>
              </a:spcBef>
              <a:spcAft>
                <a:spcPts val="0"/>
              </a:spcAft>
              <a:buSzPts val="1600"/>
              <a:buChar char="●"/>
            </a:pPr>
            <a:r>
              <a:rPr lang="sk-SK" dirty="0"/>
              <a:t>Metóda </a:t>
            </a:r>
            <a:r>
              <a:rPr lang="en-US" sz="1400" dirty="0">
                <a:latin typeface="Consolas" panose="020B0609020204030204" pitchFamily="49" charset="0"/>
              </a:rPr>
              <a:t>send</a:t>
            </a:r>
            <a:r>
              <a:rPr lang="sk-SK" sz="1400" dirty="0">
                <a:latin typeface="Consolas" panose="020B0609020204030204" pitchFamily="49" charset="0"/>
              </a:rPr>
              <a:t>(</a:t>
            </a:r>
            <a:r>
              <a:rPr lang="en-US" sz="1400" dirty="0">
                <a:latin typeface="Consolas" panose="020B0609020204030204" pitchFamily="49" charset="0"/>
              </a:rPr>
              <a:t>params</a:t>
            </a:r>
            <a:r>
              <a:rPr lang="sk-SK" sz="1400" dirty="0">
                <a:latin typeface="Consolas" panose="020B0609020204030204" pitchFamily="49" charset="0"/>
              </a:rPr>
              <a:t>)</a:t>
            </a:r>
            <a:endParaRPr lang="en-US" sz="1400" dirty="0">
              <a:latin typeface="Consolas" panose="020B0609020204030204" pitchFamily="49" charset="0"/>
            </a:endParaRPr>
          </a:p>
          <a:p>
            <a:pPr lvl="1">
              <a:spcBef>
                <a:spcPts val="0"/>
              </a:spcBef>
            </a:pPr>
            <a:r>
              <a:rPr lang="en-US" sz="1200" dirty="0">
                <a:latin typeface="Consolas" panose="020B0609020204030204" pitchFamily="49" charset="0"/>
              </a:rPr>
              <a:t>params</a:t>
            </a:r>
            <a:r>
              <a:rPr lang="en-US" dirty="0"/>
              <a:t> – </a:t>
            </a:r>
            <a:r>
              <a:rPr lang="sk-SK" dirty="0"/>
              <a:t>parametre</a:t>
            </a:r>
            <a:r>
              <a:rPr lang="en-US" dirty="0"/>
              <a:t> </a:t>
            </a:r>
            <a:r>
              <a:rPr lang="sk-SK" dirty="0"/>
              <a:t>pri</a:t>
            </a:r>
            <a:r>
              <a:rPr lang="en-US" dirty="0"/>
              <a:t> met</a:t>
            </a:r>
            <a:r>
              <a:rPr lang="sk-SK" dirty="0"/>
              <a:t>ó</a:t>
            </a:r>
            <a:r>
              <a:rPr lang="en-US" dirty="0"/>
              <a:t>de </a:t>
            </a:r>
            <a:r>
              <a:rPr lang="en-US" sz="1200" dirty="0">
                <a:latin typeface="Consolas" panose="020B0609020204030204" pitchFamily="49" charset="0"/>
              </a:rPr>
              <a:t>POST</a:t>
            </a:r>
            <a:endParaRPr lang="sk-SK" sz="1200" dirty="0">
              <a:latin typeface="Consolas" panose="020B0609020204030204" pitchFamily="49" charset="0"/>
            </a:endParaRPr>
          </a:p>
          <a:p>
            <a:pPr marL="457200" lvl="0" indent="-330200" algn="l" rtl="0">
              <a:spcBef>
                <a:spcPts val="300"/>
              </a:spcBef>
              <a:spcAft>
                <a:spcPts val="0"/>
              </a:spcAft>
              <a:buSzPts val="1600"/>
              <a:buChar char="●"/>
            </a:pPr>
            <a:r>
              <a:rPr lang="sk-SK" dirty="0"/>
              <a:t>Voliteľne metóda </a:t>
            </a:r>
            <a:r>
              <a:rPr lang="en-US" sz="1400" dirty="0" err="1">
                <a:latin typeface="Consolas" panose="020B0609020204030204" pitchFamily="49" charset="0"/>
              </a:rPr>
              <a:t>setRequestHeader</a:t>
            </a:r>
            <a:r>
              <a:rPr lang="sk-SK" sz="1400" dirty="0">
                <a:latin typeface="Consolas" panose="020B0609020204030204" pitchFamily="49" charset="0"/>
              </a:rPr>
              <a:t>(</a:t>
            </a:r>
            <a:r>
              <a:rPr lang="en-US" sz="1400" dirty="0">
                <a:latin typeface="Consolas" panose="020B0609020204030204" pitchFamily="49" charset="0"/>
              </a:rPr>
              <a:t>header</a:t>
            </a:r>
            <a:r>
              <a:rPr lang="sk-SK" sz="1400" dirty="0">
                <a:latin typeface="Consolas" panose="020B0609020204030204" pitchFamily="49" charset="0"/>
              </a:rPr>
              <a:t>, </a:t>
            </a:r>
            <a:r>
              <a:rPr lang="en-US" sz="1400" dirty="0">
                <a:latin typeface="Consolas" panose="020B0609020204030204" pitchFamily="49" charset="0"/>
              </a:rPr>
              <a:t>value</a:t>
            </a:r>
            <a:r>
              <a:rPr lang="sk-SK" sz="1400" dirty="0">
                <a:latin typeface="Consolas" panose="020B0609020204030204" pitchFamily="49" charset="0"/>
              </a:rPr>
              <a:t>)</a:t>
            </a:r>
          </a:p>
          <a:p>
            <a:pPr lvl="1">
              <a:spcBef>
                <a:spcPts val="0"/>
              </a:spcBef>
            </a:pPr>
            <a:r>
              <a:rPr lang="en-US" sz="1200" dirty="0">
                <a:latin typeface="Consolas" panose="020B0609020204030204" pitchFamily="49" charset="0"/>
              </a:rPr>
              <a:t>header</a:t>
            </a:r>
            <a:r>
              <a:rPr lang="sk-SK" dirty="0"/>
              <a:t> – názov HTTP hlavičky</a:t>
            </a:r>
          </a:p>
          <a:p>
            <a:pPr lvl="1">
              <a:spcBef>
                <a:spcPts val="0"/>
              </a:spcBef>
            </a:pPr>
            <a:r>
              <a:rPr lang="en-US" sz="1200" dirty="0">
                <a:latin typeface="Consolas" panose="020B0609020204030204" pitchFamily="49" charset="0"/>
              </a:rPr>
              <a:t>value</a:t>
            </a:r>
            <a:r>
              <a:rPr lang="sk-SK" dirty="0"/>
              <a:t> – hodnota HTTP hlavičky</a:t>
            </a:r>
          </a:p>
          <a:p>
            <a:pPr lvl="1" indent="-330200">
              <a:spcBef>
                <a:spcPts val="300"/>
              </a:spcBef>
              <a:buSzPts val="1600"/>
              <a:buChar char="●"/>
            </a:pPr>
            <a:endParaRPr lang="sk-SK" dirty="0"/>
          </a:p>
        </p:txBody>
      </p:sp>
      <p:sp>
        <p:nvSpPr>
          <p:cNvPr id="319" name="Google Shape;319;p43"/>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26</a:t>
            </a:fld>
            <a:endParaRPr lang="sk-SK"/>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5"/>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Udalosť </a:t>
            </a:r>
            <a:r>
              <a:rPr lang="sk-SK" sz="2800">
                <a:latin typeface="Consolas" panose="020B0609020204030204" pitchFamily="49" charset="0"/>
                <a:ea typeface="Roboto Mono"/>
                <a:cs typeface="Roboto Mono"/>
                <a:sym typeface="Roboto Mono"/>
              </a:rPr>
              <a:t>onReadyStateChange</a:t>
            </a:r>
          </a:p>
        </p:txBody>
      </p:sp>
      <p:sp>
        <p:nvSpPr>
          <p:cNvPr id="332" name="Google Shape;332;p45"/>
          <p:cNvSpPr txBox="1">
            <a:spLocks noGrp="1"/>
          </p:cNvSpPr>
          <p:nvPr>
            <p:ph type="body" idx="1"/>
          </p:nvPr>
        </p:nvSpPr>
        <p:spPr>
          <a:xfrm>
            <a:off x="435900" y="1635375"/>
            <a:ext cx="8272200" cy="3016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Informácie o odpovedi zo servera </a:t>
            </a:r>
          </a:p>
          <a:p>
            <a:pPr marL="914400" lvl="1" indent="-298450" algn="l" rtl="0">
              <a:spcBef>
                <a:spcPts val="0"/>
              </a:spcBef>
              <a:spcAft>
                <a:spcPts val="0"/>
              </a:spcAft>
              <a:buSzPts val="1100"/>
              <a:buChar char="○"/>
            </a:pPr>
            <a:r>
              <a:rPr lang="sk-SK" dirty="0"/>
              <a:t>Udalosť zmeny stavu odpovede </a:t>
            </a:r>
            <a:r>
              <a:rPr lang="sk-SK" sz="1200" dirty="0" err="1">
                <a:latin typeface="Consolas" panose="020B0609020204030204" pitchFamily="49" charset="0"/>
                <a:ea typeface="Roboto Mono"/>
                <a:cs typeface="Roboto Mono"/>
                <a:sym typeface="Roboto Mono"/>
              </a:rPr>
              <a:t>readyState</a:t>
            </a:r>
            <a:endParaRPr lang="sk-SK" sz="1200" dirty="0">
              <a:latin typeface="Consolas" panose="020B0609020204030204" pitchFamily="49" charset="0"/>
              <a:ea typeface="Roboto Mono"/>
              <a:cs typeface="Roboto Mono"/>
              <a:sym typeface="Roboto Mono"/>
            </a:endParaRPr>
          </a:p>
          <a:p>
            <a:pPr marL="457200" lvl="0" indent="-330200" algn="l" rtl="0">
              <a:spcBef>
                <a:spcPts val="0"/>
              </a:spcBef>
              <a:spcAft>
                <a:spcPts val="0"/>
              </a:spcAft>
              <a:buSzPts val="1600"/>
              <a:buChar char="●"/>
            </a:pPr>
            <a:r>
              <a:rPr lang="sk-SK" dirty="0"/>
              <a:t>Atribúty objektu </a:t>
            </a:r>
            <a:r>
              <a:rPr lang="sk-SK" sz="1400" dirty="0" err="1">
                <a:latin typeface="Consolas" panose="020B0609020204030204" pitchFamily="49" charset="0"/>
                <a:ea typeface="Roboto Mono"/>
                <a:cs typeface="Roboto Mono"/>
                <a:sym typeface="Roboto Mono"/>
              </a:rPr>
              <a:t>XMLHttpRequest</a:t>
            </a:r>
            <a:r>
              <a:rPr lang="sk-SK" dirty="0"/>
              <a:t>:</a:t>
            </a:r>
          </a:p>
          <a:p>
            <a:pPr marL="914400" lvl="1" indent="-298450" algn="l" rtl="0">
              <a:spcBef>
                <a:spcPts val="0"/>
              </a:spcBef>
              <a:spcAft>
                <a:spcPts val="0"/>
              </a:spcAft>
              <a:buSzPts val="1100"/>
              <a:buChar char="○"/>
            </a:pPr>
            <a:r>
              <a:rPr lang="sk-SK" dirty="0"/>
              <a:t>Atribút </a:t>
            </a:r>
            <a:r>
              <a:rPr lang="sk-SK" sz="1200" dirty="0" err="1">
                <a:latin typeface="Consolas" panose="020B0609020204030204" pitchFamily="49" charset="0"/>
                <a:ea typeface="Roboto Mono"/>
                <a:sym typeface="Roboto Mono"/>
              </a:rPr>
              <a:t>onReadyStateChange</a:t>
            </a:r>
            <a:endParaRPr lang="sk-SK" sz="1200" dirty="0">
              <a:latin typeface="Consolas" panose="020B0609020204030204" pitchFamily="49" charset="0"/>
              <a:ea typeface="Roboto Mono"/>
            </a:endParaRPr>
          </a:p>
          <a:p>
            <a:pPr marL="914400" lvl="1" indent="-298450" algn="l" rtl="0">
              <a:spcBef>
                <a:spcPts val="0"/>
              </a:spcBef>
              <a:spcAft>
                <a:spcPts val="0"/>
              </a:spcAft>
              <a:buSzPts val="1100"/>
              <a:buChar char="○"/>
            </a:pPr>
            <a:r>
              <a:rPr lang="sk-SK" dirty="0"/>
              <a:t>Atribút </a:t>
            </a:r>
            <a:r>
              <a:rPr lang="sk-SK" sz="1200" dirty="0" err="1">
                <a:latin typeface="Consolas" panose="020B0609020204030204" pitchFamily="49" charset="0"/>
                <a:ea typeface="Roboto Mono"/>
                <a:sym typeface="Roboto Mono"/>
              </a:rPr>
              <a:t>readyState</a:t>
            </a:r>
            <a:endParaRPr lang="sk-SK" sz="1200" dirty="0">
              <a:latin typeface="Consolas" panose="020B0609020204030204" pitchFamily="49" charset="0"/>
              <a:ea typeface="Roboto Mono"/>
            </a:endParaRPr>
          </a:p>
          <a:p>
            <a:pPr marL="914400" lvl="1" indent="-298450" algn="l" rtl="0">
              <a:spcBef>
                <a:spcPts val="0"/>
              </a:spcBef>
              <a:spcAft>
                <a:spcPts val="0"/>
              </a:spcAft>
              <a:buSzPts val="1100"/>
              <a:buChar char="○"/>
            </a:pPr>
            <a:r>
              <a:rPr lang="sk-SK" dirty="0"/>
              <a:t>Atribút </a:t>
            </a:r>
            <a:r>
              <a:rPr lang="sk-SK" sz="1200" dirty="0">
                <a:latin typeface="Consolas" panose="020B0609020204030204" pitchFamily="49" charset="0"/>
                <a:ea typeface="Roboto Mono"/>
                <a:sym typeface="Roboto Mono"/>
              </a:rPr>
              <a:t>status</a:t>
            </a:r>
            <a:endParaRPr lang="sk-SK" sz="1200" dirty="0">
              <a:latin typeface="Consolas" panose="020B0609020204030204" pitchFamily="49" charset="0"/>
              <a:ea typeface="Roboto Mono"/>
            </a:endParaRPr>
          </a:p>
          <a:p>
            <a:pPr marL="457200" lvl="0" indent="-330200" algn="l" rtl="0">
              <a:spcBef>
                <a:spcPts val="0"/>
              </a:spcBef>
              <a:spcAft>
                <a:spcPts val="0"/>
              </a:spcAft>
              <a:buSzPts val="1600"/>
              <a:buChar char="●"/>
            </a:pPr>
            <a:r>
              <a:rPr lang="sk-SK" dirty="0"/>
              <a:t>Príklad: </a:t>
            </a:r>
            <a:br>
              <a:rPr lang="sk-SK" dirty="0"/>
            </a:br>
            <a:endParaRPr lang="sk-SK" sz="1200" dirty="0">
              <a:latin typeface="Roboto Mono"/>
              <a:ea typeface="Roboto Mono"/>
              <a:cs typeface="Roboto Mono"/>
              <a:sym typeface="Roboto Mono"/>
            </a:endParaRPr>
          </a:p>
        </p:txBody>
      </p:sp>
      <p:sp>
        <p:nvSpPr>
          <p:cNvPr id="333" name="Google Shape;333;p45"/>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27</a:t>
            </a:fld>
            <a:endParaRPr lang="sk-SK"/>
          </a:p>
        </p:txBody>
      </p:sp>
      <p:sp>
        <p:nvSpPr>
          <p:cNvPr id="2" name="Rectangle 1">
            <a:extLst>
              <a:ext uri="{FF2B5EF4-FFF2-40B4-BE49-F238E27FC236}">
                <a16:creationId xmlns:a16="http://schemas.microsoft.com/office/drawing/2014/main" id="{826178D5-F4C5-40C0-952A-C3982CBEDA2B}"/>
              </a:ext>
            </a:extLst>
          </p:cNvPr>
          <p:cNvSpPr>
            <a:spLocks noChangeArrowheads="1"/>
          </p:cNvSpPr>
          <p:nvPr/>
        </p:nvSpPr>
        <p:spPr bwMode="auto">
          <a:xfrm>
            <a:off x="953770" y="3571469"/>
            <a:ext cx="5878532" cy="1045414"/>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en-US" altLang="sk-SK" sz="1100" b="0" i="0" u="none" strike="noStrike" cap="none" normalizeH="0" baseline="0" dirty="0" err="1">
                <a:ln>
                  <a:noFill/>
                </a:ln>
                <a:solidFill>
                  <a:srgbClr val="080808"/>
                </a:solidFill>
                <a:effectLst/>
                <a:latin typeface="Consolas" panose="020B0609020204030204" pitchFamily="49" charset="0"/>
              </a:rPr>
              <a:t>xmlhttpReq</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onreadystatechange</a:t>
            </a:r>
            <a:r>
              <a:rPr kumimoji="0" lang="sk-SK" altLang="sk-SK" sz="1100" b="0" i="0" u="none" strike="noStrike" cap="none" normalizeH="0" baseline="0" dirty="0">
                <a:ln>
                  <a:noFill/>
                </a:ln>
                <a:solidFill>
                  <a:srgbClr val="7A7A4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function</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if</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en-US" altLang="sk-SK" sz="1100" b="0" i="0" u="none" strike="noStrike" cap="none" normalizeH="0" baseline="0" dirty="0" err="1">
                <a:ln>
                  <a:noFill/>
                </a:ln>
                <a:solidFill>
                  <a:srgbClr val="080808"/>
                </a:solidFill>
                <a:effectLst/>
                <a:latin typeface="Consolas" panose="020B0609020204030204" pitchFamily="49" charset="0"/>
              </a:rPr>
              <a:t>xmlhttpReq</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readyState</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1750EB"/>
                </a:solidFill>
                <a:effectLst/>
                <a:latin typeface="Consolas" panose="020B0609020204030204" pitchFamily="49" charset="0"/>
              </a:rPr>
              <a:t>4 </a:t>
            </a:r>
            <a:r>
              <a:rPr kumimoji="0" lang="sk-SK" altLang="sk-SK" sz="1100" b="0" i="0" u="none" strike="noStrike" cap="none" normalizeH="0" baseline="0" dirty="0">
                <a:ln>
                  <a:noFill/>
                </a:ln>
                <a:solidFill>
                  <a:srgbClr val="080808"/>
                </a:solidFill>
                <a:effectLst/>
                <a:latin typeface="Consolas" panose="020B0609020204030204" pitchFamily="49" charset="0"/>
              </a:rPr>
              <a:t>&amp;&amp; </a:t>
            </a:r>
            <a:r>
              <a:rPr kumimoji="0" lang="en-US" altLang="sk-SK" sz="1100" b="0" i="0" u="none" strike="noStrike" cap="none" normalizeH="0" baseline="0" dirty="0" err="1">
                <a:ln>
                  <a:noFill/>
                </a:ln>
                <a:solidFill>
                  <a:srgbClr val="080808"/>
                </a:solidFill>
                <a:effectLst/>
                <a:latin typeface="Consolas" panose="020B0609020204030204" pitchFamily="49" charset="0"/>
              </a:rPr>
              <a:t>xmlhttpReq</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871094"/>
                </a:solidFill>
                <a:effectLst/>
                <a:latin typeface="Consolas" panose="020B0609020204030204" pitchFamily="49" charset="0"/>
              </a:rPr>
              <a:t>status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1750EB"/>
                </a:solidFill>
                <a:effectLst/>
                <a:latin typeface="Consolas" panose="020B0609020204030204" pitchFamily="49" charset="0"/>
              </a:rPr>
              <a:t>200</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document</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getElementById</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err="1">
                <a:ln>
                  <a:noFill/>
                </a:ln>
                <a:solidFill>
                  <a:srgbClr val="067D17"/>
                </a:solidFill>
                <a:effectLst/>
                <a:latin typeface="Consolas" panose="020B0609020204030204" pitchFamily="49" charset="0"/>
              </a:rPr>
              <a:t>myDiv</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innerHTML</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80808"/>
                </a:solidFill>
                <a:effectLst/>
                <a:latin typeface="Consolas" panose="020B0609020204030204" pitchFamily="49" charset="0"/>
              </a:rPr>
              <a:t>xmlhttp.</a:t>
            </a:r>
            <a:r>
              <a:rPr kumimoji="0" lang="sk-SK" altLang="sk-SK" sz="1100" b="0" i="0" u="none" strike="noStrike" cap="none" normalizeH="0" baseline="0" dirty="0" err="1">
                <a:ln>
                  <a:noFill/>
                </a:ln>
                <a:solidFill>
                  <a:srgbClr val="871094"/>
                </a:solidFill>
                <a:effectLst/>
                <a:latin typeface="Consolas" panose="020B0609020204030204" pitchFamily="49" charset="0"/>
              </a:rPr>
              <a:t>responseText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sk-SK" altLang="sk-SK" sz="1100" b="0" i="0" u="none" strike="noStrike" cap="none" normalizeH="0" baseline="0" dirty="0">
              <a:ln>
                <a:noFill/>
              </a:ln>
              <a:solidFill>
                <a:schemeClr val="tx1"/>
              </a:solidFill>
              <a:effectLst/>
              <a:latin typeface="Consolas" panose="020B06090202040302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6"/>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Stavy a statusy odpovede</a:t>
            </a:r>
          </a:p>
        </p:txBody>
      </p:sp>
      <p:sp>
        <p:nvSpPr>
          <p:cNvPr id="339" name="Google Shape;339;p46"/>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Atribút </a:t>
            </a:r>
            <a:r>
              <a:rPr lang="sk-SK" sz="1400" dirty="0" err="1">
                <a:latin typeface="Consolas" panose="020B0609020204030204" pitchFamily="49" charset="0"/>
                <a:ea typeface="Roboto Mono"/>
                <a:cs typeface="Roboto Mono"/>
                <a:sym typeface="Roboto Mono"/>
              </a:rPr>
              <a:t>readyState</a:t>
            </a:r>
            <a:r>
              <a:rPr lang="sk-SK" dirty="0"/>
              <a:t> obsahuje stav žiadosti</a:t>
            </a:r>
          </a:p>
          <a:p>
            <a:pPr marL="457200" lvl="0" indent="-330200" algn="l" rtl="0">
              <a:spcBef>
                <a:spcPts val="0"/>
              </a:spcBef>
              <a:spcAft>
                <a:spcPts val="0"/>
              </a:spcAft>
              <a:buSzPts val="1600"/>
              <a:buChar char="●"/>
            </a:pPr>
            <a:endParaRPr lang="en-US" dirty="0"/>
          </a:p>
          <a:p>
            <a:pPr marL="457200" lvl="0" indent="-330200" algn="l" rtl="0">
              <a:spcBef>
                <a:spcPts val="0"/>
              </a:spcBef>
              <a:spcAft>
                <a:spcPts val="0"/>
              </a:spcAft>
              <a:buSzPts val="1600"/>
              <a:buChar char="●"/>
            </a:pPr>
            <a:endParaRPr lang="sk-SK" dirty="0"/>
          </a:p>
          <a:p>
            <a:pPr marL="457200" lvl="0" indent="-330200" algn="l" rtl="0">
              <a:spcBef>
                <a:spcPts val="0"/>
              </a:spcBef>
              <a:spcAft>
                <a:spcPts val="0"/>
              </a:spcAft>
              <a:buSzPts val="1600"/>
              <a:buChar char="●"/>
            </a:pPr>
            <a:endParaRPr lang="sk-SK" dirty="0"/>
          </a:p>
          <a:p>
            <a:pPr marL="457200" lvl="0" indent="-330200" algn="l" rtl="0">
              <a:spcBef>
                <a:spcPts val="0"/>
              </a:spcBef>
              <a:spcAft>
                <a:spcPts val="0"/>
              </a:spcAft>
              <a:buSzPts val="1600"/>
              <a:buChar char="●"/>
            </a:pPr>
            <a:endParaRPr lang="sk-SK" dirty="0"/>
          </a:p>
          <a:p>
            <a:pPr marL="457200" lvl="0" indent="-330200" algn="l" rtl="0">
              <a:spcBef>
                <a:spcPts val="0"/>
              </a:spcBef>
              <a:spcAft>
                <a:spcPts val="0"/>
              </a:spcAft>
              <a:buSzPts val="1600"/>
              <a:buChar char="●"/>
            </a:pPr>
            <a:endParaRPr lang="sk-SK" dirty="0"/>
          </a:p>
          <a:p>
            <a:pPr marL="457200" lvl="0" indent="-330200" algn="l" rtl="0">
              <a:spcBef>
                <a:spcPts val="0"/>
              </a:spcBef>
              <a:spcAft>
                <a:spcPts val="0"/>
              </a:spcAft>
              <a:buSzPts val="1600"/>
              <a:buChar char="●"/>
            </a:pPr>
            <a:endParaRPr lang="sk-SK" dirty="0"/>
          </a:p>
          <a:p>
            <a:pPr>
              <a:spcBef>
                <a:spcPts val="600"/>
              </a:spcBef>
            </a:pPr>
            <a:r>
              <a:rPr lang="sk-SK" dirty="0"/>
              <a:t>Atribút </a:t>
            </a:r>
            <a:r>
              <a:rPr lang="sk-SK" sz="1400" dirty="0">
                <a:latin typeface="Consolas" panose="020B0609020204030204" pitchFamily="49" charset="0"/>
                <a:sym typeface="Roboto Mono"/>
              </a:rPr>
              <a:t>status</a:t>
            </a:r>
            <a:r>
              <a:rPr lang="sk-SK" dirty="0"/>
              <a:t> obsahuje stavový kód odpovede servera</a:t>
            </a:r>
          </a:p>
          <a:p>
            <a:pPr marL="914400" lvl="1" indent="-304800" algn="l" rtl="0">
              <a:spcBef>
                <a:spcPts val="0"/>
              </a:spcBef>
              <a:spcAft>
                <a:spcPts val="0"/>
              </a:spcAft>
              <a:buSzPts val="1200"/>
              <a:buFont typeface="Roboto Mono"/>
              <a:buChar char="○"/>
            </a:pPr>
            <a:r>
              <a:rPr lang="sk-SK" dirty="0">
                <a:latin typeface="Cabin" panose="020B0604020202020204" charset="-18"/>
                <a:ea typeface="Roboto Mono"/>
                <a:sym typeface="Roboto Mono"/>
              </a:rPr>
              <a:t>Rovnako ako pri HTTP, napr. </a:t>
            </a:r>
            <a:r>
              <a:rPr lang="sk-SK" dirty="0">
                <a:latin typeface="Consolas" panose="020B0609020204030204" pitchFamily="49" charset="0"/>
                <a:ea typeface="Roboto Mono"/>
                <a:sym typeface="Roboto Mono"/>
              </a:rPr>
              <a:t>200 OK</a:t>
            </a:r>
            <a:r>
              <a:rPr lang="sk-SK" dirty="0">
                <a:latin typeface="Cabin" panose="020B0604020202020204" charset="-18"/>
                <a:ea typeface="Roboto Mono"/>
                <a:sym typeface="Roboto Mono"/>
              </a:rPr>
              <a:t>, </a:t>
            </a:r>
            <a:r>
              <a:rPr lang="sk-SK" dirty="0">
                <a:latin typeface="Consolas" panose="020B0609020204030204" pitchFamily="49" charset="0"/>
                <a:ea typeface="Roboto Mono"/>
                <a:sym typeface="Roboto Mono"/>
              </a:rPr>
              <a:t>404</a:t>
            </a:r>
            <a:r>
              <a:rPr lang="en-US" dirty="0">
                <a:latin typeface="Consolas" panose="020B0609020204030204" pitchFamily="49" charset="0"/>
                <a:ea typeface="Roboto Mono"/>
                <a:sym typeface="Roboto Mono"/>
              </a:rPr>
              <a:t> Page not</a:t>
            </a:r>
            <a:r>
              <a:rPr lang="sk-SK" dirty="0">
                <a:latin typeface="Consolas" panose="020B0609020204030204" pitchFamily="49" charset="0"/>
                <a:ea typeface="Roboto Mono"/>
                <a:sym typeface="Roboto Mono"/>
              </a:rPr>
              <a:t> </a:t>
            </a:r>
            <a:r>
              <a:rPr lang="en-US" dirty="0">
                <a:latin typeface="Consolas" panose="020B0609020204030204" pitchFamily="49" charset="0"/>
                <a:ea typeface="Roboto Mono"/>
                <a:sym typeface="Roboto Mono"/>
              </a:rPr>
              <a:t>found</a:t>
            </a:r>
            <a:r>
              <a:rPr lang="sk-SK" dirty="0">
                <a:latin typeface="Cabin" panose="020B0604020202020204" charset="-18"/>
                <a:ea typeface="Roboto Mono"/>
                <a:sym typeface="Roboto Mono"/>
              </a:rPr>
              <a:t>, ...</a:t>
            </a:r>
          </a:p>
        </p:txBody>
      </p:sp>
      <p:sp>
        <p:nvSpPr>
          <p:cNvPr id="340" name="Google Shape;340;p46"/>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28</a:t>
            </a:fld>
            <a:endParaRPr lang="sk-SK"/>
          </a:p>
        </p:txBody>
      </p:sp>
      <p:graphicFrame>
        <p:nvGraphicFramePr>
          <p:cNvPr id="3" name="Tabuľka 3">
            <a:extLst>
              <a:ext uri="{FF2B5EF4-FFF2-40B4-BE49-F238E27FC236}">
                <a16:creationId xmlns:a16="http://schemas.microsoft.com/office/drawing/2014/main" id="{D8A29B2C-6E60-4279-AAD2-267BB5A642F9}"/>
              </a:ext>
            </a:extLst>
          </p:cNvPr>
          <p:cNvGraphicFramePr>
            <a:graphicFrameLocks noGrp="1"/>
          </p:cNvGraphicFramePr>
          <p:nvPr>
            <p:extLst>
              <p:ext uri="{D42A27DB-BD31-4B8C-83A1-F6EECF244321}">
                <p14:modId xmlns:p14="http://schemas.microsoft.com/office/powerpoint/2010/main" val="29699605"/>
              </p:ext>
            </p:extLst>
          </p:nvPr>
        </p:nvGraphicFramePr>
        <p:xfrm>
          <a:off x="960120" y="2054652"/>
          <a:ext cx="4587240" cy="1645920"/>
        </p:xfrm>
        <a:graphic>
          <a:graphicData uri="http://schemas.openxmlformats.org/drawingml/2006/table">
            <a:tbl>
              <a:tblPr firstRow="1" bandRow="1">
                <a:tableStyleId>{5C22544A-7EE6-4342-B048-85BDC9FD1C3A}</a:tableStyleId>
              </a:tblPr>
              <a:tblGrid>
                <a:gridCol w="948030">
                  <a:extLst>
                    <a:ext uri="{9D8B030D-6E8A-4147-A177-3AD203B41FA5}">
                      <a16:colId xmlns:a16="http://schemas.microsoft.com/office/drawing/2014/main" val="3214745560"/>
                    </a:ext>
                  </a:extLst>
                </a:gridCol>
                <a:gridCol w="3639210">
                  <a:extLst>
                    <a:ext uri="{9D8B030D-6E8A-4147-A177-3AD203B41FA5}">
                      <a16:colId xmlns:a16="http://schemas.microsoft.com/office/drawing/2014/main" val="4075927318"/>
                    </a:ext>
                  </a:extLst>
                </a:gridCol>
              </a:tblGrid>
              <a:tr h="0">
                <a:tc>
                  <a:txBody>
                    <a:bodyPr/>
                    <a:lstStyle/>
                    <a:p>
                      <a:r>
                        <a:rPr lang="sk-SK" sz="1200" noProof="0" dirty="0"/>
                        <a:t>Hodnota</a:t>
                      </a:r>
                    </a:p>
                  </a:txBody>
                  <a:tcPr/>
                </a:tc>
                <a:tc>
                  <a:txBody>
                    <a:bodyPr/>
                    <a:lstStyle/>
                    <a:p>
                      <a:r>
                        <a:rPr lang="sk-SK" sz="1200" noProof="0" dirty="0"/>
                        <a:t>V</a:t>
                      </a:r>
                      <a:r>
                        <a:rPr lang="sk-SK" sz="1200" dirty="0"/>
                        <a:t>ý</a:t>
                      </a:r>
                      <a:r>
                        <a:rPr lang="sk-SK" sz="1200" noProof="0" dirty="0" err="1"/>
                        <a:t>znam</a:t>
                      </a:r>
                      <a:endParaRPr lang="sk-SK" sz="1200" noProof="0" dirty="0"/>
                    </a:p>
                  </a:txBody>
                  <a:tcPr/>
                </a:tc>
                <a:extLst>
                  <a:ext uri="{0D108BD9-81ED-4DB2-BD59-A6C34878D82A}">
                    <a16:rowId xmlns:a16="http://schemas.microsoft.com/office/drawing/2014/main" val="415102247"/>
                  </a:ext>
                </a:extLst>
              </a:tr>
              <a:tr h="242570">
                <a:tc>
                  <a:txBody>
                    <a:bodyPr/>
                    <a:lstStyle/>
                    <a:p>
                      <a:r>
                        <a:rPr lang="en-US" sz="1200"/>
                        <a:t>0</a:t>
                      </a:r>
                      <a:endParaRPr lang="sk-SK" sz="1200"/>
                    </a:p>
                  </a:txBody>
                  <a:tcPr/>
                </a:tc>
                <a:tc>
                  <a:txBody>
                    <a:bodyPr/>
                    <a:lstStyle/>
                    <a:p>
                      <a:r>
                        <a:rPr lang="en-US" sz="1200" i="1" noProof="0"/>
                        <a:t>request not initialized</a:t>
                      </a:r>
                    </a:p>
                  </a:txBody>
                  <a:tcPr/>
                </a:tc>
                <a:extLst>
                  <a:ext uri="{0D108BD9-81ED-4DB2-BD59-A6C34878D82A}">
                    <a16:rowId xmlns:a16="http://schemas.microsoft.com/office/drawing/2014/main" val="2131357926"/>
                  </a:ext>
                </a:extLst>
              </a:tr>
              <a:tr h="0">
                <a:tc>
                  <a:txBody>
                    <a:bodyPr/>
                    <a:lstStyle/>
                    <a:p>
                      <a:r>
                        <a:rPr lang="en-US" sz="1200"/>
                        <a:t>1</a:t>
                      </a:r>
                      <a:endParaRPr lang="sk-SK" sz="1200"/>
                    </a:p>
                  </a:txBody>
                  <a:tcPr/>
                </a:tc>
                <a:tc>
                  <a:txBody>
                    <a:bodyPr/>
                    <a:lstStyle/>
                    <a:p>
                      <a:r>
                        <a:rPr lang="sk-SK" sz="1200" i="1" dirty="0"/>
                        <a:t>server </a:t>
                      </a:r>
                      <a:r>
                        <a:rPr lang="en-US" sz="1200" i="1" noProof="0" dirty="0"/>
                        <a:t>connection established</a:t>
                      </a:r>
                    </a:p>
                  </a:txBody>
                  <a:tcPr/>
                </a:tc>
                <a:extLst>
                  <a:ext uri="{0D108BD9-81ED-4DB2-BD59-A6C34878D82A}">
                    <a16:rowId xmlns:a16="http://schemas.microsoft.com/office/drawing/2014/main" val="4171530241"/>
                  </a:ext>
                </a:extLst>
              </a:tr>
              <a:tr h="171450">
                <a:tc>
                  <a:txBody>
                    <a:bodyPr/>
                    <a:lstStyle/>
                    <a:p>
                      <a:r>
                        <a:rPr lang="en-US" sz="1200"/>
                        <a:t>2</a:t>
                      </a:r>
                      <a:endParaRPr lang="sk-SK" sz="1200"/>
                    </a:p>
                  </a:txBody>
                  <a:tcPr/>
                </a:tc>
                <a:tc>
                  <a:txBody>
                    <a:bodyPr/>
                    <a:lstStyle/>
                    <a:p>
                      <a:r>
                        <a:rPr lang="en-US" sz="1200" i="1" noProof="0"/>
                        <a:t>request received</a:t>
                      </a:r>
                    </a:p>
                  </a:txBody>
                  <a:tcPr/>
                </a:tc>
                <a:extLst>
                  <a:ext uri="{0D108BD9-81ED-4DB2-BD59-A6C34878D82A}">
                    <a16:rowId xmlns:a16="http://schemas.microsoft.com/office/drawing/2014/main" val="2826162135"/>
                  </a:ext>
                </a:extLst>
              </a:tr>
              <a:tr h="0">
                <a:tc>
                  <a:txBody>
                    <a:bodyPr/>
                    <a:lstStyle/>
                    <a:p>
                      <a:r>
                        <a:rPr lang="en-US" sz="1200"/>
                        <a:t>3</a:t>
                      </a:r>
                      <a:endParaRPr lang="sk-SK" sz="1200"/>
                    </a:p>
                  </a:txBody>
                  <a:tcPr/>
                </a:tc>
                <a:tc>
                  <a:txBody>
                    <a:bodyPr/>
                    <a:lstStyle/>
                    <a:p>
                      <a:r>
                        <a:rPr lang="en-US" sz="1200" i="1" noProof="0" dirty="0"/>
                        <a:t>processing request</a:t>
                      </a:r>
                    </a:p>
                  </a:txBody>
                  <a:tcPr/>
                </a:tc>
                <a:extLst>
                  <a:ext uri="{0D108BD9-81ED-4DB2-BD59-A6C34878D82A}">
                    <a16:rowId xmlns:a16="http://schemas.microsoft.com/office/drawing/2014/main" val="3597608992"/>
                  </a:ext>
                </a:extLst>
              </a:tr>
              <a:tr h="0">
                <a:tc>
                  <a:txBody>
                    <a:bodyPr/>
                    <a:lstStyle/>
                    <a:p>
                      <a:r>
                        <a:rPr lang="en-US" sz="1200"/>
                        <a:t>4</a:t>
                      </a:r>
                      <a:endParaRPr lang="sk-SK" sz="1200"/>
                    </a:p>
                  </a:txBody>
                  <a:tcPr/>
                </a:tc>
                <a:tc>
                  <a:txBody>
                    <a:bodyPr/>
                    <a:lstStyle/>
                    <a:p>
                      <a:r>
                        <a:rPr lang="en-US" sz="1200" i="1" dirty="0"/>
                        <a:t>request finished and response is ready</a:t>
                      </a:r>
                      <a:endParaRPr lang="sk-SK" sz="1200" i="1" dirty="0"/>
                    </a:p>
                  </a:txBody>
                  <a:tcPr/>
                </a:tc>
                <a:extLst>
                  <a:ext uri="{0D108BD9-81ED-4DB2-BD59-A6C34878D82A}">
                    <a16:rowId xmlns:a16="http://schemas.microsoft.com/office/drawing/2014/main" val="273162026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4"/>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Spracovanie odpovede zo servera</a:t>
            </a:r>
          </a:p>
        </p:txBody>
      </p:sp>
      <p:sp>
        <p:nvSpPr>
          <p:cNvPr id="325" name="Google Shape;325;p44"/>
          <p:cNvSpPr txBox="1">
            <a:spLocks noGrp="1"/>
          </p:cNvSpPr>
          <p:nvPr>
            <p:ph type="body" idx="1"/>
          </p:nvPr>
        </p:nvSpPr>
        <p:spPr>
          <a:xfrm>
            <a:off x="435900" y="1635375"/>
            <a:ext cx="8272200" cy="29301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Atribúty objektu </a:t>
            </a:r>
            <a:r>
              <a:rPr lang="sk-SK" sz="1400" dirty="0" err="1">
                <a:latin typeface="Consolas" panose="020B0609020204030204" pitchFamily="49" charset="0"/>
                <a:ea typeface="Roboto Mono"/>
                <a:cs typeface="Roboto Mono"/>
                <a:sym typeface="Roboto Mono"/>
              </a:rPr>
              <a:t>XMLHttpRequest</a:t>
            </a:r>
            <a:endParaRPr lang="sk-SK" sz="1400" dirty="0">
              <a:latin typeface="Consolas" panose="020B0609020204030204" pitchFamily="49" charset="0"/>
              <a:ea typeface="Roboto Mono"/>
              <a:cs typeface="Roboto Mono"/>
              <a:sym typeface="Roboto Mono"/>
            </a:endParaRPr>
          </a:p>
          <a:p>
            <a:pPr marL="914400" lvl="1" indent="-298450" algn="l" rtl="0">
              <a:spcBef>
                <a:spcPts val="0"/>
              </a:spcBef>
              <a:spcAft>
                <a:spcPts val="0"/>
              </a:spcAft>
              <a:buSzPts val="1100"/>
              <a:buChar char="○"/>
            </a:pPr>
            <a:r>
              <a:rPr lang="sk-SK" dirty="0"/>
              <a:t>Atribút </a:t>
            </a:r>
            <a:r>
              <a:rPr lang="sk-SK" sz="1200" dirty="0" err="1">
                <a:latin typeface="Consolas" panose="020B0609020204030204" pitchFamily="49" charset="0"/>
                <a:ea typeface="Roboto Mono"/>
                <a:cs typeface="Roboto Mono"/>
                <a:sym typeface="Roboto Mono"/>
              </a:rPr>
              <a:t>responseText</a:t>
            </a:r>
            <a:br>
              <a:rPr lang="sk-SK" dirty="0"/>
            </a:br>
            <a:br>
              <a:rPr lang="sk-SK" sz="1200" dirty="0">
                <a:solidFill>
                  <a:schemeClr val="dk1"/>
                </a:solidFill>
                <a:latin typeface="Roboto Mono"/>
                <a:ea typeface="Roboto Mono"/>
                <a:cs typeface="Roboto Mono"/>
                <a:sym typeface="Roboto Mono"/>
              </a:rPr>
            </a:br>
            <a:endParaRPr lang="sk-SK" sz="1200" dirty="0"/>
          </a:p>
          <a:p>
            <a:pPr marL="914400" lvl="1" indent="-298450" algn="l" rtl="0">
              <a:spcBef>
                <a:spcPts val="0"/>
              </a:spcBef>
              <a:spcAft>
                <a:spcPts val="0"/>
              </a:spcAft>
              <a:buSzPts val="1100"/>
              <a:buChar char="○"/>
            </a:pPr>
            <a:endParaRPr lang="sk-SK" dirty="0"/>
          </a:p>
          <a:p>
            <a:pPr marL="914400" lvl="1" indent="-298450" algn="l" rtl="0">
              <a:spcBef>
                <a:spcPts val="0"/>
              </a:spcBef>
              <a:spcAft>
                <a:spcPts val="0"/>
              </a:spcAft>
              <a:buSzPts val="1100"/>
              <a:buChar char="○"/>
            </a:pPr>
            <a:r>
              <a:rPr lang="sk-SK" dirty="0"/>
              <a:t>Atribút </a:t>
            </a:r>
            <a:r>
              <a:rPr lang="sk-SK" sz="1200" dirty="0" err="1">
                <a:latin typeface="Consolas" panose="020B0609020204030204" pitchFamily="49" charset="0"/>
                <a:ea typeface="Roboto Mono"/>
                <a:sym typeface="Roboto Mono"/>
              </a:rPr>
              <a:t>responseXML</a:t>
            </a:r>
            <a:br>
              <a:rPr lang="sk-SK" dirty="0"/>
            </a:br>
            <a:r>
              <a:rPr lang="sk-SK" dirty="0"/>
              <a:t>	</a:t>
            </a:r>
          </a:p>
        </p:txBody>
      </p:sp>
      <p:sp>
        <p:nvSpPr>
          <p:cNvPr id="326" name="Google Shape;326;p44"/>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29</a:t>
            </a:fld>
            <a:endParaRPr lang="sk-SK"/>
          </a:p>
        </p:txBody>
      </p:sp>
      <p:sp>
        <p:nvSpPr>
          <p:cNvPr id="2" name="Rectangle 1">
            <a:extLst>
              <a:ext uri="{FF2B5EF4-FFF2-40B4-BE49-F238E27FC236}">
                <a16:creationId xmlns:a16="http://schemas.microsoft.com/office/drawing/2014/main" id="{590B8160-FAF4-4720-9B41-0D6D7010CF48}"/>
              </a:ext>
            </a:extLst>
          </p:cNvPr>
          <p:cNvSpPr>
            <a:spLocks noChangeArrowheads="1"/>
          </p:cNvSpPr>
          <p:nvPr/>
        </p:nvSpPr>
        <p:spPr bwMode="auto">
          <a:xfrm>
            <a:off x="1346200" y="2252359"/>
            <a:ext cx="5416868" cy="26161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k-SK" altLang="sk-SK" sz="1100" b="0" i="0" u="none" strike="noStrike" cap="none" normalizeH="0" baseline="0" dirty="0" err="1">
                <a:ln>
                  <a:noFill/>
                </a:ln>
                <a:solidFill>
                  <a:srgbClr val="830091"/>
                </a:solidFill>
                <a:effectLst/>
                <a:latin typeface="Consolas" panose="020B0609020204030204" pitchFamily="49" charset="0"/>
              </a:rPr>
              <a:t>document</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getElementById</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"demo"</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innerHTML</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en-US" altLang="sk-SK" sz="1100" b="0" i="0" u="none" strike="noStrike" cap="none" normalizeH="0" baseline="0" dirty="0">
                <a:ln>
                  <a:noFill/>
                </a:ln>
                <a:solidFill>
                  <a:srgbClr val="080808"/>
                </a:solidFill>
                <a:effectLst/>
                <a:latin typeface="Consolas" panose="020B0609020204030204" pitchFamily="49" charset="0"/>
              </a:rPr>
              <a:t> </a:t>
            </a:r>
            <a:r>
              <a:rPr kumimoji="0" lang="en-US" altLang="sk-SK" sz="1100" b="0" i="0" u="none" strike="noStrike" cap="none" normalizeH="0" baseline="0" dirty="0" err="1">
                <a:ln>
                  <a:noFill/>
                </a:ln>
                <a:solidFill>
                  <a:srgbClr val="080808"/>
                </a:solidFill>
                <a:effectLst/>
                <a:latin typeface="Consolas" panose="020B0609020204030204" pitchFamily="49" charset="0"/>
              </a:rPr>
              <a:t>xmlhttpReq</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responseText</a:t>
            </a: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sk-SK" altLang="sk-SK" sz="1100" b="0" i="0" u="none" strike="noStrike" cap="none" normalizeH="0" baseline="0" dirty="0">
              <a:ln>
                <a:noFill/>
              </a:ln>
              <a:solidFill>
                <a:schemeClr val="tx1"/>
              </a:solidFill>
              <a:effectLst/>
              <a:latin typeface="Consolas" panose="020B0609020204030204" pitchFamily="49" charset="0"/>
            </a:endParaRPr>
          </a:p>
        </p:txBody>
      </p:sp>
      <p:sp>
        <p:nvSpPr>
          <p:cNvPr id="3" name="Rectangle 2">
            <a:extLst>
              <a:ext uri="{FF2B5EF4-FFF2-40B4-BE49-F238E27FC236}">
                <a16:creationId xmlns:a16="http://schemas.microsoft.com/office/drawing/2014/main" id="{32BD7CAF-BFAD-475F-BBD8-928456357744}"/>
              </a:ext>
            </a:extLst>
          </p:cNvPr>
          <p:cNvSpPr>
            <a:spLocks noChangeArrowheads="1"/>
          </p:cNvSpPr>
          <p:nvPr/>
        </p:nvSpPr>
        <p:spPr bwMode="auto">
          <a:xfrm>
            <a:off x="1346200" y="3100464"/>
            <a:ext cx="4493538" cy="1431417"/>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0" i="0" u="none" strike="noStrike" cap="none" normalizeH="0" baseline="0" dirty="0" err="1">
                <a:ln>
                  <a:noFill/>
                </a:ln>
                <a:solidFill>
                  <a:srgbClr val="871094"/>
                </a:solidFill>
                <a:effectLst/>
                <a:latin typeface="Consolas" panose="020B0609020204030204" pitchFamily="49" charset="0"/>
              </a:rPr>
              <a:t>xmlDoc</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en-US" altLang="sk-SK" sz="1100" b="0" i="0" u="none" strike="noStrike" cap="none" normalizeH="0" baseline="0" dirty="0" err="1">
                <a:ln>
                  <a:noFill/>
                </a:ln>
                <a:solidFill>
                  <a:srgbClr val="080808"/>
                </a:solidFill>
                <a:effectLst/>
                <a:latin typeface="Consolas" panose="020B0609020204030204" pitchFamily="49" charset="0"/>
              </a:rPr>
              <a:t>xmlhttpReq</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responseXML</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033B3"/>
                </a:solidFill>
                <a:effectLst/>
                <a:latin typeface="Consolas" panose="020B0609020204030204" pitchFamily="49" charset="0"/>
              </a:rPr>
              <a:t>let </a:t>
            </a:r>
            <a:r>
              <a:rPr kumimoji="0" lang="sk-SK" altLang="sk-SK" sz="1100" b="0" i="0" u="none" strike="noStrike" cap="none" normalizeH="0" baseline="0" dirty="0" err="1">
                <a:ln>
                  <a:noFill/>
                </a:ln>
                <a:solidFill>
                  <a:srgbClr val="830091"/>
                </a:solidFill>
                <a:effectLst/>
                <a:latin typeface="Consolas" panose="020B0609020204030204" pitchFamily="49" charset="0"/>
              </a:rPr>
              <a:t>txt</a:t>
            </a:r>
            <a:r>
              <a:rPr kumimoji="0" lang="sk-SK" altLang="sk-SK" sz="1100" b="0" i="0" u="none" strike="noStrike" cap="none" normalizeH="0" baseline="0" dirty="0">
                <a:ln>
                  <a:noFill/>
                </a:ln>
                <a:solidFill>
                  <a:srgbClr val="830091"/>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871094"/>
                </a:solidFill>
                <a:effectLst/>
                <a:latin typeface="Consolas" panose="020B0609020204030204" pitchFamily="49" charset="0"/>
              </a:rPr>
              <a:t>x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71094"/>
                </a:solidFill>
                <a:effectLst/>
                <a:latin typeface="Consolas" panose="020B0609020204030204" pitchFamily="49" charset="0"/>
              </a:rPr>
              <a:t>xmlDoc</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getElementsByTagName</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"ARTIST"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err="1">
                <a:ln>
                  <a:noFill/>
                </a:ln>
                <a:solidFill>
                  <a:srgbClr val="0033B3"/>
                </a:solidFill>
                <a:effectLst/>
                <a:latin typeface="Consolas" panose="020B0609020204030204" pitchFamily="49" charset="0"/>
              </a:rPr>
              <a:t>for</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033B3"/>
                </a:solidFill>
                <a:effectLst/>
                <a:latin typeface="Consolas" panose="020B0609020204030204" pitchFamily="49" charset="0"/>
              </a:rPr>
              <a:t>let </a:t>
            </a:r>
            <a:r>
              <a:rPr kumimoji="0" lang="sk-SK" altLang="sk-SK" sz="1100" b="0" i="0" u="none" strike="noStrike" cap="none" normalizeH="0" baseline="0" dirty="0">
                <a:ln>
                  <a:noFill/>
                </a:ln>
                <a:solidFill>
                  <a:srgbClr val="248F8F"/>
                </a:solidFill>
                <a:effectLst/>
                <a:latin typeface="Consolas" panose="020B0609020204030204" pitchFamily="49" charset="0"/>
              </a:rPr>
              <a:t>i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1750EB"/>
                </a:solidFill>
                <a:effectLst/>
                <a:latin typeface="Consolas" panose="020B0609020204030204" pitchFamily="49" charset="0"/>
              </a:rPr>
              <a:t>0</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248F8F"/>
                </a:solidFill>
                <a:effectLst/>
                <a:latin typeface="Consolas" panose="020B0609020204030204" pitchFamily="49" charset="0"/>
              </a:rPr>
              <a:t>i </a:t>
            </a:r>
            <a:r>
              <a:rPr kumimoji="0" lang="sk-SK" altLang="sk-SK" sz="1100" b="0" i="0" u="none" strike="noStrike" cap="none" normalizeH="0" baseline="0" dirty="0">
                <a:ln>
                  <a:noFill/>
                </a:ln>
                <a:solidFill>
                  <a:srgbClr val="080808"/>
                </a:solidFill>
                <a:effectLst/>
                <a:latin typeface="Consolas" panose="020B0609020204030204" pitchFamily="49" charset="0"/>
              </a:rPr>
              <a:t>&lt; </a:t>
            </a:r>
            <a:r>
              <a:rPr kumimoji="0" lang="sk-SK" altLang="sk-SK" sz="1100" b="0" i="0" u="none" strike="noStrike" cap="none" normalizeH="0" baseline="0" dirty="0" err="1">
                <a:ln>
                  <a:noFill/>
                </a:ln>
                <a:solidFill>
                  <a:srgbClr val="871094"/>
                </a:solidFill>
                <a:effectLst/>
                <a:latin typeface="Consolas" panose="020B0609020204030204" pitchFamily="49" charset="0"/>
              </a:rPr>
              <a:t>x</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length</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248F8F"/>
                </a:solidFill>
                <a:effectLst/>
                <a:latin typeface="Consolas" panose="020B0609020204030204" pitchFamily="49" charset="0"/>
              </a:rPr>
              <a:t>i</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txt</a:t>
            </a:r>
            <a:r>
              <a:rPr kumimoji="0" lang="sk-SK" altLang="sk-SK" sz="1100" b="0" i="0" u="none" strike="noStrike" cap="none" normalizeH="0" baseline="0" dirty="0">
                <a:ln>
                  <a:noFill/>
                </a:ln>
                <a:solidFill>
                  <a:srgbClr val="830091"/>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txt</a:t>
            </a:r>
            <a:r>
              <a:rPr kumimoji="0" lang="sk-SK" altLang="sk-SK" sz="1100" b="0" i="0" u="none" strike="noStrike" cap="none" normalizeH="0" baseline="0" dirty="0">
                <a:ln>
                  <a:noFill/>
                </a:ln>
                <a:solidFill>
                  <a:srgbClr val="830091"/>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871094"/>
                </a:solidFill>
                <a:effectLst/>
                <a:latin typeface="Consolas" panose="020B0609020204030204" pitchFamily="49" charset="0"/>
              </a:rPr>
              <a:t>x</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248F8F"/>
                </a:solidFill>
                <a:effectLst/>
                <a:latin typeface="Consolas" panose="020B0609020204030204" pitchFamily="49" charset="0"/>
              </a:rPr>
              <a:t>i</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childNodes</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1750EB"/>
                </a:solidFill>
                <a:effectLst/>
                <a:latin typeface="Consolas" panose="020B0609020204030204" pitchFamily="49" charset="0"/>
              </a:rPr>
              <a:t>0</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nodeValue</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"&lt;br /&gt;"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err="1">
                <a:ln>
                  <a:noFill/>
                </a:ln>
                <a:solidFill>
                  <a:srgbClr val="830091"/>
                </a:solidFill>
                <a:effectLst/>
                <a:latin typeface="Consolas" panose="020B0609020204030204" pitchFamily="49" charset="0"/>
              </a:rPr>
              <a:t>document</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getElementById</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"demo"</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innerHTML</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txt</a:t>
            </a: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sk-SK" altLang="sk-SK" sz="1100" b="0" i="0" u="none" strike="noStrike" cap="none" normalizeH="0" baseline="0" dirty="0">
              <a:ln>
                <a:noFill/>
              </a:ln>
              <a:solidFill>
                <a:schemeClr val="tx1"/>
              </a:solidFill>
              <a:effectLst/>
              <a:latin typeface="Consolas" panose="020B0609020204030204" pitchFamily="49" charset="0"/>
            </a:endParaRPr>
          </a:p>
        </p:txBody>
      </p:sp>
      <p:sp>
        <p:nvSpPr>
          <p:cNvPr id="8" name="BlokTextu 7">
            <a:extLst>
              <a:ext uri="{FF2B5EF4-FFF2-40B4-BE49-F238E27FC236}">
                <a16:creationId xmlns:a16="http://schemas.microsoft.com/office/drawing/2014/main" id="{A1536152-3F37-41FA-9C1E-B53BA579E775}"/>
              </a:ext>
            </a:extLst>
          </p:cNvPr>
          <p:cNvSpPr txBox="1"/>
          <p:nvPr/>
        </p:nvSpPr>
        <p:spPr>
          <a:xfrm>
            <a:off x="2888175" y="4565475"/>
            <a:ext cx="4228996" cy="246221"/>
          </a:xfrm>
          <a:prstGeom prst="rect">
            <a:avLst/>
          </a:prstGeom>
          <a:noFill/>
        </p:spPr>
        <p:txBody>
          <a:bodyPr wrap="square">
            <a:spAutoFit/>
          </a:bodyPr>
          <a:lstStyle/>
          <a:p>
            <a:r>
              <a:rPr lang="sk-SK" sz="1000" dirty="0">
                <a:latin typeface="Cabin" panose="020B0604020202020204"/>
              </a:rPr>
              <a:t>Príklad: </a:t>
            </a:r>
            <a:r>
              <a:rPr lang="sk-SK" sz="1000" dirty="0">
                <a:latin typeface="Cabin" panose="020B0604020202020204"/>
                <a:hlinkClick r:id="rId3"/>
              </a:rPr>
              <a:t>https://www.w3schools.com/js/tryit.asp?filename=tryjs_ajax_xml2</a:t>
            </a:r>
            <a:r>
              <a:rPr lang="sk-SK" sz="1000" dirty="0">
                <a:latin typeface="Cabin" panose="020B0604020202020204"/>
              </a:rPr>
              <a:t>  </a:t>
            </a:r>
          </a:p>
        </p:txBody>
      </p:sp>
      <p:sp>
        <p:nvSpPr>
          <p:cNvPr id="10" name="BlokTextu 9">
            <a:extLst>
              <a:ext uri="{FF2B5EF4-FFF2-40B4-BE49-F238E27FC236}">
                <a16:creationId xmlns:a16="http://schemas.microsoft.com/office/drawing/2014/main" id="{7511CE04-53C8-4930-9268-5CA6E4669C6A}"/>
              </a:ext>
            </a:extLst>
          </p:cNvPr>
          <p:cNvSpPr txBox="1"/>
          <p:nvPr/>
        </p:nvSpPr>
        <p:spPr>
          <a:xfrm>
            <a:off x="2721415" y="2506421"/>
            <a:ext cx="4228996" cy="246221"/>
          </a:xfrm>
          <a:prstGeom prst="rect">
            <a:avLst/>
          </a:prstGeom>
          <a:noFill/>
        </p:spPr>
        <p:txBody>
          <a:bodyPr wrap="square">
            <a:spAutoFit/>
          </a:bodyPr>
          <a:lstStyle/>
          <a:p>
            <a:r>
              <a:rPr lang="sk-SK" sz="1000" dirty="0">
                <a:latin typeface="Cabin" panose="020B0604020202020204"/>
              </a:rPr>
              <a:t>Príklad: </a:t>
            </a:r>
            <a:r>
              <a:rPr lang="sk-SK" sz="1000" dirty="0">
                <a:latin typeface="Cabin" panose="020B0604020202020204"/>
                <a:hlinkClick r:id="rId4"/>
              </a:rPr>
              <a:t>https://www.w3schools.com/js/tryit.asp?filename=tryjs_ajax_header</a:t>
            </a:r>
            <a:r>
              <a:rPr lang="sk-SK" sz="1000" dirty="0">
                <a:latin typeface="Cabin" panose="020B0604020202020204"/>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7"/>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AJAX príklad (komplet)</a:t>
            </a:r>
          </a:p>
        </p:txBody>
      </p:sp>
      <p:sp>
        <p:nvSpPr>
          <p:cNvPr id="347" name="Google Shape;347;p47"/>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30</a:t>
            </a:fld>
            <a:endParaRPr lang="sk-SK"/>
          </a:p>
        </p:txBody>
      </p:sp>
      <p:sp>
        <p:nvSpPr>
          <p:cNvPr id="5" name="Rectangle 1">
            <a:extLst>
              <a:ext uri="{FF2B5EF4-FFF2-40B4-BE49-F238E27FC236}">
                <a16:creationId xmlns:a16="http://schemas.microsoft.com/office/drawing/2014/main" id="{EA2CA9A0-889C-490F-80C8-1A608A52C858}"/>
              </a:ext>
            </a:extLst>
          </p:cNvPr>
          <p:cNvSpPr>
            <a:spLocks noChangeArrowheads="1"/>
          </p:cNvSpPr>
          <p:nvPr/>
        </p:nvSpPr>
        <p:spPr bwMode="auto">
          <a:xfrm>
            <a:off x="435894" y="1663039"/>
            <a:ext cx="5721066" cy="181742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0" i="0" u="none" strike="noStrike" cap="none" normalizeH="0" baseline="0" dirty="0">
                <a:ln>
                  <a:noFill/>
                </a:ln>
                <a:solidFill>
                  <a:srgbClr val="0033B3"/>
                </a:solidFill>
                <a:effectLst/>
                <a:latin typeface="Consolas" panose="020B0609020204030204" pitchFamily="49" charset="0"/>
              </a:rPr>
              <a:t>var </a:t>
            </a:r>
            <a:r>
              <a:rPr kumimoji="0" lang="sk-SK" altLang="sk-SK" sz="1100" b="0" i="0" u="none" strike="noStrike" cap="none" normalizeH="0" baseline="0" dirty="0" err="1">
                <a:ln>
                  <a:noFill/>
                </a:ln>
                <a:solidFill>
                  <a:srgbClr val="248F8F"/>
                </a:solidFill>
                <a:effectLst/>
                <a:latin typeface="Consolas" panose="020B0609020204030204" pitchFamily="49" charset="0"/>
              </a:rPr>
              <a:t>xmlHttpReq</a:t>
            </a:r>
            <a:r>
              <a:rPr kumimoji="0" lang="sk-SK" altLang="sk-SK" sz="1100" b="0" i="0" u="none" strike="noStrike" cap="none" normalizeH="0" baseline="0" dirty="0">
                <a:ln>
                  <a:noFill/>
                </a:ln>
                <a:solidFill>
                  <a:srgbClr val="248F8F"/>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033B3"/>
                </a:solidFill>
                <a:effectLst/>
                <a:latin typeface="Consolas" panose="020B0609020204030204" pitchFamily="49" charset="0"/>
              </a:rPr>
              <a:t>new </a:t>
            </a:r>
            <a:r>
              <a:rPr kumimoji="0" lang="sk-SK" altLang="sk-SK" sz="1100" b="0" i="0" u="none" strike="noStrike" cap="none" normalizeH="0" baseline="0" dirty="0" err="1">
                <a:ln>
                  <a:noFill/>
                </a:ln>
                <a:solidFill>
                  <a:srgbClr val="830091"/>
                </a:solidFill>
                <a:effectLst/>
                <a:latin typeface="Consolas" panose="020B0609020204030204" pitchFamily="49" charset="0"/>
              </a:rPr>
              <a:t>XMLHttpRequest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err="1">
                <a:ln>
                  <a:noFill/>
                </a:ln>
                <a:solidFill>
                  <a:srgbClr val="248F8F"/>
                </a:solidFill>
                <a:effectLst/>
                <a:latin typeface="Consolas" panose="020B0609020204030204" pitchFamily="49" charset="0"/>
              </a:rPr>
              <a:t>xmlHttpReq</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onreadystatechange</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function</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if</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033B3"/>
                </a:solidFill>
                <a:effectLst/>
                <a:latin typeface="Consolas" panose="020B0609020204030204" pitchFamily="49" charset="0"/>
              </a:rPr>
              <a:t>this</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readyState</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en-US"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1750EB"/>
                </a:solidFill>
                <a:effectLst/>
                <a:latin typeface="Consolas" panose="020B0609020204030204" pitchFamily="49" charset="0"/>
              </a:rPr>
              <a:t>4 </a:t>
            </a:r>
            <a:r>
              <a:rPr kumimoji="0" lang="en-US"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this</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status</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en-US"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1750EB"/>
                </a:solidFill>
                <a:effectLst/>
                <a:latin typeface="Consolas" panose="020B0609020204030204" pitchFamily="49" charset="0"/>
              </a:rPr>
              <a:t>200</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en-US"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lang="en-US" altLang="sk-SK" sz="1100" dirty="0">
                <a:solidFill>
                  <a:srgbClr val="0033B3"/>
                </a:solidFill>
                <a:latin typeface="Consolas" panose="020B0609020204030204" pitchFamily="49" charset="0"/>
              </a:rPr>
              <a:t>return</a:t>
            </a:r>
            <a:r>
              <a:rPr kumimoji="0" lang="en-US" altLang="sk-SK" sz="1100" b="0" i="0" u="none" strike="noStrike" cap="none" normalizeH="0" baseline="0" dirty="0">
                <a:ln>
                  <a:noFill/>
                </a:ln>
                <a:solidFill>
                  <a:srgbClr val="080808"/>
                </a:solidFill>
                <a:effectLst/>
                <a:latin typeface="Consolas" panose="020B0609020204030204" pitchFamily="49" charset="0"/>
              </a:rPr>
              <a:t>; </a:t>
            </a:r>
          </a:p>
          <a:p>
            <a:pPr marL="0" marR="0" lvl="0" indent="0" algn="l" defTabSz="914400" rtl="0" eaLnBrk="0" fontAlgn="base" latinLnBrk="0" hangingPunct="0">
              <a:lnSpc>
                <a:spcPct val="114000"/>
              </a:lnSpc>
              <a:spcBef>
                <a:spcPct val="0"/>
              </a:spcBef>
              <a:spcAft>
                <a:spcPct val="0"/>
              </a:spcAft>
              <a:buClrTx/>
              <a:buSzTx/>
              <a:buFontTx/>
              <a:buNone/>
              <a:tabLst/>
            </a:pPr>
            <a:r>
              <a:rPr lang="en-US" altLang="sk-SK" sz="1100" dirty="0">
                <a:solidFill>
                  <a:srgbClr val="080808"/>
                </a:solidFill>
                <a:latin typeface="Consolas" panose="020B0609020204030204" pitchFamily="49" charset="0"/>
              </a:rPr>
              <a:t>  </a:t>
            </a:r>
            <a:r>
              <a:rPr lang="sk-SK" altLang="sk-SK" sz="1100" dirty="0">
                <a:solidFill>
                  <a:srgbClr val="080808"/>
                </a:solidFill>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en-US" altLang="sk-SK" sz="1100" b="0" i="0" u="none" strike="noStrike" cap="none" normalizeH="0" baseline="0" dirty="0">
              <a:ln>
                <a:noFill/>
              </a:ln>
              <a:solidFill>
                <a:srgbClr val="080808"/>
              </a:solidFill>
              <a:effectLst/>
              <a:latin typeface="Consolas" panose="020B0609020204030204" pitchFamily="49" charset="0"/>
            </a:endParaRPr>
          </a:p>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en-US"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document</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getElementById</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"demo"</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innerHTML</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this</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71094"/>
                </a:solidFill>
                <a:effectLst/>
                <a:latin typeface="Consolas" panose="020B0609020204030204" pitchFamily="49" charset="0"/>
              </a:rPr>
              <a:t>responseText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err="1">
                <a:ln>
                  <a:noFill/>
                </a:ln>
                <a:solidFill>
                  <a:srgbClr val="248F8F"/>
                </a:solidFill>
                <a:effectLst/>
                <a:latin typeface="Consolas" panose="020B0609020204030204" pitchFamily="49" charset="0"/>
              </a:rPr>
              <a:t>xmlHttpReq</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open</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"GET"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en-US" altLang="sk-SK" sz="1100" b="0" i="0" u="none" strike="noStrike" cap="none" normalizeH="0" baseline="0" dirty="0">
                <a:ln>
                  <a:noFill/>
                </a:ln>
                <a:solidFill>
                  <a:srgbClr val="067D17"/>
                </a:solidFill>
                <a:effectLst/>
                <a:latin typeface="Consolas" panose="020B0609020204030204" pitchFamily="49" charset="0"/>
              </a:rPr>
              <a:t>https://example.com/ajax_test</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true</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err="1">
                <a:ln>
                  <a:noFill/>
                </a:ln>
                <a:solidFill>
                  <a:srgbClr val="248F8F"/>
                </a:solidFill>
                <a:effectLst/>
                <a:latin typeface="Consolas" panose="020B0609020204030204" pitchFamily="49" charset="0"/>
              </a:rPr>
              <a:t>xmlHttpReq</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send</a:t>
            </a: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sk-SK" altLang="sk-SK" sz="1100" b="0" i="0" u="none" strike="noStrike" cap="none" normalizeH="0" baseline="0" dirty="0">
              <a:ln>
                <a:noFill/>
              </a:ln>
              <a:solidFill>
                <a:schemeClr val="tx1"/>
              </a:solidFill>
              <a:effectLst/>
              <a:latin typeface="Consolas" panose="020B06090202040302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8"/>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JSON</a:t>
            </a:r>
          </a:p>
        </p:txBody>
      </p:sp>
      <p:sp>
        <p:nvSpPr>
          <p:cNvPr id="353" name="Google Shape;353;p48"/>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b="1" dirty="0">
                <a:solidFill>
                  <a:schemeClr val="tx1"/>
                </a:solidFill>
              </a:rPr>
              <a:t>J</a:t>
            </a:r>
            <a:r>
              <a:rPr lang="sk-SK" dirty="0">
                <a:solidFill>
                  <a:schemeClr val="tx1"/>
                </a:solidFill>
              </a:rPr>
              <a:t>ava</a:t>
            </a:r>
            <a:r>
              <a:rPr lang="sk-SK" b="1" dirty="0">
                <a:solidFill>
                  <a:schemeClr val="tx1"/>
                </a:solidFill>
              </a:rPr>
              <a:t>S</a:t>
            </a:r>
            <a:r>
              <a:rPr lang="sk-SK" dirty="0">
                <a:solidFill>
                  <a:schemeClr val="tx1"/>
                </a:solidFill>
              </a:rPr>
              <a:t>cript </a:t>
            </a:r>
            <a:r>
              <a:rPr lang="en-US" b="1" dirty="0">
                <a:solidFill>
                  <a:schemeClr val="tx1"/>
                </a:solidFill>
              </a:rPr>
              <a:t>O</a:t>
            </a:r>
            <a:r>
              <a:rPr lang="en-US" dirty="0">
                <a:solidFill>
                  <a:schemeClr val="tx1"/>
                </a:solidFill>
              </a:rPr>
              <a:t>bject</a:t>
            </a:r>
            <a:r>
              <a:rPr lang="sk-SK" dirty="0">
                <a:solidFill>
                  <a:schemeClr val="tx1"/>
                </a:solidFill>
              </a:rPr>
              <a:t> </a:t>
            </a:r>
            <a:r>
              <a:rPr lang="en-US" b="1" dirty="0">
                <a:solidFill>
                  <a:schemeClr val="tx1"/>
                </a:solidFill>
              </a:rPr>
              <a:t>N</a:t>
            </a:r>
            <a:r>
              <a:rPr lang="en-US" dirty="0">
                <a:solidFill>
                  <a:schemeClr val="tx1"/>
                </a:solidFill>
              </a:rPr>
              <a:t>otation</a:t>
            </a:r>
            <a:r>
              <a:rPr lang="sk-SK" dirty="0">
                <a:solidFill>
                  <a:schemeClr val="tx1"/>
                </a:solidFill>
              </a:rPr>
              <a:t> </a:t>
            </a:r>
            <a:r>
              <a:rPr lang="sk-SK" dirty="0"/>
              <a:t>- </a:t>
            </a:r>
            <a:r>
              <a:rPr lang="sk-SK" u="sng" dirty="0">
                <a:solidFill>
                  <a:schemeClr val="hlink"/>
                </a:solidFill>
                <a:hlinkClick r:id="rId3"/>
              </a:rPr>
              <a:t>www.json.org</a:t>
            </a:r>
            <a:r>
              <a:rPr lang="sk-SK" dirty="0"/>
              <a:t> </a:t>
            </a:r>
          </a:p>
          <a:p>
            <a:pPr marL="457200" lvl="0" indent="-330200" algn="l" rtl="0">
              <a:spcBef>
                <a:spcPts val="0"/>
              </a:spcBef>
              <a:spcAft>
                <a:spcPts val="0"/>
              </a:spcAft>
              <a:buSzPts val="1600"/>
              <a:buChar char="●"/>
            </a:pPr>
            <a:r>
              <a:rPr lang="sk-SK" dirty="0"/>
              <a:t>Formát na prenos dát medzi klientom a serverom </a:t>
            </a:r>
            <a:endParaRPr lang="en-US" dirty="0"/>
          </a:p>
          <a:p>
            <a:pPr lvl="1">
              <a:spcBef>
                <a:spcPts val="0"/>
              </a:spcBef>
            </a:pPr>
            <a:r>
              <a:rPr lang="sk-SK" dirty="0"/>
              <a:t>Textový formát</a:t>
            </a:r>
          </a:p>
          <a:p>
            <a:pPr marL="457200" lvl="0" indent="-330200" algn="l" rtl="0">
              <a:spcBef>
                <a:spcPts val="0"/>
              </a:spcBef>
              <a:spcAft>
                <a:spcPts val="0"/>
              </a:spcAft>
              <a:buSzPts val="1600"/>
              <a:buChar char="●"/>
            </a:pPr>
            <a:r>
              <a:rPr lang="sk-SK" dirty="0"/>
              <a:t>Jazykovo nezávislý (používa JS </a:t>
            </a:r>
            <a:r>
              <a:rPr lang="en-US" dirty="0"/>
              <a:t>syntax</a:t>
            </a:r>
            <a:r>
              <a:rPr lang="sk-SK" dirty="0"/>
              <a:t>)</a:t>
            </a:r>
          </a:p>
          <a:p>
            <a:pPr marL="914400" lvl="1" indent="-298450" algn="l" rtl="0">
              <a:spcBef>
                <a:spcPts val="0"/>
              </a:spcBef>
              <a:spcAft>
                <a:spcPts val="0"/>
              </a:spcAft>
              <a:buSzPts val="1100"/>
              <a:buChar char="○"/>
            </a:pPr>
            <a:r>
              <a:rPr lang="sk-SK" dirty="0"/>
              <a:t>Podpora v PHP, JAVA, P</a:t>
            </a:r>
            <a:r>
              <a:rPr lang="en-US" dirty="0" err="1"/>
              <a:t>ython</a:t>
            </a:r>
            <a:r>
              <a:rPr lang="en-US" dirty="0"/>
              <a:t>,</a:t>
            </a:r>
            <a:r>
              <a:rPr lang="sk-SK" dirty="0"/>
              <a:t> C</a:t>
            </a:r>
            <a:r>
              <a:rPr lang="en-US" dirty="0"/>
              <a:t>#</a:t>
            </a:r>
            <a:r>
              <a:rPr lang="sk-SK" dirty="0"/>
              <a:t>, ...</a:t>
            </a:r>
          </a:p>
          <a:p>
            <a:pPr marL="457200" lvl="0" indent="-330200" algn="l" rtl="0">
              <a:spcBef>
                <a:spcPts val="0"/>
              </a:spcBef>
              <a:spcAft>
                <a:spcPts val="0"/>
              </a:spcAft>
              <a:buSzPts val="1600"/>
              <a:buChar char="●"/>
            </a:pPr>
            <a:r>
              <a:rPr lang="sk-SK" dirty="0"/>
              <a:t>Definovaný v </a:t>
            </a:r>
            <a:r>
              <a:rPr lang="sk-SK" dirty="0">
                <a:hlinkClick r:id="rId4"/>
              </a:rPr>
              <a:t>RFC 4627</a:t>
            </a:r>
            <a:endParaRPr lang="sk-SK" dirty="0"/>
          </a:p>
          <a:p>
            <a:pPr marL="457200" lvl="0" indent="-330200" algn="l" rtl="0">
              <a:spcBef>
                <a:spcPts val="0"/>
              </a:spcBef>
              <a:spcAft>
                <a:spcPts val="0"/>
              </a:spcAft>
              <a:buSzPts val="1600"/>
              <a:buChar char="●"/>
            </a:pPr>
            <a:r>
              <a:rPr lang="sk-SK" dirty="0"/>
              <a:t>Natívna podpora</a:t>
            </a:r>
            <a:r>
              <a:rPr lang="en-US" dirty="0"/>
              <a:t> </a:t>
            </a:r>
            <a:r>
              <a:rPr lang="sk-SK" dirty="0"/>
              <a:t>vo všetkých súčasných prehliadačoch</a:t>
            </a:r>
          </a:p>
        </p:txBody>
      </p:sp>
      <p:sp>
        <p:nvSpPr>
          <p:cNvPr id="354" name="Google Shape;354;p48"/>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31</a:t>
            </a:fld>
            <a:endParaRPr lang="sk-SK"/>
          </a:p>
        </p:txBody>
      </p:sp>
      <p:pic>
        <p:nvPicPr>
          <p:cNvPr id="3" name="Obrázok 2" descr="Obrázok, na ktorom je ľudská tvár, snímka obrazovky, text, osoba&#10;&#10;Obsah vygenerovaný pomocou AI môže byť nesprávny.">
            <a:extLst>
              <a:ext uri="{FF2B5EF4-FFF2-40B4-BE49-F238E27FC236}">
                <a16:creationId xmlns:a16="http://schemas.microsoft.com/office/drawing/2014/main" id="{1EB76CC4-497A-5DB7-0F74-FC061CE76A2E}"/>
              </a:ext>
            </a:extLst>
          </p:cNvPr>
          <p:cNvPicPr>
            <a:picLocks noChangeAspect="1"/>
          </p:cNvPicPr>
          <p:nvPr/>
        </p:nvPicPr>
        <p:blipFill>
          <a:blip r:embed="rId5"/>
          <a:stretch>
            <a:fillRect/>
          </a:stretch>
        </p:blipFill>
        <p:spPr>
          <a:xfrm>
            <a:off x="5565367" y="1889853"/>
            <a:ext cx="3246783" cy="26785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9"/>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JSON </a:t>
            </a:r>
            <a:r>
              <a:rPr lang="en-US" dirty="0"/>
              <a:t>d</a:t>
            </a:r>
            <a:r>
              <a:rPr lang="sk-SK" dirty="0" err="1"/>
              <a:t>átové</a:t>
            </a:r>
            <a:r>
              <a:rPr lang="sk-SK" dirty="0"/>
              <a:t> typy</a:t>
            </a:r>
          </a:p>
        </p:txBody>
      </p:sp>
      <p:sp>
        <p:nvSpPr>
          <p:cNvPr id="360" name="Google Shape;360;p49"/>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17500" algn="l" rtl="0">
              <a:spcBef>
                <a:spcPts val="300"/>
              </a:spcBef>
              <a:spcAft>
                <a:spcPts val="0"/>
              </a:spcAft>
              <a:buSzPts val="1400"/>
              <a:buFont typeface="Roboto Mono"/>
              <a:buChar char="●"/>
            </a:pPr>
            <a:r>
              <a:rPr lang="en-US" sz="1400" dirty="0">
                <a:latin typeface="Consolas" panose="020B0609020204030204" pitchFamily="49" charset="0"/>
                <a:ea typeface="Roboto Mono"/>
                <a:cs typeface="Roboto Mono"/>
                <a:sym typeface="Roboto Mono"/>
              </a:rPr>
              <a:t>number (integer/real)</a:t>
            </a:r>
          </a:p>
          <a:p>
            <a:pPr marL="457200" lvl="0" indent="-317500" algn="l" rtl="0">
              <a:spcBef>
                <a:spcPts val="0"/>
              </a:spcBef>
              <a:spcAft>
                <a:spcPts val="0"/>
              </a:spcAft>
              <a:buSzPts val="1400"/>
              <a:buFont typeface="Roboto Mono"/>
              <a:buChar char="●"/>
            </a:pPr>
            <a:r>
              <a:rPr lang="en-US" sz="1400" dirty="0">
                <a:latin typeface="Consolas" panose="020B0609020204030204" pitchFamily="49" charset="0"/>
                <a:ea typeface="Roboto Mono"/>
                <a:cs typeface="Roboto Mono"/>
                <a:sym typeface="Roboto Mono"/>
              </a:rPr>
              <a:t>string</a:t>
            </a:r>
          </a:p>
          <a:p>
            <a:pPr marL="457200" lvl="0" indent="-317500" algn="l" rtl="0">
              <a:spcBef>
                <a:spcPts val="0"/>
              </a:spcBef>
              <a:spcAft>
                <a:spcPts val="0"/>
              </a:spcAft>
              <a:buSzPts val="1400"/>
              <a:buFont typeface="Roboto Mono"/>
              <a:buChar char="●"/>
            </a:pPr>
            <a:r>
              <a:rPr lang="en-US" sz="1400" dirty="0">
                <a:latin typeface="Consolas" panose="020B0609020204030204" pitchFamily="49" charset="0"/>
                <a:ea typeface="Roboto Mono"/>
                <a:cs typeface="Roboto Mono"/>
                <a:sym typeface="Roboto Mono"/>
              </a:rPr>
              <a:t>boolean</a:t>
            </a:r>
          </a:p>
          <a:p>
            <a:pPr marL="457200" lvl="0" indent="-317500" algn="l" rtl="0">
              <a:spcBef>
                <a:spcPts val="0"/>
              </a:spcBef>
              <a:spcAft>
                <a:spcPts val="0"/>
              </a:spcAft>
              <a:buSzPts val="1400"/>
              <a:buFont typeface="Roboto Mono"/>
              <a:buChar char="●"/>
            </a:pPr>
            <a:r>
              <a:rPr lang="en-US" sz="1400" dirty="0">
                <a:latin typeface="Consolas" panose="020B0609020204030204" pitchFamily="49" charset="0"/>
                <a:ea typeface="Roboto Mono"/>
                <a:cs typeface="Roboto Mono"/>
                <a:sym typeface="Roboto Mono"/>
              </a:rPr>
              <a:t>array</a:t>
            </a:r>
          </a:p>
          <a:p>
            <a:pPr marL="457200" lvl="0" indent="-317500" algn="l" rtl="0">
              <a:spcBef>
                <a:spcPts val="0"/>
              </a:spcBef>
              <a:spcAft>
                <a:spcPts val="0"/>
              </a:spcAft>
              <a:buSzPts val="1400"/>
              <a:buFont typeface="Roboto Mono"/>
              <a:buChar char="●"/>
            </a:pPr>
            <a:r>
              <a:rPr lang="en-US" sz="1400" dirty="0">
                <a:latin typeface="Consolas" panose="020B0609020204030204" pitchFamily="49" charset="0"/>
                <a:ea typeface="Roboto Mono"/>
                <a:cs typeface="Roboto Mono"/>
                <a:sym typeface="Roboto Mono"/>
              </a:rPr>
              <a:t>object</a:t>
            </a:r>
          </a:p>
          <a:p>
            <a:pPr marL="457200" lvl="0" indent="-317500" algn="l" rtl="0">
              <a:spcBef>
                <a:spcPts val="0"/>
              </a:spcBef>
              <a:spcAft>
                <a:spcPts val="0"/>
              </a:spcAft>
              <a:buSzPts val="1400"/>
              <a:buFont typeface="Roboto Mono"/>
              <a:buChar char="●"/>
            </a:pPr>
            <a:r>
              <a:rPr lang="en-US" sz="1400" dirty="0">
                <a:latin typeface="Consolas" panose="020B0609020204030204" pitchFamily="49" charset="0"/>
                <a:ea typeface="Roboto Mono"/>
                <a:cs typeface="Roboto Mono"/>
                <a:sym typeface="Roboto Mono"/>
              </a:rPr>
              <a:t>null</a:t>
            </a:r>
          </a:p>
        </p:txBody>
      </p:sp>
      <p:sp>
        <p:nvSpPr>
          <p:cNvPr id="361" name="Google Shape;361;p49"/>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32</a:t>
            </a:fld>
            <a:endParaRPr lang="sk-SK"/>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50"/>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JSON príklad (osoba) a spracovanie v JS</a:t>
            </a:r>
          </a:p>
        </p:txBody>
      </p:sp>
      <p:sp>
        <p:nvSpPr>
          <p:cNvPr id="367" name="Google Shape;367;p50"/>
          <p:cNvSpPr txBox="1">
            <a:spLocks noGrp="1"/>
          </p:cNvSpPr>
          <p:nvPr>
            <p:ph type="body" idx="1"/>
          </p:nvPr>
        </p:nvSpPr>
        <p:spPr>
          <a:xfrm>
            <a:off x="435894" y="1648771"/>
            <a:ext cx="3805906" cy="3027369"/>
          </a:xfrm>
          <a:prstGeom prst="rect">
            <a:avLst/>
          </a:prstGeom>
          <a:noFill/>
        </p:spPr>
        <p:txBody>
          <a:bodyPr spcFirstLastPara="1" wrap="square" lIns="68575" tIns="68575" rIns="68575" bIns="68575" anchor="t" anchorCtr="0">
            <a:noAutofit/>
          </a:bodyPr>
          <a:lstStyle/>
          <a:p>
            <a:pPr marL="0" lvl="0" indent="0" algn="l" rtl="0">
              <a:lnSpc>
                <a:spcPct val="100000"/>
              </a:lnSpc>
              <a:spcBef>
                <a:spcPts val="0"/>
              </a:spcBef>
              <a:spcAft>
                <a:spcPts val="0"/>
              </a:spcAft>
              <a:buClr>
                <a:schemeClr val="dk1"/>
              </a:buClr>
              <a:buSzPts val="1100"/>
              <a:buFont typeface="Arial"/>
              <a:buNone/>
            </a:pP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"meno"</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"Janko"</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"priezvisko"</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a:t>
            </a:r>
            <a:r>
              <a:rPr lang="sk-SK" sz="1000" dirty="0" err="1">
                <a:solidFill>
                  <a:schemeClr val="dk1"/>
                </a:solidFill>
                <a:highlight>
                  <a:srgbClr val="FFF0F0"/>
                </a:highlight>
                <a:latin typeface="Consolas" panose="020B0609020204030204" pitchFamily="49" charset="0"/>
                <a:ea typeface="Roboto Mono"/>
                <a:cs typeface="Roboto Mono"/>
                <a:sym typeface="Roboto Mono"/>
              </a:rPr>
              <a:t>Hraško</a:t>
            </a:r>
            <a:r>
              <a:rPr lang="sk-SK" sz="1000" dirty="0">
                <a:solidFill>
                  <a:schemeClr val="dk1"/>
                </a:solidFill>
                <a:highlight>
                  <a:srgbClr val="FFF0F0"/>
                </a:highlight>
                <a:latin typeface="Consolas" panose="020B0609020204030204" pitchFamily="49" charset="0"/>
                <a:ea typeface="Roboto Mono"/>
                <a:cs typeface="Roboto Mono"/>
                <a:sym typeface="Roboto Mono"/>
              </a:rPr>
              <a:t>"</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"vek"</a:t>
            </a:r>
            <a:r>
              <a:rPr lang="sk-SK" sz="1000" dirty="0">
                <a:solidFill>
                  <a:schemeClr val="dk1"/>
                </a:solidFill>
                <a:latin typeface="Consolas" panose="020B0609020204030204" pitchFamily="49" charset="0"/>
                <a:ea typeface="Roboto Mono"/>
                <a:cs typeface="Roboto Mono"/>
                <a:sym typeface="Roboto Mono"/>
              </a:rPr>
              <a:t>: </a:t>
            </a:r>
            <a:r>
              <a:rPr lang="sk-SK" sz="1000" b="1" dirty="0">
                <a:solidFill>
                  <a:srgbClr val="0000DD"/>
                </a:solidFill>
                <a:latin typeface="Consolas" panose="020B0609020204030204" pitchFamily="49" charset="0"/>
                <a:ea typeface="Roboto Mono"/>
                <a:cs typeface="Roboto Mono"/>
                <a:sym typeface="Roboto Mono"/>
              </a:rPr>
              <a:t>12</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"adresa"</a:t>
            </a:r>
            <a:r>
              <a:rPr lang="sk-SK" sz="1000" dirty="0">
                <a:solidFill>
                  <a:schemeClr val="dk1"/>
                </a:solidFill>
                <a:latin typeface="Consolas" panose="020B0609020204030204" pitchFamily="49" charset="0"/>
                <a:ea typeface="Roboto Mono"/>
                <a:cs typeface="Roboto Mono"/>
                <a:sym typeface="Roboto Mono"/>
              </a:rPr>
              <a:t>: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"ulica"</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"Horná 24"</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"mesto"</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"Žilina"</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a:t>
            </a:r>
            <a:r>
              <a:rPr lang="sk-SK" sz="1000" dirty="0" err="1">
                <a:solidFill>
                  <a:srgbClr val="007700"/>
                </a:solidFill>
                <a:latin typeface="Consolas" panose="020B0609020204030204" pitchFamily="49" charset="0"/>
                <a:ea typeface="Roboto Mono"/>
                <a:cs typeface="Roboto Mono"/>
                <a:sym typeface="Roboto Mono"/>
              </a:rPr>
              <a:t>psc</a:t>
            </a:r>
            <a:r>
              <a:rPr lang="sk-SK" sz="1000" dirty="0">
                <a:solidFill>
                  <a:srgbClr val="007700"/>
                </a:solidFill>
                <a:latin typeface="Consolas" panose="020B0609020204030204" pitchFamily="49" charset="0"/>
                <a:ea typeface="Roboto Mono"/>
                <a:cs typeface="Roboto Mono"/>
                <a:sym typeface="Roboto Mono"/>
              </a:rPr>
              <a:t>"</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"010 01"</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"kontakty"</a:t>
            </a:r>
            <a:r>
              <a:rPr lang="sk-SK" sz="1000" dirty="0">
                <a:solidFill>
                  <a:schemeClr val="dk1"/>
                </a:solidFill>
                <a:latin typeface="Consolas" panose="020B0609020204030204" pitchFamily="49" charset="0"/>
                <a:ea typeface="Roboto Mono"/>
                <a:cs typeface="Roboto Mono"/>
                <a:sym typeface="Roboto Mono"/>
              </a:rPr>
              <a:t>: [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"typ"</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"mobil"</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"hodnota"</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"041/12345678"</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"typ"</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"email"</a:t>
            </a:r>
            <a:r>
              <a:rPr lang="sk-SK" sz="1000" dirty="0">
                <a:solidFill>
                  <a:schemeClr val="dk1"/>
                </a:solidFill>
                <a:latin typeface="Consolas" panose="020B0609020204030204" pitchFamily="49" charset="0"/>
                <a:ea typeface="Roboto Mono"/>
                <a:cs typeface="Roboto Mono"/>
                <a:sym typeface="Roboto Mono"/>
              </a:rPr>
              <a:t>,</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r>
              <a:rPr lang="sk-SK" sz="1000" dirty="0">
                <a:solidFill>
                  <a:srgbClr val="007700"/>
                </a:solidFill>
                <a:latin typeface="Consolas" panose="020B0609020204030204" pitchFamily="49" charset="0"/>
                <a:ea typeface="Roboto Mono"/>
                <a:cs typeface="Roboto Mono"/>
                <a:sym typeface="Roboto Mono"/>
              </a:rPr>
              <a:t>"hodnota"</a:t>
            </a:r>
            <a:r>
              <a:rPr lang="sk-SK" sz="1000" dirty="0">
                <a:solidFill>
                  <a:schemeClr val="dk1"/>
                </a:solidFill>
                <a:latin typeface="Consolas" panose="020B0609020204030204" pitchFamily="49" charset="0"/>
                <a:ea typeface="Roboto Mono"/>
                <a:cs typeface="Roboto Mono"/>
                <a:sym typeface="Roboto Mono"/>
              </a:rPr>
              <a:t>: </a:t>
            </a:r>
            <a:r>
              <a:rPr lang="sk-SK" sz="1000" dirty="0">
                <a:solidFill>
                  <a:schemeClr val="dk1"/>
                </a:solidFill>
                <a:highlight>
                  <a:srgbClr val="FFF0F0"/>
                </a:highlight>
                <a:latin typeface="Consolas" panose="020B0609020204030204" pitchFamily="49" charset="0"/>
                <a:ea typeface="Roboto Mono"/>
                <a:cs typeface="Roboto Mono"/>
                <a:sym typeface="Roboto Mono"/>
              </a:rPr>
              <a:t>"janko.hrasko@rozpravka.sk"</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br>
              <a:rPr lang="sk-SK" sz="1000" dirty="0">
                <a:solidFill>
                  <a:schemeClr val="dk1"/>
                </a:solidFill>
                <a:latin typeface="Consolas" panose="020B0609020204030204" pitchFamily="49" charset="0"/>
                <a:ea typeface="Roboto Mono"/>
                <a:cs typeface="Roboto Mono"/>
                <a:sym typeface="Roboto Mono"/>
              </a:rPr>
            </a:br>
            <a:r>
              <a:rPr lang="sk-SK" sz="1000" dirty="0">
                <a:solidFill>
                  <a:schemeClr val="dk1"/>
                </a:solidFill>
                <a:latin typeface="Consolas" panose="020B0609020204030204" pitchFamily="49" charset="0"/>
                <a:ea typeface="Roboto Mono"/>
                <a:cs typeface="Roboto Mono"/>
                <a:sym typeface="Roboto Mono"/>
              </a:rPr>
              <a:t> }</a:t>
            </a:r>
            <a:endParaRPr lang="sk-SK" sz="1000" dirty="0">
              <a:latin typeface="Consolas" panose="020B0609020204030204" pitchFamily="49" charset="0"/>
              <a:ea typeface="Roboto Mono"/>
              <a:cs typeface="Roboto Mono"/>
              <a:sym typeface="Roboto Mono"/>
            </a:endParaRPr>
          </a:p>
        </p:txBody>
      </p:sp>
      <p:sp>
        <p:nvSpPr>
          <p:cNvPr id="368" name="Google Shape;368;p50"/>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33</a:t>
            </a:fld>
            <a:endParaRPr lang="sk-SK"/>
          </a:p>
        </p:txBody>
      </p:sp>
      <p:sp>
        <p:nvSpPr>
          <p:cNvPr id="2" name="Rectangle 1">
            <a:extLst>
              <a:ext uri="{FF2B5EF4-FFF2-40B4-BE49-F238E27FC236}">
                <a16:creationId xmlns:a16="http://schemas.microsoft.com/office/drawing/2014/main" id="{58852988-AF88-51D7-B5AE-C350E5836CD9}"/>
              </a:ext>
            </a:extLst>
          </p:cNvPr>
          <p:cNvSpPr>
            <a:spLocks noChangeArrowheads="1"/>
          </p:cNvSpPr>
          <p:nvPr/>
        </p:nvSpPr>
        <p:spPr bwMode="auto">
          <a:xfrm>
            <a:off x="4092617" y="2206073"/>
            <a:ext cx="5051383" cy="894732"/>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1600"/>
              </a:lnSpc>
              <a:spcBef>
                <a:spcPct val="0"/>
              </a:spcBef>
              <a:spcAft>
                <a:spcPct val="0"/>
              </a:spcAft>
              <a:buClrTx/>
              <a:buSzTx/>
              <a:buFontTx/>
              <a:buNone/>
              <a:tabLst/>
            </a:pPr>
            <a:r>
              <a:rPr kumimoji="0" lang="sk-SK" altLang="sk-SK" sz="1000" b="0" i="0" u="none" strike="noStrike" cap="none" normalizeH="0" baseline="0" dirty="0">
                <a:ln>
                  <a:noFill/>
                </a:ln>
                <a:solidFill>
                  <a:srgbClr val="0033B3"/>
                </a:solidFill>
                <a:effectLst/>
                <a:latin typeface="Consolas" panose="020B0609020204030204" pitchFamily="49" charset="0"/>
              </a:rPr>
              <a:t>let </a:t>
            </a:r>
            <a:r>
              <a:rPr kumimoji="0" lang="sk-SK" altLang="sk-SK" sz="1000" b="0" i="0" u="none" strike="noStrike" cap="none" normalizeH="0" baseline="0" dirty="0">
                <a:ln>
                  <a:noFill/>
                </a:ln>
                <a:solidFill>
                  <a:srgbClr val="830091"/>
                </a:solidFill>
                <a:effectLst/>
                <a:latin typeface="Consolas" panose="020B0609020204030204" pitchFamily="49" charset="0"/>
              </a:rPr>
              <a:t>osoba </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830091"/>
                </a:solidFill>
                <a:effectLst/>
                <a:latin typeface="Consolas" panose="020B0609020204030204" pitchFamily="49" charset="0"/>
              </a:rPr>
              <a:t>JSON</a:t>
            </a:r>
            <a:r>
              <a:rPr kumimoji="0" lang="sk-SK" altLang="sk-SK" sz="1000" b="0" i="0" u="none" strike="noStrike" cap="none" normalizeH="0" baseline="0" dirty="0" err="1">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7A7A43"/>
                </a:solidFill>
                <a:effectLst/>
                <a:latin typeface="Consolas" panose="020B0609020204030204" pitchFamily="49" charset="0"/>
              </a:rPr>
              <a:t>parse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xmlHttpReq.</a:t>
            </a:r>
            <a:r>
              <a:rPr kumimoji="0" lang="sk-SK" altLang="sk-SK" sz="1000" b="0" i="0" u="none" strike="noStrike" cap="none" normalizeH="0" baseline="0" dirty="0" err="1">
                <a:ln>
                  <a:noFill/>
                </a:ln>
                <a:solidFill>
                  <a:srgbClr val="871094"/>
                </a:solidFill>
                <a:effectLst/>
                <a:latin typeface="Consolas" panose="020B0609020204030204" pitchFamily="49" charset="0"/>
              </a:rPr>
              <a:t>responseText</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830091"/>
                </a:solidFill>
                <a:effectLst/>
                <a:latin typeface="Consolas" panose="020B0609020204030204" pitchFamily="49" charset="0"/>
              </a:rPr>
              <a:t>osoba</a:t>
            </a:r>
            <a:r>
              <a:rPr kumimoji="0" lang="sk-SK" altLang="sk-SK" sz="1000" b="0" i="0" u="none" strike="noStrike" cap="none" normalizeH="0" baseline="0" dirty="0" err="1">
                <a:ln>
                  <a:noFill/>
                </a:ln>
                <a:solidFill>
                  <a:srgbClr val="080808"/>
                </a:solidFill>
                <a:effectLst/>
                <a:latin typeface="Consolas" panose="020B0609020204030204" pitchFamily="49" charset="0"/>
              </a:rPr>
              <a:t>.meno</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lang="sk-SK" altLang="sk-SK" sz="1000" i="1" dirty="0">
                <a:solidFill>
                  <a:srgbClr val="8C8C8C"/>
                </a:solidFill>
                <a:latin typeface="Consolas" panose="020B0609020204030204" pitchFamily="49" charset="0"/>
              </a:rPr>
              <a:t>// Janko</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830091"/>
                </a:solidFill>
                <a:effectLst/>
                <a:latin typeface="Consolas" panose="020B0609020204030204" pitchFamily="49" charset="0"/>
              </a:rPr>
              <a:t>osoba</a:t>
            </a:r>
            <a:r>
              <a:rPr kumimoji="0" lang="sk-SK" altLang="sk-SK" sz="1000" b="0" i="0" u="none" strike="noStrike" cap="none" normalizeH="0" baseline="0" dirty="0" err="1">
                <a:ln>
                  <a:noFill/>
                </a:ln>
                <a:solidFill>
                  <a:srgbClr val="080808"/>
                </a:solidFill>
                <a:effectLst/>
                <a:latin typeface="Consolas" panose="020B0609020204030204" pitchFamily="49" charset="0"/>
              </a:rPr>
              <a:t>.adresa.mesto</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lang="sk-SK" altLang="sk-SK" sz="1000" i="1" dirty="0">
                <a:solidFill>
                  <a:srgbClr val="8C8C8C"/>
                </a:solidFill>
                <a:latin typeface="Consolas" panose="020B0609020204030204" pitchFamily="49" charset="0"/>
              </a:rPr>
              <a:t>// Žilina</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830091"/>
                </a:solidFill>
                <a:effectLst/>
                <a:latin typeface="Consolas" panose="020B0609020204030204" pitchFamily="49" charset="0"/>
              </a:rPr>
              <a:t>osoba</a:t>
            </a:r>
            <a:r>
              <a:rPr kumimoji="0" lang="sk-SK" altLang="sk-SK" sz="1000" b="0" i="0" u="none" strike="noStrike" cap="none" normalizeH="0" baseline="0" dirty="0" err="1">
                <a:ln>
                  <a:noFill/>
                </a:ln>
                <a:solidFill>
                  <a:srgbClr val="080808"/>
                </a:solidFill>
                <a:effectLst/>
                <a:latin typeface="Consolas" panose="020B0609020204030204" pitchFamily="49" charset="0"/>
              </a:rPr>
              <a:t>.kontakty</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1750EB"/>
                </a:solidFill>
                <a:effectLst/>
                <a:latin typeface="Consolas" panose="020B0609020204030204" pitchFamily="49" charset="0"/>
              </a:rPr>
              <a:t>1</a:t>
            </a:r>
            <a:r>
              <a:rPr kumimoji="0" lang="sk-SK" altLang="sk-SK" sz="1000" b="0" i="0" u="none" strike="noStrike" cap="none" normalizeH="0" baseline="0" dirty="0">
                <a:ln>
                  <a:noFill/>
                </a:ln>
                <a:solidFill>
                  <a:srgbClr val="080808"/>
                </a:solidFill>
                <a:effectLst/>
                <a:latin typeface="Consolas" panose="020B0609020204030204" pitchFamily="49" charset="0"/>
              </a:rPr>
              <a:t>].hodnota); </a:t>
            </a:r>
            <a:r>
              <a:rPr lang="sk-SK" altLang="sk-SK" sz="1000" i="1" dirty="0">
                <a:solidFill>
                  <a:srgbClr val="8C8C8C"/>
                </a:solidFill>
                <a:latin typeface="Consolas" panose="020B0609020204030204" pitchFamily="49" charset="0"/>
              </a:rPr>
              <a:t>// </a:t>
            </a:r>
            <a:r>
              <a:rPr lang="sk-SK" sz="1000" i="1" dirty="0">
                <a:solidFill>
                  <a:srgbClr val="8C8C8C"/>
                </a:solidFill>
                <a:latin typeface="Consolas" panose="020B0609020204030204" pitchFamily="49" charset="0"/>
                <a:sym typeface="Roboto Mono"/>
              </a:rPr>
              <a:t>janko.hrasko@rozpravka.sk</a:t>
            </a:r>
            <a:r>
              <a:rPr lang="sk-SK" altLang="sk-SK" sz="1000" i="1" dirty="0">
                <a:solidFill>
                  <a:srgbClr val="8C8C8C"/>
                </a:solidFill>
                <a:latin typeface="Consolas" panose="020B0609020204030204" pitchFamily="49" charset="0"/>
              </a:rPr>
              <a:t> </a:t>
            </a:r>
          </a:p>
        </p:txBody>
      </p:sp>
      <p:sp>
        <p:nvSpPr>
          <p:cNvPr id="3" name="Google Shape;374;p51">
            <a:extLst>
              <a:ext uri="{FF2B5EF4-FFF2-40B4-BE49-F238E27FC236}">
                <a16:creationId xmlns:a16="http://schemas.microsoft.com/office/drawing/2014/main" id="{E2945905-CA82-A562-2009-02239ACEFB86}"/>
              </a:ext>
            </a:extLst>
          </p:cNvPr>
          <p:cNvSpPr txBox="1">
            <a:spLocks/>
          </p:cNvSpPr>
          <p:nvPr/>
        </p:nvSpPr>
        <p:spPr>
          <a:xfrm>
            <a:off x="3194050" y="1648771"/>
            <a:ext cx="5041900" cy="557302"/>
          </a:xfrm>
          <a:prstGeom prst="rect">
            <a:avLst/>
          </a:prstGeom>
          <a:noFill/>
          <a:ln>
            <a:noFill/>
          </a:ln>
        </p:spPr>
        <p:txBody>
          <a:bodyPr spcFirstLastPara="1" wrap="square" lIns="68575" tIns="68575" rIns="68575" bIns="68575"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300"/>
              </a:spcBef>
              <a:spcAft>
                <a:spcPts val="0"/>
              </a:spcAft>
              <a:buClr>
                <a:schemeClr val="accent2"/>
              </a:buClr>
              <a:buSzPts val="1600"/>
              <a:buFont typeface="Noto Sans Symbols"/>
              <a:buChar char="●"/>
              <a:defRPr sz="1600" b="0" i="0" u="none" strike="noStrike" cap="none">
                <a:solidFill>
                  <a:schemeClr val="dk2"/>
                </a:solidFill>
                <a:latin typeface="Cabin"/>
                <a:ea typeface="Cabin"/>
                <a:cs typeface="Cabin"/>
                <a:sym typeface="Cabin"/>
              </a:defRPr>
            </a:lvl1pPr>
            <a:lvl2pPr marL="914400" marR="0" lvl="1" indent="-298450" algn="l" rtl="0">
              <a:lnSpc>
                <a:spcPct val="115000"/>
              </a:lnSpc>
              <a:spcBef>
                <a:spcPts val="500"/>
              </a:spcBef>
              <a:spcAft>
                <a:spcPts val="0"/>
              </a:spcAft>
              <a:buClr>
                <a:schemeClr val="accent2"/>
              </a:buClr>
              <a:buSzPts val="1100"/>
              <a:buFont typeface="Noto Sans Symbols"/>
              <a:buChar char="○"/>
              <a:defRPr sz="1400" b="0" i="0" u="none" strike="noStrike" cap="none">
                <a:solidFill>
                  <a:schemeClr val="dk2"/>
                </a:solidFill>
                <a:latin typeface="Cabin"/>
                <a:ea typeface="Cabin"/>
                <a:cs typeface="Cabin"/>
                <a:sym typeface="Cabin"/>
              </a:defRPr>
            </a:lvl2pPr>
            <a:lvl3pPr marL="1371600" marR="0" lvl="2" indent="-292100" algn="l" rtl="0">
              <a:lnSpc>
                <a:spcPct val="115000"/>
              </a:lnSpc>
              <a:spcBef>
                <a:spcPts val="500"/>
              </a:spcBef>
              <a:spcAft>
                <a:spcPts val="0"/>
              </a:spcAft>
              <a:buClr>
                <a:schemeClr val="accent2"/>
              </a:buClr>
              <a:buSzPts val="1000"/>
              <a:buFont typeface="Noto Sans Symbols"/>
              <a:buChar char="■"/>
              <a:defRPr sz="1100" b="0" i="0" u="none" strike="noStrike" cap="none">
                <a:solidFill>
                  <a:schemeClr val="dk2"/>
                </a:solidFill>
                <a:latin typeface="Cabin"/>
                <a:ea typeface="Cabin"/>
                <a:cs typeface="Cabin"/>
                <a:sym typeface="Cabin"/>
              </a:defRPr>
            </a:lvl3pPr>
            <a:lvl4pPr marL="1828800" marR="0" lvl="3"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4pPr>
            <a:lvl5pPr marL="2286000" marR="0" lvl="4"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5pPr>
            <a:lvl6pPr marL="2743200" marR="0" lvl="5"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6pPr>
            <a:lvl7pPr marL="3200400" marR="0" lvl="6"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7pPr>
            <a:lvl8pPr marL="3657600" marR="0" lvl="7" indent="-279400" algn="l" rtl="0">
              <a:lnSpc>
                <a:spcPct val="115000"/>
              </a:lnSpc>
              <a:spcBef>
                <a:spcPts val="500"/>
              </a:spcBef>
              <a:spcAft>
                <a:spcPts val="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8pPr>
            <a:lvl9pPr marL="4114800" marR="0" lvl="8" indent="-279400" algn="l" rtl="0">
              <a:lnSpc>
                <a:spcPct val="115000"/>
              </a:lnSpc>
              <a:spcBef>
                <a:spcPts val="500"/>
              </a:spcBef>
              <a:spcAft>
                <a:spcPts val="500"/>
              </a:spcAft>
              <a:buClr>
                <a:schemeClr val="accent2"/>
              </a:buClr>
              <a:buSzPts val="800"/>
              <a:buFont typeface="Noto Sans Symbols"/>
              <a:buChar char="■"/>
              <a:defRPr sz="900" b="0" i="0" u="none" strike="noStrike" cap="none">
                <a:solidFill>
                  <a:schemeClr val="dk2"/>
                </a:solidFill>
                <a:latin typeface="Cabin"/>
                <a:ea typeface="Cabin"/>
                <a:cs typeface="Cabin"/>
                <a:sym typeface="Cabin"/>
              </a:defRPr>
            </a:lvl9pPr>
          </a:lstStyle>
          <a:p>
            <a:pPr>
              <a:spcBef>
                <a:spcPts val="0"/>
              </a:spcBef>
            </a:pPr>
            <a:r>
              <a:rPr lang="sk-SK" dirty="0"/>
              <a:t>Spracovanie v JS:</a:t>
            </a:r>
          </a:p>
          <a:p>
            <a:pPr lvl="1">
              <a:spcBef>
                <a:spcPts val="0"/>
              </a:spcBef>
            </a:pPr>
            <a:r>
              <a:rPr lang="sk-SK" dirty="0"/>
              <a:t>Objekt </a:t>
            </a:r>
            <a:r>
              <a:rPr lang="sk-SK" sz="1200" dirty="0">
                <a:latin typeface="Consolas" panose="020B0609020204030204" pitchFamily="49" charset="0"/>
              </a:rPr>
              <a:t>JSON</a:t>
            </a:r>
            <a:br>
              <a:rPr lang="sk-SK" dirty="0"/>
            </a:br>
            <a:endParaRPr lang="sk-SK" sz="1200" dirty="0">
              <a:solidFill>
                <a:schemeClr val="dk1"/>
              </a:solidFill>
              <a:latin typeface="Roboto Mono"/>
              <a:ea typeface="Roboto Mono"/>
              <a:cs typeface="Roboto Mono"/>
              <a:sym typeface="Roboto Mono"/>
            </a:endParaRPr>
          </a:p>
          <a:p>
            <a:pPr marL="0" indent="0">
              <a:spcBef>
                <a:spcPts val="500"/>
              </a:spcBef>
              <a:buFont typeface="Noto Sans Symbols"/>
              <a:buNone/>
            </a:pPr>
            <a:endParaRPr lang="sk-SK" sz="1200" dirty="0">
              <a:solidFill>
                <a:schemeClr val="dk1"/>
              </a:solidFill>
              <a:latin typeface="Roboto Mono"/>
              <a:ea typeface="Roboto Mono"/>
              <a:cs typeface="Roboto Mono"/>
              <a:sym typeface="Roboto Mono"/>
            </a:endParaRPr>
          </a:p>
          <a:p>
            <a:pPr indent="0">
              <a:spcBef>
                <a:spcPts val="500"/>
              </a:spcBef>
              <a:spcAft>
                <a:spcPts val="500"/>
              </a:spcAft>
              <a:buFont typeface="Noto Sans Symbols"/>
              <a:buNone/>
            </a:pPr>
            <a:endParaRPr lang="sk-SK"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1906283-E61E-035B-AB62-C19C3C35FDDE}"/>
              </a:ext>
            </a:extLst>
          </p:cNvPr>
          <p:cNvSpPr>
            <a:spLocks noGrp="1"/>
          </p:cNvSpPr>
          <p:nvPr>
            <p:ph type="title"/>
          </p:nvPr>
        </p:nvSpPr>
        <p:spPr/>
        <p:txBody>
          <a:bodyPr/>
          <a:lstStyle/>
          <a:p>
            <a:r>
              <a:rPr lang="sk-SK" dirty="0"/>
              <a:t>Podpora JSON vo frameworku </a:t>
            </a:r>
            <a:r>
              <a:rPr lang="sk-SK" dirty="0" err="1"/>
              <a:t>Vaííčko</a:t>
            </a:r>
            <a:endParaRPr lang="sk-SK" dirty="0"/>
          </a:p>
        </p:txBody>
      </p:sp>
      <p:sp>
        <p:nvSpPr>
          <p:cNvPr id="3" name="Zástupný text 2">
            <a:extLst>
              <a:ext uri="{FF2B5EF4-FFF2-40B4-BE49-F238E27FC236}">
                <a16:creationId xmlns:a16="http://schemas.microsoft.com/office/drawing/2014/main" id="{9209B9C6-0367-4813-60A5-5020FD55C6A0}"/>
              </a:ext>
            </a:extLst>
          </p:cNvPr>
          <p:cNvSpPr>
            <a:spLocks noGrp="1"/>
          </p:cNvSpPr>
          <p:nvPr>
            <p:ph type="body" idx="1"/>
          </p:nvPr>
        </p:nvSpPr>
        <p:spPr/>
        <p:txBody>
          <a:bodyPr/>
          <a:lstStyle/>
          <a:p>
            <a:r>
              <a:rPr lang="sk-SK" dirty="0"/>
              <a:t>JSON podpora je súčasťou jazyka PHP</a:t>
            </a:r>
          </a:p>
          <a:p>
            <a:pPr lvl="1"/>
            <a:r>
              <a:rPr lang="sk-SK" dirty="0"/>
              <a:t>PHP obsahuje funkcie </a:t>
            </a:r>
            <a:r>
              <a:rPr lang="sk-SK" sz="1200" dirty="0" err="1">
                <a:latin typeface="Consolas" panose="020B0609020204030204" pitchFamily="49" charset="0"/>
              </a:rPr>
              <a:t>jso</a:t>
            </a:r>
            <a:r>
              <a:rPr lang="en-US" sz="1200" dirty="0">
                <a:latin typeface="Consolas" panose="020B0609020204030204" pitchFamily="49" charset="0"/>
              </a:rPr>
              <a:t>n_</a:t>
            </a:r>
            <a:r>
              <a:rPr lang="sk-SK" sz="1200" dirty="0" err="1">
                <a:latin typeface="Consolas" panose="020B0609020204030204" pitchFamily="49" charset="0"/>
              </a:rPr>
              <a:t>encode</a:t>
            </a:r>
            <a:r>
              <a:rPr lang="en-US" sz="1200" dirty="0">
                <a:latin typeface="Consolas" panose="020B0609020204030204" pitchFamily="49" charset="0"/>
              </a:rPr>
              <a:t>()</a:t>
            </a:r>
            <a:r>
              <a:rPr lang="en-US" dirty="0"/>
              <a:t> a </a:t>
            </a:r>
            <a:r>
              <a:rPr lang="sk-SK" sz="1200" dirty="0" err="1">
                <a:latin typeface="Consolas" panose="020B0609020204030204" pitchFamily="49" charset="0"/>
              </a:rPr>
              <a:t>jso</a:t>
            </a:r>
            <a:r>
              <a:rPr lang="en-US" sz="1200" dirty="0" err="1">
                <a:latin typeface="Consolas" panose="020B0609020204030204" pitchFamily="49" charset="0"/>
              </a:rPr>
              <a:t>n_de</a:t>
            </a:r>
            <a:r>
              <a:rPr lang="sk-SK" sz="1200" dirty="0" err="1">
                <a:latin typeface="Consolas" panose="020B0609020204030204" pitchFamily="49" charset="0"/>
              </a:rPr>
              <a:t>code</a:t>
            </a:r>
            <a:r>
              <a:rPr lang="en-US" sz="1200" dirty="0">
                <a:latin typeface="Consolas" panose="020B0609020204030204" pitchFamily="49" charset="0"/>
              </a:rPr>
              <a:t>()</a:t>
            </a:r>
            <a:endParaRPr lang="sk-SK" sz="1200" dirty="0">
              <a:latin typeface="Consolas" panose="020B0609020204030204" pitchFamily="49" charset="0"/>
            </a:endParaRPr>
          </a:p>
          <a:p>
            <a:r>
              <a:rPr lang="sk-SK" dirty="0"/>
              <a:t>Framework dokáže poslať JSON ako odpoveď pomocou triedy </a:t>
            </a:r>
            <a:r>
              <a:rPr lang="sk-SK" sz="1400" dirty="0" err="1">
                <a:latin typeface="Consolas" panose="020B0609020204030204" pitchFamily="49" charset="0"/>
              </a:rPr>
              <a:t>JsonResponse</a:t>
            </a:r>
            <a:endParaRPr lang="sk-SK" sz="1400" dirty="0">
              <a:latin typeface="Consolas" panose="020B0609020204030204" pitchFamily="49" charset="0"/>
            </a:endParaRPr>
          </a:p>
          <a:p>
            <a:pPr lvl="1"/>
            <a:r>
              <a:rPr lang="sk-SK" dirty="0"/>
              <a:t>Špeciálna </a:t>
            </a:r>
            <a:r>
              <a:rPr lang="en-US" i="1" dirty="0"/>
              <a:t>helper</a:t>
            </a:r>
            <a:r>
              <a:rPr lang="sk-SK" dirty="0"/>
              <a:t> metóda </a:t>
            </a:r>
            <a:r>
              <a:rPr lang="sk-SK" sz="1200" dirty="0" err="1">
                <a:latin typeface="Consolas" panose="020B0609020204030204" pitchFamily="49" charset="0"/>
              </a:rPr>
              <a:t>json</a:t>
            </a:r>
            <a:r>
              <a:rPr lang="sk-SK" sz="1200" dirty="0">
                <a:latin typeface="Consolas" panose="020B0609020204030204" pitchFamily="49" charset="0"/>
              </a:rPr>
              <a:t>()</a:t>
            </a:r>
            <a:r>
              <a:rPr lang="sk-SK" dirty="0"/>
              <a:t> triedy </a:t>
            </a:r>
            <a:r>
              <a:rPr lang="sk-SK" sz="1200" dirty="0" err="1">
                <a:latin typeface="Consolas" panose="020B0609020204030204" pitchFamily="49" charset="0"/>
              </a:rPr>
              <a:t>BaseController</a:t>
            </a:r>
            <a:endParaRPr lang="sk-SK" sz="1200" dirty="0">
              <a:latin typeface="Consolas" panose="020B0609020204030204" pitchFamily="49" charset="0"/>
            </a:endParaRPr>
          </a:p>
          <a:p>
            <a:pPr lvl="1"/>
            <a:r>
              <a:rPr lang="sk-SK" dirty="0"/>
              <a:t>Volá sa PHP funkcia </a:t>
            </a:r>
            <a:r>
              <a:rPr lang="sk-SK" sz="1200" dirty="0" err="1">
                <a:latin typeface="Consolas" panose="020B0609020204030204" pitchFamily="49" charset="0"/>
              </a:rPr>
              <a:t>jso</a:t>
            </a:r>
            <a:r>
              <a:rPr lang="en-US" sz="1200" dirty="0">
                <a:latin typeface="Consolas" panose="020B0609020204030204" pitchFamily="49" charset="0"/>
              </a:rPr>
              <a:t>n_</a:t>
            </a:r>
            <a:r>
              <a:rPr lang="sk-SK" sz="1200" dirty="0" err="1">
                <a:latin typeface="Consolas" panose="020B0609020204030204" pitchFamily="49" charset="0"/>
              </a:rPr>
              <a:t>encode</a:t>
            </a:r>
            <a:r>
              <a:rPr lang="en-US" sz="1200" dirty="0">
                <a:latin typeface="Consolas" panose="020B0609020204030204" pitchFamily="49" charset="0"/>
              </a:rPr>
              <a:t>()</a:t>
            </a:r>
            <a:r>
              <a:rPr lang="en-US" dirty="0"/>
              <a:t> </a:t>
            </a:r>
            <a:endParaRPr lang="sk-SK" dirty="0"/>
          </a:p>
          <a:p>
            <a:r>
              <a:rPr lang="en-US" dirty="0"/>
              <a:t>Framework vie z</a:t>
            </a:r>
            <a:r>
              <a:rPr lang="sk-SK" dirty="0"/>
              <a:t>ískať JSON dáta poslané z klienta (prostredníctvom JS)  </a:t>
            </a:r>
          </a:p>
          <a:p>
            <a:pPr lvl="1"/>
            <a:r>
              <a:rPr lang="sk-SK" dirty="0"/>
              <a:t>Metóda </a:t>
            </a:r>
            <a:r>
              <a:rPr lang="sk-SK" sz="1200" dirty="0" err="1">
                <a:latin typeface="Consolas" panose="020B0609020204030204" pitchFamily="49" charset="0"/>
              </a:rPr>
              <a:t>json</a:t>
            </a:r>
            <a:r>
              <a:rPr lang="sk-SK" sz="1200" dirty="0">
                <a:latin typeface="Consolas" panose="020B0609020204030204" pitchFamily="49" charset="0"/>
              </a:rPr>
              <a:t>()</a:t>
            </a:r>
            <a:r>
              <a:rPr lang="sk-SK" dirty="0"/>
              <a:t> triedy </a:t>
            </a:r>
            <a:r>
              <a:rPr lang="en-US" sz="1200" dirty="0">
                <a:latin typeface="Consolas" panose="020B0609020204030204" pitchFamily="49" charset="0"/>
              </a:rPr>
              <a:t>Request</a:t>
            </a:r>
            <a:r>
              <a:rPr lang="sk-SK" dirty="0"/>
              <a:t> (pozor, volať ju je možné len 1x)</a:t>
            </a:r>
          </a:p>
          <a:p>
            <a:pPr lvl="1"/>
            <a:r>
              <a:rPr lang="sk-SK" dirty="0"/>
              <a:t>Volá sa PHP funkcia </a:t>
            </a:r>
            <a:r>
              <a:rPr lang="sk-SK" sz="1200" dirty="0" err="1">
                <a:latin typeface="Consolas" panose="020B0609020204030204" pitchFamily="49" charset="0"/>
              </a:rPr>
              <a:t>jso</a:t>
            </a:r>
            <a:r>
              <a:rPr lang="en-US" sz="1200" dirty="0" err="1">
                <a:latin typeface="Consolas" panose="020B0609020204030204" pitchFamily="49" charset="0"/>
              </a:rPr>
              <a:t>n_</a:t>
            </a:r>
            <a:r>
              <a:rPr lang="en-US" dirty="0" err="1"/>
              <a:t>de</a:t>
            </a:r>
            <a:r>
              <a:rPr lang="sk-SK" sz="1200" dirty="0" err="1">
                <a:latin typeface="Consolas" panose="020B0609020204030204" pitchFamily="49" charset="0"/>
              </a:rPr>
              <a:t>code</a:t>
            </a:r>
            <a:r>
              <a:rPr lang="en-US" sz="1200" dirty="0">
                <a:latin typeface="Consolas" panose="020B0609020204030204" pitchFamily="49" charset="0"/>
              </a:rPr>
              <a:t>()</a:t>
            </a:r>
            <a:endParaRPr lang="sk-SK" sz="1200" dirty="0">
              <a:latin typeface="Consolas" panose="020B0609020204030204" pitchFamily="49" charset="0"/>
            </a:endParaRPr>
          </a:p>
        </p:txBody>
      </p:sp>
      <p:sp>
        <p:nvSpPr>
          <p:cNvPr id="4" name="Zástupný objekt pre číslo snímky 3">
            <a:extLst>
              <a:ext uri="{FF2B5EF4-FFF2-40B4-BE49-F238E27FC236}">
                <a16:creationId xmlns:a16="http://schemas.microsoft.com/office/drawing/2014/main" id="{041832A5-ACBC-FE4C-249B-DA1F029485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34</a:t>
            </a:fld>
            <a:endParaRPr lang="en-GB"/>
          </a:p>
        </p:txBody>
      </p:sp>
    </p:spTree>
    <p:extLst>
      <p:ext uri="{BB962C8B-B14F-4D97-AF65-F5344CB8AC3E}">
        <p14:creationId xmlns:p14="http://schemas.microsoft.com/office/powerpoint/2010/main" val="690362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B9EDBEC-95A6-F854-A34B-F5A1F10EA9BB}"/>
              </a:ext>
            </a:extLst>
          </p:cNvPr>
          <p:cNvSpPr>
            <a:spLocks noGrp="1"/>
          </p:cNvSpPr>
          <p:nvPr>
            <p:ph type="title"/>
          </p:nvPr>
        </p:nvSpPr>
        <p:spPr/>
        <p:txBody>
          <a:bodyPr/>
          <a:lstStyle/>
          <a:p>
            <a:r>
              <a:rPr lang="sk-SK" dirty="0"/>
              <a:t>Vytvorenie JSON reprezentácie modelu </a:t>
            </a:r>
          </a:p>
        </p:txBody>
      </p:sp>
      <p:sp>
        <p:nvSpPr>
          <p:cNvPr id="3" name="Zástupný text 2">
            <a:extLst>
              <a:ext uri="{FF2B5EF4-FFF2-40B4-BE49-F238E27FC236}">
                <a16:creationId xmlns:a16="http://schemas.microsoft.com/office/drawing/2014/main" id="{C7DA767D-C728-366E-865A-016160FAA8EA}"/>
              </a:ext>
            </a:extLst>
          </p:cNvPr>
          <p:cNvSpPr>
            <a:spLocks noGrp="1"/>
          </p:cNvSpPr>
          <p:nvPr>
            <p:ph type="body" idx="1"/>
          </p:nvPr>
        </p:nvSpPr>
        <p:spPr>
          <a:xfrm>
            <a:off x="430515" y="1635372"/>
            <a:ext cx="8272200" cy="2758800"/>
          </a:xfrm>
        </p:spPr>
        <p:txBody>
          <a:bodyPr/>
          <a:lstStyle/>
          <a:p>
            <a:r>
              <a:rPr lang="sk-SK" dirty="0"/>
              <a:t>Trieda </a:t>
            </a:r>
            <a:r>
              <a:rPr lang="sk-SK" sz="1400" dirty="0">
                <a:latin typeface="Consolas" panose="020B0609020204030204" pitchFamily="49" charset="0"/>
              </a:rPr>
              <a:t>Model</a:t>
            </a:r>
            <a:r>
              <a:rPr lang="sk-SK" dirty="0"/>
              <a:t> implementuje rozhranie </a:t>
            </a:r>
            <a:r>
              <a:rPr lang="sk-SK" sz="1400" dirty="0" err="1">
                <a:latin typeface="Consolas" panose="020B0609020204030204" pitchFamily="49" charset="0"/>
              </a:rPr>
              <a:t>JsonSerializable</a:t>
            </a:r>
            <a:endParaRPr lang="sk-SK" sz="1400" dirty="0">
              <a:latin typeface="Consolas" panose="020B0609020204030204" pitchFamily="49" charset="0"/>
            </a:endParaRPr>
          </a:p>
          <a:p>
            <a:pPr lvl="1"/>
            <a:r>
              <a:rPr lang="sk-SK" dirty="0"/>
              <a:t>Rozhranie obsahuje metódu </a:t>
            </a:r>
            <a:r>
              <a:rPr lang="sk-SK" sz="1200" dirty="0" err="1">
                <a:latin typeface="Consolas" panose="020B0609020204030204" pitchFamily="49" charset="0"/>
              </a:rPr>
              <a:t>jsonSerialize</a:t>
            </a:r>
            <a:r>
              <a:rPr lang="sk-SK" sz="1200" dirty="0">
                <a:latin typeface="Consolas" panose="020B0609020204030204" pitchFamily="49" charset="0"/>
              </a:rPr>
              <a:t>()</a:t>
            </a:r>
            <a:r>
              <a:rPr lang="sk-SK" dirty="0"/>
              <a:t>, ktorú </a:t>
            </a:r>
            <a:r>
              <a:rPr lang="sk-SK" sz="1200" dirty="0">
                <a:latin typeface="Consolas" panose="020B0609020204030204" pitchFamily="49" charset="0"/>
              </a:rPr>
              <a:t>Model</a:t>
            </a:r>
            <a:r>
              <a:rPr lang="sk-SK" dirty="0"/>
              <a:t> implementuje</a:t>
            </a:r>
          </a:p>
          <a:p>
            <a:pPr lvl="1"/>
            <a:r>
              <a:rPr lang="sk-SK" dirty="0"/>
              <a:t>Metóda sa zavolá, ak má </a:t>
            </a:r>
            <a:r>
              <a:rPr lang="sk-SK" sz="1200" dirty="0" err="1">
                <a:latin typeface="Consolas" panose="020B0609020204030204" pitchFamily="49" charset="0"/>
              </a:rPr>
              <a:t>json_encode</a:t>
            </a:r>
            <a:r>
              <a:rPr lang="sk-SK" sz="1200" dirty="0">
                <a:latin typeface="Consolas" panose="020B0609020204030204" pitchFamily="49" charset="0"/>
              </a:rPr>
              <a:t>()</a:t>
            </a:r>
            <a:r>
              <a:rPr lang="sk-SK" dirty="0"/>
              <a:t> ako parameter inštanciu modelu (alebo po</a:t>
            </a:r>
            <a:r>
              <a:rPr lang="en-US" dirty="0"/>
              <a:t>le</a:t>
            </a:r>
            <a:r>
              <a:rPr lang="sk-SK" dirty="0"/>
              <a:t> modelov)</a:t>
            </a:r>
          </a:p>
          <a:p>
            <a:pPr lvl="1"/>
            <a:r>
              <a:rPr lang="sk-SK" dirty="0"/>
              <a:t>Štandardne použije všetky atribúty modelu okrem interných (napr. </a:t>
            </a:r>
            <a:r>
              <a:rPr lang="en-US" dirty="0"/>
              <a:t>$_</a:t>
            </a:r>
            <a:r>
              <a:rPr lang="en-US" sz="1200" dirty="0" err="1">
                <a:latin typeface="Consolas" panose="020B0609020204030204" pitchFamily="49" charset="0"/>
              </a:rPr>
              <a:t>dbId</a:t>
            </a:r>
            <a:r>
              <a:rPr lang="sk-SK" dirty="0"/>
              <a:t>)</a:t>
            </a:r>
            <a:endParaRPr lang="en-US" dirty="0"/>
          </a:p>
          <a:p>
            <a:r>
              <a:rPr lang="sk-SK" dirty="0"/>
              <a:t>Zmena tohto správania </a:t>
            </a:r>
            <a:r>
              <a:rPr lang="en-US" dirty="0"/>
              <a:t>=&gt;</a:t>
            </a:r>
            <a:r>
              <a:rPr lang="sk-SK" dirty="0"/>
              <a:t> implementácia metódy </a:t>
            </a:r>
            <a:r>
              <a:rPr lang="sk-SK" sz="1400" dirty="0" err="1">
                <a:latin typeface="Consolas" panose="020B0609020204030204" pitchFamily="49" charset="0"/>
              </a:rPr>
              <a:t>jsonSerialize</a:t>
            </a:r>
            <a:r>
              <a:rPr lang="sk-SK" sz="1400" dirty="0">
                <a:latin typeface="Consolas" panose="020B0609020204030204" pitchFamily="49" charset="0"/>
              </a:rPr>
              <a:t>()</a:t>
            </a:r>
            <a:r>
              <a:rPr lang="sk-SK" dirty="0"/>
              <a:t> vo svojom modeli </a:t>
            </a:r>
          </a:p>
        </p:txBody>
      </p:sp>
      <p:sp>
        <p:nvSpPr>
          <p:cNvPr id="4" name="Zástupný objekt pre číslo snímky 3">
            <a:extLst>
              <a:ext uri="{FF2B5EF4-FFF2-40B4-BE49-F238E27FC236}">
                <a16:creationId xmlns:a16="http://schemas.microsoft.com/office/drawing/2014/main" id="{6E0FC2DD-9D5A-659F-B35C-5F7A5CDC91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35</a:t>
            </a:fld>
            <a:endParaRPr lang="en-GB"/>
          </a:p>
        </p:txBody>
      </p:sp>
    </p:spTree>
    <p:extLst>
      <p:ext uri="{BB962C8B-B14F-4D97-AF65-F5344CB8AC3E}">
        <p14:creationId xmlns:p14="http://schemas.microsoft.com/office/powerpoint/2010/main" val="2280736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9597312-2B1D-5860-93BC-1BA93712D1B1}"/>
              </a:ext>
            </a:extLst>
          </p:cNvPr>
          <p:cNvSpPr>
            <a:spLocks noGrp="1"/>
          </p:cNvSpPr>
          <p:nvPr>
            <p:ph type="title"/>
          </p:nvPr>
        </p:nvSpPr>
        <p:spPr/>
        <p:txBody>
          <a:bodyPr/>
          <a:lstStyle/>
          <a:p>
            <a:r>
              <a:rPr lang="sk-SK" dirty="0"/>
              <a:t>Otázka 2</a:t>
            </a:r>
            <a:endParaRPr lang="en-US" dirty="0"/>
          </a:p>
        </p:txBody>
      </p:sp>
      <p:sp>
        <p:nvSpPr>
          <p:cNvPr id="4" name="Zástupný objekt pre číslo snímky 3">
            <a:extLst>
              <a:ext uri="{FF2B5EF4-FFF2-40B4-BE49-F238E27FC236}">
                <a16:creationId xmlns:a16="http://schemas.microsoft.com/office/drawing/2014/main" id="{F03659BE-37CB-D219-E2F1-147B02BA33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36</a:t>
            </a:fld>
            <a:endParaRPr lang="en-GB"/>
          </a:p>
        </p:txBody>
      </p:sp>
      <p:pic>
        <p:nvPicPr>
          <p:cNvPr id="5" name="Obrázok 4" descr="Obrázok, na ktorom je zbraň, chlap, ľudská tvár, akčný film&#10;&#10;Obsah vygenerovaný pomocou AI môže byť nesprávny.">
            <a:extLst>
              <a:ext uri="{FF2B5EF4-FFF2-40B4-BE49-F238E27FC236}">
                <a16:creationId xmlns:a16="http://schemas.microsoft.com/office/drawing/2014/main" id="{2130B435-1881-3191-F01B-391F414D490C}"/>
              </a:ext>
            </a:extLst>
          </p:cNvPr>
          <p:cNvPicPr>
            <a:picLocks noChangeAspect="1"/>
          </p:cNvPicPr>
          <p:nvPr/>
        </p:nvPicPr>
        <p:blipFill>
          <a:blip r:embed="rId2"/>
          <a:stretch>
            <a:fillRect/>
          </a:stretch>
        </p:blipFill>
        <p:spPr>
          <a:xfrm>
            <a:off x="1897380" y="1520025"/>
            <a:ext cx="5052060" cy="2660752"/>
          </a:xfrm>
          <a:prstGeom prst="rect">
            <a:avLst/>
          </a:prstGeom>
        </p:spPr>
      </p:pic>
      <p:sp>
        <p:nvSpPr>
          <p:cNvPr id="7" name="BlokTextu 6">
            <a:extLst>
              <a:ext uri="{FF2B5EF4-FFF2-40B4-BE49-F238E27FC236}">
                <a16:creationId xmlns:a16="http://schemas.microsoft.com/office/drawing/2014/main" id="{708459B4-A88A-B56D-7A05-D34CF09DCDDC}"/>
              </a:ext>
            </a:extLst>
          </p:cNvPr>
          <p:cNvSpPr txBox="1"/>
          <p:nvPr/>
        </p:nvSpPr>
        <p:spPr>
          <a:xfrm>
            <a:off x="2214438" y="4260096"/>
            <a:ext cx="4572000" cy="523220"/>
          </a:xfrm>
          <a:prstGeom prst="rect">
            <a:avLst/>
          </a:prstGeom>
          <a:noFill/>
        </p:spPr>
        <p:txBody>
          <a:bodyPr wrap="square">
            <a:spAutoFit/>
          </a:bodyPr>
          <a:lstStyle/>
          <a:p>
            <a:r>
              <a:rPr lang="en-US" dirty="0">
                <a:hlinkClick r:id="rId3"/>
              </a:rPr>
              <a:t>https://www.fri.uniza.sk/cms/quizzes/questions/qr/29</a:t>
            </a:r>
            <a:endParaRPr lang="sk-SK" dirty="0"/>
          </a:p>
          <a:p>
            <a:endParaRPr lang="en-US" dirty="0"/>
          </a:p>
        </p:txBody>
      </p:sp>
    </p:spTree>
    <p:extLst>
      <p:ext uri="{BB962C8B-B14F-4D97-AF65-F5344CB8AC3E}">
        <p14:creationId xmlns:p14="http://schemas.microsoft.com/office/powerpoint/2010/main" val="3939103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647FFBF-BBCF-4861-8A6F-EF13053443AF}"/>
              </a:ext>
            </a:extLst>
          </p:cNvPr>
          <p:cNvSpPr>
            <a:spLocks noGrp="1"/>
          </p:cNvSpPr>
          <p:nvPr>
            <p:ph type="title"/>
          </p:nvPr>
        </p:nvSpPr>
        <p:spPr/>
        <p:txBody>
          <a:bodyPr/>
          <a:lstStyle/>
          <a:p>
            <a:r>
              <a:rPr lang="sk-SK"/>
              <a:t>Asynchrónne programovanie v JS</a:t>
            </a:r>
          </a:p>
        </p:txBody>
      </p:sp>
      <p:sp>
        <p:nvSpPr>
          <p:cNvPr id="3" name="Zástupný text 2">
            <a:extLst>
              <a:ext uri="{FF2B5EF4-FFF2-40B4-BE49-F238E27FC236}">
                <a16:creationId xmlns:a16="http://schemas.microsoft.com/office/drawing/2014/main" id="{3E5430CF-A52C-4CB8-B59E-4F7E6F85F081}"/>
              </a:ext>
            </a:extLst>
          </p:cNvPr>
          <p:cNvSpPr>
            <a:spLocks noGrp="1"/>
          </p:cNvSpPr>
          <p:nvPr>
            <p:ph type="body" idx="1"/>
          </p:nvPr>
        </p:nvSpPr>
        <p:spPr/>
        <p:txBody>
          <a:bodyPr/>
          <a:lstStyle/>
          <a:p>
            <a:endParaRPr lang="sk-SK"/>
          </a:p>
        </p:txBody>
      </p:sp>
      <p:sp>
        <p:nvSpPr>
          <p:cNvPr id="4" name="Zástupný objekt pre číslo snímky 3">
            <a:extLst>
              <a:ext uri="{FF2B5EF4-FFF2-40B4-BE49-F238E27FC236}">
                <a16:creationId xmlns:a16="http://schemas.microsoft.com/office/drawing/2014/main" id="{5BCA730C-BE55-4CF7-B79C-8208B063DD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37</a:t>
            </a:fld>
            <a:endParaRPr lang="en-GB"/>
          </a:p>
        </p:txBody>
      </p:sp>
    </p:spTree>
    <p:extLst>
      <p:ext uri="{BB962C8B-B14F-4D97-AF65-F5344CB8AC3E}">
        <p14:creationId xmlns:p14="http://schemas.microsoft.com/office/powerpoint/2010/main" val="125103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32B927A-6B06-414F-8827-9FEF291993F0}"/>
              </a:ext>
            </a:extLst>
          </p:cNvPr>
          <p:cNvSpPr>
            <a:spLocks noGrp="1"/>
          </p:cNvSpPr>
          <p:nvPr>
            <p:ph type="title"/>
          </p:nvPr>
        </p:nvSpPr>
        <p:spPr/>
        <p:txBody>
          <a:bodyPr/>
          <a:lstStyle/>
          <a:p>
            <a:r>
              <a:rPr lang="sk-SK"/>
              <a:t>Asynchrónne programovanie v JS</a:t>
            </a:r>
          </a:p>
        </p:txBody>
      </p:sp>
      <p:sp>
        <p:nvSpPr>
          <p:cNvPr id="3" name="Zástupný text 2">
            <a:extLst>
              <a:ext uri="{FF2B5EF4-FFF2-40B4-BE49-F238E27FC236}">
                <a16:creationId xmlns:a16="http://schemas.microsoft.com/office/drawing/2014/main" id="{F76BB445-EBB0-4ED1-94EB-11A925894DA0}"/>
              </a:ext>
            </a:extLst>
          </p:cNvPr>
          <p:cNvSpPr>
            <a:spLocks noGrp="1"/>
          </p:cNvSpPr>
          <p:nvPr>
            <p:ph type="body" idx="1"/>
          </p:nvPr>
        </p:nvSpPr>
        <p:spPr>
          <a:xfrm>
            <a:off x="435894" y="1635371"/>
            <a:ext cx="8272200" cy="3107353"/>
          </a:xfrm>
        </p:spPr>
        <p:txBody>
          <a:bodyPr/>
          <a:lstStyle/>
          <a:p>
            <a:r>
              <a:rPr lang="sk-SK" dirty="0"/>
              <a:t>Väčšina JS kódu sa odohráva v jednom vlákne </a:t>
            </a:r>
          </a:p>
          <a:p>
            <a:pPr lvl="1"/>
            <a:r>
              <a:rPr lang="sk-SK" dirty="0"/>
              <a:t>Kód nasleduje "za sebou" – synchrónne </a:t>
            </a:r>
          </a:p>
          <a:p>
            <a:pPr lvl="1"/>
            <a:r>
              <a:rPr lang="sk-SK" dirty="0"/>
              <a:t>Ak neberieme do úvahy použitie </a:t>
            </a:r>
            <a:r>
              <a:rPr lang="sk-SK" i="1" dirty="0">
                <a:hlinkClick r:id="rId3"/>
              </a:rPr>
              <a:t>web </a:t>
            </a:r>
            <a:r>
              <a:rPr lang="en-US" i="1" dirty="0">
                <a:hlinkClick r:id="rId3"/>
              </a:rPr>
              <a:t>workers</a:t>
            </a:r>
            <a:endParaRPr lang="en-US" i="1" dirty="0"/>
          </a:p>
          <a:p>
            <a:r>
              <a:rPr lang="sk-SK" dirty="0"/>
              <a:t>AJAX volanie je však príklad, kedy nechceme zastaviť vlákno a čakať na výsledok</a:t>
            </a:r>
          </a:p>
          <a:p>
            <a:pPr lvl="1"/>
            <a:r>
              <a:rPr lang="sk-SK" dirty="0"/>
              <a:t>Skript</a:t>
            </a:r>
            <a:r>
              <a:rPr lang="en-US" dirty="0"/>
              <a:t> </a:t>
            </a:r>
            <a:r>
              <a:rPr lang="sk-SK" dirty="0"/>
              <a:t>mu</a:t>
            </a:r>
            <a:r>
              <a:rPr lang="en-US" dirty="0"/>
              <a:t>s</a:t>
            </a:r>
            <a:r>
              <a:rPr lang="sk-SK" dirty="0"/>
              <a:t>í "bežať" ďalej a na príchod dát reagovať </a:t>
            </a:r>
            <a:r>
              <a:rPr lang="sk-SK" b="1" dirty="0">
                <a:solidFill>
                  <a:schemeClr val="tx1"/>
                </a:solidFill>
              </a:rPr>
              <a:t>asynchrónne</a:t>
            </a:r>
            <a:r>
              <a:rPr lang="sk-SK" dirty="0"/>
              <a:t>  </a:t>
            </a:r>
          </a:p>
          <a:p>
            <a:r>
              <a:rPr lang="sk-SK" dirty="0"/>
              <a:t>Riešení je niekoľko:</a:t>
            </a:r>
          </a:p>
          <a:p>
            <a:pPr lvl="1"/>
            <a:r>
              <a:rPr lang="sk-SK" dirty="0"/>
              <a:t>Tvorba </a:t>
            </a:r>
            <a:r>
              <a:rPr lang="en-US" i="1" dirty="0"/>
              <a:t>callback</a:t>
            </a:r>
            <a:r>
              <a:rPr lang="sk-SK" dirty="0"/>
              <a:t> funkcií (anonymné / </a:t>
            </a:r>
            <a:r>
              <a:rPr lang="en-US" i="1" dirty="0"/>
              <a:t>arrow</a:t>
            </a:r>
            <a:r>
              <a:rPr lang="sk-SK" dirty="0"/>
              <a:t> funkcie) – </a:t>
            </a:r>
            <a:r>
              <a:rPr lang="sk-SK" dirty="0">
                <a:hlinkClick r:id="rId4" action="ppaction://hlinksldjump"/>
              </a:rPr>
              <a:t>príklad</a:t>
            </a:r>
            <a:r>
              <a:rPr lang="sk-SK" dirty="0"/>
              <a:t>  </a:t>
            </a:r>
          </a:p>
          <a:p>
            <a:pPr lvl="1"/>
            <a:r>
              <a:rPr lang="en-US" i="1" dirty="0"/>
              <a:t>Promises</a:t>
            </a:r>
            <a:r>
              <a:rPr lang="sk-SK" dirty="0"/>
              <a:t> (prísľuby) – </a:t>
            </a:r>
            <a:r>
              <a:rPr lang="sk-SK" i="1" dirty="0" err="1"/>
              <a:t>ECMAScript</a:t>
            </a:r>
            <a:r>
              <a:rPr lang="sk-SK" i="1" dirty="0"/>
              <a:t> 2015+</a:t>
            </a:r>
          </a:p>
          <a:p>
            <a:pPr lvl="1"/>
            <a:r>
              <a:rPr lang="sk-SK" dirty="0"/>
              <a:t>Asynchrónny kód pomocou </a:t>
            </a:r>
            <a:r>
              <a:rPr lang="en-US" i="1" dirty="0"/>
              <a:t>async</a:t>
            </a:r>
            <a:r>
              <a:rPr lang="sk-SK" i="1" dirty="0"/>
              <a:t>/</a:t>
            </a:r>
            <a:r>
              <a:rPr lang="en-US" i="1" dirty="0"/>
              <a:t>await</a:t>
            </a:r>
            <a:r>
              <a:rPr lang="sk-SK" i="1" dirty="0"/>
              <a:t> – </a:t>
            </a:r>
            <a:r>
              <a:rPr lang="sk-SK" i="1" dirty="0" err="1"/>
              <a:t>ECMAScript</a:t>
            </a:r>
            <a:r>
              <a:rPr lang="sk-SK" i="1" dirty="0"/>
              <a:t> 2017+</a:t>
            </a:r>
            <a:endParaRPr lang="en-US" i="1" dirty="0"/>
          </a:p>
          <a:p>
            <a:pPr lvl="1"/>
            <a:endParaRPr lang="sk-SK" dirty="0"/>
          </a:p>
          <a:p>
            <a:pPr lvl="1"/>
            <a:endParaRPr lang="sk-SK" dirty="0"/>
          </a:p>
        </p:txBody>
      </p:sp>
      <p:sp>
        <p:nvSpPr>
          <p:cNvPr id="4" name="Zástupný objekt pre číslo snímky 3">
            <a:extLst>
              <a:ext uri="{FF2B5EF4-FFF2-40B4-BE49-F238E27FC236}">
                <a16:creationId xmlns:a16="http://schemas.microsoft.com/office/drawing/2014/main" id="{5D14D54E-7526-48F5-B35C-68E5D5DF0B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38</a:t>
            </a:fld>
            <a:endParaRPr lang="en-GB"/>
          </a:p>
        </p:txBody>
      </p:sp>
      <mc:AlternateContent xmlns:mc="http://schemas.openxmlformats.org/markup-compatibility/2006" xmlns:pslz="http://schemas.microsoft.com/office/powerpoint/2016/slidezoom">
        <mc:Choice Requires="pslz">
          <p:graphicFrame>
            <p:nvGraphicFramePr>
              <p:cNvPr id="6" name="Náhľad snímky 5">
                <a:extLst>
                  <a:ext uri="{FF2B5EF4-FFF2-40B4-BE49-F238E27FC236}">
                    <a16:creationId xmlns:a16="http://schemas.microsoft.com/office/drawing/2014/main" id="{5E0AB381-78C6-4397-A58D-BCDBD9488D2C}"/>
                  </a:ext>
                </a:extLst>
              </p:cNvPr>
              <p:cNvGraphicFramePr>
                <a:graphicFrameLocks noChangeAspect="1"/>
              </p:cNvGraphicFramePr>
              <p:nvPr>
                <p:extLst>
                  <p:ext uri="{D42A27DB-BD31-4B8C-83A1-F6EECF244321}">
                    <p14:modId xmlns:p14="http://schemas.microsoft.com/office/powerpoint/2010/main" val="2582467727"/>
                  </p:ext>
                </p:extLst>
              </p:nvPr>
            </p:nvGraphicFramePr>
            <p:xfrm>
              <a:off x="6436360" y="3341420"/>
              <a:ext cx="2026920" cy="1140143"/>
            </p:xfrm>
            <a:graphic>
              <a:graphicData uri="http://schemas.microsoft.com/office/powerpoint/2016/slidezoom">
                <pslz:sldZm>
                  <pslz:sldZmObj sldId="289" cId="0">
                    <pslz:zmPr id="{7FCDA33F-043B-45F5-A1A9-CBCAC8C88B41}" returnToParent="0" transitionDur="1000">
                      <p166:blipFill xmlns:p166="http://schemas.microsoft.com/office/powerpoint/2016/6/main">
                        <a:blip r:embed="rId5"/>
                        <a:stretch>
                          <a:fillRect/>
                        </a:stretch>
                      </p166:blipFill>
                      <p166:spPr xmlns:p166="http://schemas.microsoft.com/office/powerpoint/2016/6/main">
                        <a:xfrm>
                          <a:off x="0" y="0"/>
                          <a:ext cx="2026920" cy="1140143"/>
                        </a:xfrm>
                        <a:prstGeom prst="rect">
                          <a:avLst/>
                        </a:prstGeom>
                        <a:ln w="3175">
                          <a:solidFill>
                            <a:prstClr val="ltGray"/>
                          </a:solidFill>
                        </a:ln>
                      </p166:spPr>
                    </pslz:zmPr>
                  </pslz:sldZmObj>
                </pslz:sldZm>
              </a:graphicData>
            </a:graphic>
          </p:graphicFrame>
        </mc:Choice>
        <mc:Fallback xmlns="">
          <p:pic>
            <p:nvPicPr>
              <p:cNvPr id="6" name="Náhľad snímky 5">
                <a:hlinkClick r:id="rId6" action="ppaction://hlinksldjump"/>
                <a:extLst>
                  <a:ext uri="{FF2B5EF4-FFF2-40B4-BE49-F238E27FC236}">
                    <a16:creationId xmlns:a16="http://schemas.microsoft.com/office/drawing/2014/main" id="{5E0AB381-78C6-4397-A58D-BCDBD9488D2C}"/>
                  </a:ext>
                </a:extLst>
              </p:cNvPr>
              <p:cNvPicPr>
                <a:picLocks noGrp="1" noRot="1" noChangeAspect="1" noMove="1" noResize="1" noEditPoints="1" noAdjustHandles="1" noChangeArrowheads="1" noChangeShapeType="1"/>
              </p:cNvPicPr>
              <p:nvPr/>
            </p:nvPicPr>
            <p:blipFill>
              <a:blip r:embed="rId7"/>
              <a:stretch>
                <a:fillRect/>
              </a:stretch>
            </p:blipFill>
            <p:spPr>
              <a:xfrm>
                <a:off x="6436360" y="3341420"/>
                <a:ext cx="2026920" cy="1140143"/>
              </a:xfrm>
              <a:prstGeom prst="rect">
                <a:avLst/>
              </a:prstGeom>
              <a:ln w="3175">
                <a:solidFill>
                  <a:prstClr val="ltGray"/>
                </a:solidFill>
              </a:ln>
            </p:spPr>
          </p:pic>
        </mc:Fallback>
      </mc:AlternateContent>
    </p:spTree>
    <p:extLst>
      <p:ext uri="{BB962C8B-B14F-4D97-AF65-F5344CB8AC3E}">
        <p14:creationId xmlns:p14="http://schemas.microsoft.com/office/powerpoint/2010/main" val="1189088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9243AB9-DE8C-410C-890D-29779967FBB8}"/>
              </a:ext>
            </a:extLst>
          </p:cNvPr>
          <p:cNvSpPr>
            <a:spLocks noGrp="1"/>
          </p:cNvSpPr>
          <p:nvPr>
            <p:ph type="title"/>
          </p:nvPr>
        </p:nvSpPr>
        <p:spPr/>
        <p:txBody>
          <a:bodyPr/>
          <a:lstStyle/>
          <a:p>
            <a:r>
              <a:rPr lang="en-US" i="1"/>
              <a:t>Callback</a:t>
            </a:r>
            <a:r>
              <a:rPr lang="sk-SK"/>
              <a:t> funkcie</a:t>
            </a:r>
          </a:p>
        </p:txBody>
      </p:sp>
      <p:sp>
        <p:nvSpPr>
          <p:cNvPr id="3" name="Zástupný text 2">
            <a:extLst>
              <a:ext uri="{FF2B5EF4-FFF2-40B4-BE49-F238E27FC236}">
                <a16:creationId xmlns:a16="http://schemas.microsoft.com/office/drawing/2014/main" id="{B972BC24-6E88-4C15-966D-769C0BECAD93}"/>
              </a:ext>
            </a:extLst>
          </p:cNvPr>
          <p:cNvSpPr>
            <a:spLocks noGrp="1"/>
          </p:cNvSpPr>
          <p:nvPr>
            <p:ph type="body" idx="1"/>
          </p:nvPr>
        </p:nvSpPr>
        <p:spPr/>
        <p:txBody>
          <a:bodyPr/>
          <a:lstStyle/>
          <a:p>
            <a:r>
              <a:rPr lang="sk-SK"/>
              <a:t>Výhody:</a:t>
            </a:r>
          </a:p>
          <a:p>
            <a:pPr lvl="1"/>
            <a:r>
              <a:rPr lang="sk-SK"/>
              <a:t>Univerzálne riešenie dostupné na všetkých verziách JS</a:t>
            </a:r>
          </a:p>
          <a:p>
            <a:r>
              <a:rPr lang="sk-SK"/>
              <a:t>Nevýhody:</a:t>
            </a:r>
          </a:p>
          <a:p>
            <a:pPr lvl="1"/>
            <a:r>
              <a:rPr lang="sk-SK"/>
              <a:t>Neprehľadné, veľa zanoreného kódu (</a:t>
            </a:r>
            <a:r>
              <a:rPr lang="en-US" i="1">
                <a:hlinkClick r:id="rId2"/>
              </a:rPr>
              <a:t>pyramid of doom</a:t>
            </a:r>
            <a:r>
              <a:rPr lang="sk-SK"/>
              <a:t>)</a:t>
            </a:r>
          </a:p>
        </p:txBody>
      </p:sp>
      <p:sp>
        <p:nvSpPr>
          <p:cNvPr id="4" name="Zástupný objekt pre číslo snímky 3">
            <a:extLst>
              <a:ext uri="{FF2B5EF4-FFF2-40B4-BE49-F238E27FC236}">
                <a16:creationId xmlns:a16="http://schemas.microsoft.com/office/drawing/2014/main" id="{C05D5DC8-5F59-4D13-A999-639D0CD0F9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39</a:t>
            </a:fld>
            <a:endParaRPr lang="en-GB"/>
          </a:p>
        </p:txBody>
      </p:sp>
      <p:pic>
        <p:nvPicPr>
          <p:cNvPr id="8" name="Obrázok 7" descr="Obrázok, na ktorom je text, snímka obrazovky, písmo, rad&#10;&#10;Obsah vygenerovaný pomocou AI môže byť nesprávny.">
            <a:extLst>
              <a:ext uri="{FF2B5EF4-FFF2-40B4-BE49-F238E27FC236}">
                <a16:creationId xmlns:a16="http://schemas.microsoft.com/office/drawing/2014/main" id="{688237EF-D2E5-D4DB-1377-F259B3778B2F}"/>
              </a:ext>
            </a:extLst>
          </p:cNvPr>
          <p:cNvPicPr>
            <a:picLocks noChangeAspect="1"/>
          </p:cNvPicPr>
          <p:nvPr/>
        </p:nvPicPr>
        <p:blipFill>
          <a:blip r:embed="rId3"/>
          <a:stretch>
            <a:fillRect/>
          </a:stretch>
        </p:blipFill>
        <p:spPr>
          <a:xfrm>
            <a:off x="2635996" y="3185943"/>
            <a:ext cx="3871996" cy="1556782"/>
          </a:xfrm>
          <a:prstGeom prst="rect">
            <a:avLst/>
          </a:prstGeom>
        </p:spPr>
      </p:pic>
    </p:spTree>
    <p:extLst>
      <p:ext uri="{BB962C8B-B14F-4D97-AF65-F5344CB8AC3E}">
        <p14:creationId xmlns:p14="http://schemas.microsoft.com/office/powerpoint/2010/main" val="1049581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EEB24C8-FB04-4161-9804-D1DB0CDCC221}"/>
              </a:ext>
            </a:extLst>
          </p:cNvPr>
          <p:cNvSpPr>
            <a:spLocks noGrp="1"/>
          </p:cNvSpPr>
          <p:nvPr>
            <p:ph type="title"/>
          </p:nvPr>
        </p:nvSpPr>
        <p:spPr/>
        <p:txBody>
          <a:bodyPr/>
          <a:lstStyle/>
          <a:p>
            <a:r>
              <a:rPr lang="en-US" i="1"/>
              <a:t>Promises</a:t>
            </a:r>
          </a:p>
        </p:txBody>
      </p:sp>
      <p:sp>
        <p:nvSpPr>
          <p:cNvPr id="3" name="Zástupný text 2">
            <a:extLst>
              <a:ext uri="{FF2B5EF4-FFF2-40B4-BE49-F238E27FC236}">
                <a16:creationId xmlns:a16="http://schemas.microsoft.com/office/drawing/2014/main" id="{8A08F4F2-51E4-4DE7-B41C-CA8FC21E5833}"/>
              </a:ext>
            </a:extLst>
          </p:cNvPr>
          <p:cNvSpPr>
            <a:spLocks noGrp="1"/>
          </p:cNvSpPr>
          <p:nvPr>
            <p:ph type="body" idx="1"/>
          </p:nvPr>
        </p:nvSpPr>
        <p:spPr>
          <a:xfrm>
            <a:off x="435894" y="1635371"/>
            <a:ext cx="8272200" cy="2981511"/>
          </a:xfrm>
        </p:spPr>
        <p:txBody>
          <a:bodyPr/>
          <a:lstStyle/>
          <a:p>
            <a:r>
              <a:rPr lang="sk-SK" dirty="0"/>
              <a:t>Prísľub (</a:t>
            </a:r>
            <a:r>
              <a:rPr lang="en-US" i="1" dirty="0"/>
              <a:t>promise</a:t>
            </a:r>
            <a:r>
              <a:rPr lang="sk-SK" dirty="0"/>
              <a:t>) je objekt reprezentujúci "prípadné dokončenie" asynchrónnej operácie</a:t>
            </a:r>
          </a:p>
          <a:p>
            <a:pPr lvl="1"/>
            <a:r>
              <a:rPr lang="sk-SK" dirty="0"/>
              <a:t>Objekt vytvorený podľa štandardu </a:t>
            </a:r>
            <a:r>
              <a:rPr lang="en-US" dirty="0">
                <a:hlinkClick r:id="rId2"/>
              </a:rPr>
              <a:t>Promise</a:t>
            </a:r>
            <a:r>
              <a:rPr lang="sk-SK" dirty="0">
                <a:hlinkClick r:id="rId2"/>
              </a:rPr>
              <a:t>/A+</a:t>
            </a:r>
            <a:endParaRPr lang="sk-SK" dirty="0"/>
          </a:p>
          <a:p>
            <a:pPr lvl="1"/>
            <a:r>
              <a:rPr lang="sk-SK" dirty="0"/>
              <a:t>Operácia môže skončiť úspešne, alebo neúspešne</a:t>
            </a:r>
          </a:p>
          <a:p>
            <a:pPr lvl="1"/>
            <a:r>
              <a:rPr lang="sk-SK" dirty="0"/>
              <a:t>Metód</a:t>
            </a:r>
            <a:r>
              <a:rPr lang="en-US" dirty="0"/>
              <a:t>y</a:t>
            </a:r>
            <a:r>
              <a:rPr lang="sk-SK" dirty="0"/>
              <a:t> </a:t>
            </a:r>
            <a:r>
              <a:rPr lang="en-US" sz="1200" dirty="0">
                <a:latin typeface="Consolas" panose="020B0609020204030204" pitchFamily="49" charset="0"/>
              </a:rPr>
              <a:t>then</a:t>
            </a:r>
            <a:r>
              <a:rPr lang="sk-SK" sz="1200" dirty="0">
                <a:latin typeface="Consolas" panose="020B0609020204030204" pitchFamily="49" charset="0"/>
              </a:rPr>
              <a:t>()</a:t>
            </a:r>
            <a:r>
              <a:rPr lang="en-US" dirty="0"/>
              <a:t>, </a:t>
            </a:r>
            <a:r>
              <a:rPr lang="en-US" sz="1200" dirty="0">
                <a:latin typeface="Consolas" panose="020B0609020204030204" pitchFamily="49" charset="0"/>
              </a:rPr>
              <a:t>catch()</a:t>
            </a:r>
            <a:r>
              <a:rPr lang="en-US" dirty="0"/>
              <a:t> a </a:t>
            </a:r>
            <a:r>
              <a:rPr lang="en-US" sz="1200" dirty="0">
                <a:latin typeface="Consolas" panose="020B0609020204030204" pitchFamily="49" charset="0"/>
              </a:rPr>
              <a:t>finally() </a:t>
            </a:r>
            <a:endParaRPr lang="sk-SK" sz="1200" dirty="0">
              <a:latin typeface="Consolas" panose="020B0609020204030204" pitchFamily="49" charset="0"/>
            </a:endParaRPr>
          </a:p>
          <a:p>
            <a:pPr lvl="1"/>
            <a:r>
              <a:rPr lang="sk-SK" dirty="0">
                <a:hlinkClick r:id="rId3"/>
              </a:rPr>
              <a:t>Príklad</a:t>
            </a:r>
            <a:endParaRPr lang="en-US" dirty="0"/>
          </a:p>
          <a:p>
            <a:r>
              <a:rPr lang="sk-SK" dirty="0"/>
              <a:t>Výhody:</a:t>
            </a:r>
          </a:p>
          <a:p>
            <a:pPr lvl="1"/>
            <a:r>
              <a:rPr lang="sk-SK" dirty="0"/>
              <a:t>Garancia, že </a:t>
            </a:r>
            <a:r>
              <a:rPr lang="en-US" i="1" dirty="0"/>
              <a:t>callback</a:t>
            </a:r>
            <a:r>
              <a:rPr lang="sk-SK" dirty="0"/>
              <a:t> funkcie budú volané v správnom poradí</a:t>
            </a:r>
          </a:p>
          <a:p>
            <a:pPr lvl="1"/>
            <a:r>
              <a:rPr lang="en-US" i="1" dirty="0"/>
              <a:t>Callback</a:t>
            </a:r>
            <a:r>
              <a:rPr lang="sk-SK" dirty="0"/>
              <a:t> funkcie pridané pomocou </a:t>
            </a:r>
            <a:r>
              <a:rPr lang="en-US" sz="1200" dirty="0">
                <a:latin typeface="Consolas" panose="020B0609020204030204" pitchFamily="49" charset="0"/>
              </a:rPr>
              <a:t>then</a:t>
            </a:r>
            <a:r>
              <a:rPr lang="sk-SK" sz="1200" dirty="0">
                <a:latin typeface="Consolas" panose="020B0609020204030204" pitchFamily="49" charset="0"/>
              </a:rPr>
              <a:t>()</a:t>
            </a:r>
            <a:r>
              <a:rPr lang="sk-SK" dirty="0"/>
              <a:t> sú volané po skončení asynchrónnej operácie</a:t>
            </a:r>
          </a:p>
          <a:p>
            <a:pPr lvl="1"/>
            <a:r>
              <a:rPr lang="en-US" i="1" dirty="0"/>
              <a:t>Callback</a:t>
            </a:r>
            <a:r>
              <a:rPr lang="sk-SK" dirty="0"/>
              <a:t> funkcie môžu byť pridávané viacnásobne za sebou </a:t>
            </a:r>
          </a:p>
          <a:p>
            <a:pPr lvl="1"/>
            <a:endParaRPr lang="sk-SK" dirty="0"/>
          </a:p>
        </p:txBody>
      </p:sp>
      <p:sp>
        <p:nvSpPr>
          <p:cNvPr id="4" name="Zástupný objekt pre číslo snímky 3">
            <a:extLst>
              <a:ext uri="{FF2B5EF4-FFF2-40B4-BE49-F238E27FC236}">
                <a16:creationId xmlns:a16="http://schemas.microsoft.com/office/drawing/2014/main" id="{58F247F4-FE3B-495B-A240-C466424D09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40</a:t>
            </a:fld>
            <a:endParaRPr lang="en-GB"/>
          </a:p>
        </p:txBody>
      </p:sp>
      <p:sp>
        <p:nvSpPr>
          <p:cNvPr id="6" name="BlokTextu 5">
            <a:extLst>
              <a:ext uri="{FF2B5EF4-FFF2-40B4-BE49-F238E27FC236}">
                <a16:creationId xmlns:a16="http://schemas.microsoft.com/office/drawing/2014/main" id="{EC8EC245-CD5A-4108-AF33-568DCDEBCE3B}"/>
              </a:ext>
            </a:extLst>
          </p:cNvPr>
          <p:cNvSpPr txBox="1"/>
          <p:nvPr/>
        </p:nvSpPr>
        <p:spPr>
          <a:xfrm>
            <a:off x="4339344" y="4648843"/>
            <a:ext cx="4316506" cy="230832"/>
          </a:xfrm>
          <a:prstGeom prst="rect">
            <a:avLst/>
          </a:prstGeom>
          <a:noFill/>
        </p:spPr>
        <p:txBody>
          <a:bodyPr wrap="square">
            <a:spAutoFit/>
          </a:bodyPr>
          <a:lstStyle/>
          <a:p>
            <a:r>
              <a:rPr lang="sk-SK" sz="900" dirty="0">
                <a:latin typeface="Cabin" panose="020B0604020202020204"/>
              </a:rPr>
              <a:t>Zdroj: </a:t>
            </a:r>
            <a:r>
              <a:rPr lang="sk-SK" sz="900" dirty="0">
                <a:latin typeface="Cabin" panose="020B0604020202020204"/>
                <a:hlinkClick r:id="rId3"/>
              </a:rPr>
              <a:t>https://developer.mozilla.org/en-US/docs/Web/JavaScript/Guide/Using_promises</a:t>
            </a:r>
            <a:r>
              <a:rPr lang="sk-SK" sz="900" dirty="0">
                <a:latin typeface="Cabin" panose="020B0604020202020204"/>
              </a:rPr>
              <a:t> </a:t>
            </a:r>
          </a:p>
        </p:txBody>
      </p:sp>
    </p:spTree>
    <p:extLst>
      <p:ext uri="{BB962C8B-B14F-4D97-AF65-F5344CB8AC3E}">
        <p14:creationId xmlns:p14="http://schemas.microsoft.com/office/powerpoint/2010/main" val="1779901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8B5413A-8D8D-4BEF-8044-C0D230A90744}"/>
              </a:ext>
            </a:extLst>
          </p:cNvPr>
          <p:cNvSpPr>
            <a:spLocks noGrp="1"/>
          </p:cNvSpPr>
          <p:nvPr>
            <p:ph type="title"/>
          </p:nvPr>
        </p:nvSpPr>
        <p:spPr/>
        <p:txBody>
          <a:bodyPr/>
          <a:lstStyle/>
          <a:p>
            <a:r>
              <a:rPr lang="sk-SK"/>
              <a:t>Príklad – Vytvorenie prísľubu</a:t>
            </a:r>
          </a:p>
        </p:txBody>
      </p:sp>
      <p:sp>
        <p:nvSpPr>
          <p:cNvPr id="4" name="Zástupný objekt pre číslo snímky 3">
            <a:extLst>
              <a:ext uri="{FF2B5EF4-FFF2-40B4-BE49-F238E27FC236}">
                <a16:creationId xmlns:a16="http://schemas.microsoft.com/office/drawing/2014/main" id="{A5B72773-C270-45D4-BCC0-D99D406D79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41</a:t>
            </a:fld>
            <a:endParaRPr lang="en-GB" dirty="0"/>
          </a:p>
        </p:txBody>
      </p:sp>
      <p:sp>
        <p:nvSpPr>
          <p:cNvPr id="5" name="Rectangle 1">
            <a:extLst>
              <a:ext uri="{FF2B5EF4-FFF2-40B4-BE49-F238E27FC236}">
                <a16:creationId xmlns:a16="http://schemas.microsoft.com/office/drawing/2014/main" id="{47707293-C725-4F8A-A803-2BDF20E96E0C}"/>
              </a:ext>
            </a:extLst>
          </p:cNvPr>
          <p:cNvSpPr>
            <a:spLocks noChangeArrowheads="1"/>
          </p:cNvSpPr>
          <p:nvPr/>
        </p:nvSpPr>
        <p:spPr bwMode="auto">
          <a:xfrm>
            <a:off x="435894" y="1600673"/>
            <a:ext cx="6955750" cy="301621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k-SK" altLang="sk-SK" sz="1000" b="0" i="0" u="none" strike="noStrike" cap="none" normalizeH="0" baseline="0" dirty="0">
                <a:ln>
                  <a:noFill/>
                </a:ln>
                <a:solidFill>
                  <a:srgbClr val="0033B3"/>
                </a:solidFill>
                <a:effectLst/>
                <a:latin typeface="Consolas" panose="020B0609020204030204" pitchFamily="49" charset="0"/>
              </a:rPr>
              <a:t>let </a:t>
            </a:r>
            <a:r>
              <a:rPr kumimoji="0" lang="sk-SK" altLang="sk-SK" sz="1000" b="0" i="0" u="none" strike="noStrike" cap="none" normalizeH="0" baseline="0" dirty="0" err="1">
                <a:ln>
                  <a:noFill/>
                </a:ln>
                <a:solidFill>
                  <a:srgbClr val="830091"/>
                </a:solidFill>
                <a:effectLst/>
                <a:latin typeface="Consolas" panose="020B0609020204030204" pitchFamily="49" charset="0"/>
              </a:rPr>
              <a:t>promise</a:t>
            </a:r>
            <a:r>
              <a:rPr kumimoji="0" lang="sk-SK" altLang="sk-SK" sz="1000" b="0" i="0" u="none" strike="noStrike" cap="none" normalizeH="0" baseline="0" dirty="0">
                <a:ln>
                  <a:noFill/>
                </a:ln>
                <a:solidFill>
                  <a:srgbClr val="830091"/>
                </a:solidFill>
                <a:effectLst/>
                <a:latin typeface="Consolas" panose="020B0609020204030204" pitchFamily="49" charset="0"/>
              </a:rPr>
              <a:t> </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a:ln>
                  <a:noFill/>
                </a:ln>
                <a:solidFill>
                  <a:srgbClr val="0033B3"/>
                </a:solidFill>
                <a:effectLst/>
                <a:latin typeface="Consolas" panose="020B0609020204030204" pitchFamily="49" charset="0"/>
              </a:rPr>
              <a:t>new </a:t>
            </a:r>
            <a:r>
              <a:rPr kumimoji="0" lang="sk-SK" altLang="sk-SK" sz="1000" b="0" i="0" u="none" strike="noStrike" cap="none" normalizeH="0" baseline="0" dirty="0" err="1">
                <a:ln>
                  <a:noFill/>
                </a:ln>
                <a:solidFill>
                  <a:srgbClr val="830091"/>
                </a:solidFill>
                <a:effectLst/>
                <a:latin typeface="Consolas" panose="020B0609020204030204" pitchFamily="49" charset="0"/>
              </a:rPr>
              <a:t>Promise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resolve</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080808"/>
                </a:solidFill>
                <a:effectLst/>
                <a:latin typeface="Consolas" panose="020B0609020204030204" pitchFamily="49" charset="0"/>
              </a:rPr>
              <a:t>reject</a:t>
            </a:r>
            <a:r>
              <a:rPr kumimoji="0" lang="sk-SK" altLang="sk-SK" sz="1000" b="0" i="0" u="none" strike="noStrike" cap="none" normalizeH="0" baseline="0" dirty="0">
                <a:ln>
                  <a:noFill/>
                </a:ln>
                <a:solidFill>
                  <a:srgbClr val="080808"/>
                </a:solidFill>
                <a:effectLst/>
                <a:latin typeface="Consolas" panose="020B0609020204030204" pitchFamily="49" charset="0"/>
              </a:rPr>
              <a:t>) =&gt; {</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1" u="none" strike="noStrike" cap="none" normalizeH="0" baseline="0" dirty="0">
                <a:ln>
                  <a:noFill/>
                </a:ln>
                <a:solidFill>
                  <a:srgbClr val="8C8C8C"/>
                </a:solidFill>
                <a:effectLst/>
                <a:latin typeface="Consolas" panose="020B0609020204030204" pitchFamily="49" charset="0"/>
              </a:rPr>
              <a:t>// </a:t>
            </a:r>
            <a:r>
              <a:rPr kumimoji="0" lang="sk-SK" altLang="sk-SK" sz="1000" b="0" i="1" u="none" strike="noStrike" cap="none" normalizeH="0" baseline="0" dirty="0" err="1">
                <a:ln>
                  <a:noFill/>
                </a:ln>
                <a:solidFill>
                  <a:srgbClr val="8C8C8C"/>
                </a:solidFill>
                <a:effectLst/>
                <a:latin typeface="Consolas" panose="020B0609020204030204" pitchFamily="49" charset="0"/>
              </a:rPr>
              <a:t>setTimeout</a:t>
            </a:r>
            <a:r>
              <a:rPr kumimoji="0" lang="sk-SK" altLang="sk-SK" sz="1000" b="0" i="1" u="none" strike="noStrike" cap="none" normalizeH="0" baseline="0" dirty="0">
                <a:ln>
                  <a:noFill/>
                </a:ln>
                <a:solidFill>
                  <a:srgbClr val="8C8C8C"/>
                </a:solidFill>
                <a:effectLst/>
                <a:latin typeface="Consolas" panose="020B0609020204030204" pitchFamily="49" charset="0"/>
              </a:rPr>
              <a:t>() je tu len pre ilustráciu, v reálnom použití by tu mohlo byť napr. AJAX volanie</a:t>
            </a:r>
            <a:br>
              <a:rPr kumimoji="0" lang="sk-SK" altLang="sk-SK" sz="1000" b="0" i="1" u="none" strike="noStrike" cap="none" normalizeH="0" baseline="0" dirty="0">
                <a:ln>
                  <a:noFill/>
                </a:ln>
                <a:solidFill>
                  <a:srgbClr val="8C8C8C"/>
                </a:solidFill>
                <a:effectLst/>
                <a:latin typeface="Consolas" panose="020B0609020204030204" pitchFamily="49" charset="0"/>
              </a:rPr>
            </a:br>
            <a:r>
              <a:rPr kumimoji="0" lang="sk-SK" altLang="sk-SK" sz="1000" b="0" i="1" u="none" strike="noStrike" cap="none" normalizeH="0" baseline="0" dirty="0">
                <a:ln>
                  <a:noFill/>
                </a:ln>
                <a:solidFill>
                  <a:srgbClr val="8C8C8C"/>
                </a:solidFill>
                <a:effectLst/>
                <a:latin typeface="Consolas" panose="020B0609020204030204" pitchFamily="49" charset="0"/>
              </a:rPr>
              <a:t>  </a:t>
            </a:r>
            <a:r>
              <a:rPr kumimoji="0" lang="sk-SK" altLang="sk-SK" sz="1000" b="0" i="1" u="none" strike="noStrike" cap="none" normalizeH="0" baseline="0" dirty="0" err="1">
                <a:ln>
                  <a:noFill/>
                </a:ln>
                <a:solidFill>
                  <a:srgbClr val="080808"/>
                </a:solidFill>
                <a:effectLst/>
                <a:latin typeface="Consolas" panose="020B0609020204030204" pitchFamily="49" charset="0"/>
              </a:rPr>
              <a:t>setTimeout</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0033B3"/>
                </a:solidFill>
                <a:effectLst/>
                <a:latin typeface="Consolas" panose="020B0609020204030204" pitchFamily="49" charset="0"/>
              </a:rPr>
              <a:t>function</a:t>
            </a:r>
            <a:r>
              <a:rPr kumimoji="0" lang="sk-SK" altLang="sk-SK" sz="1000" b="0" i="0" u="none" strike="noStrike" cap="none" normalizeH="0" baseline="0" dirty="0">
                <a:ln>
                  <a:noFill/>
                </a:ln>
                <a:solidFill>
                  <a:srgbClr val="080808"/>
                </a:solidFill>
                <a:effectLst/>
                <a:latin typeface="Consolas" panose="020B0609020204030204" pitchFamily="49" charset="0"/>
              </a:rPr>
              <a:t>() {</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1" u="none" strike="noStrike" cap="none" normalizeH="0" baseline="0" dirty="0">
                <a:ln>
                  <a:noFill/>
                </a:ln>
                <a:solidFill>
                  <a:srgbClr val="8C8C8C"/>
                </a:solidFill>
                <a:effectLst/>
                <a:latin typeface="Consolas" panose="020B0609020204030204" pitchFamily="49" charset="0"/>
              </a:rPr>
              <a:t>//</a:t>
            </a:r>
            <a:r>
              <a:rPr kumimoji="0" lang="sk-SK" altLang="sk-SK" sz="1000" b="0" i="1" u="none" strike="noStrike" cap="none" normalizeH="0" baseline="0" dirty="0" err="1">
                <a:ln>
                  <a:noFill/>
                </a:ln>
                <a:solidFill>
                  <a:srgbClr val="8C8C8C"/>
                </a:solidFill>
                <a:effectLst/>
                <a:latin typeface="Consolas" panose="020B0609020204030204" pitchFamily="49" charset="0"/>
              </a:rPr>
              <a:t>reject</a:t>
            </a:r>
            <a:r>
              <a:rPr kumimoji="0" lang="sk-SK" altLang="sk-SK" sz="1000" b="0" i="1" u="none" strike="noStrike" cap="none" normalizeH="0" baseline="0" dirty="0">
                <a:ln>
                  <a:noFill/>
                </a:ln>
                <a:solidFill>
                  <a:srgbClr val="8C8C8C"/>
                </a:solidFill>
                <a:effectLst/>
                <a:latin typeface="Consolas" panose="020B0609020204030204" pitchFamily="49" charset="0"/>
              </a:rPr>
              <a:t>('Chyba!'); // Simulácia chyby</a:t>
            </a:r>
            <a:br>
              <a:rPr kumimoji="0" lang="sk-SK" altLang="sk-SK" sz="1000" b="0" i="1" u="none" strike="noStrike" cap="none" normalizeH="0" baseline="0" dirty="0">
                <a:ln>
                  <a:noFill/>
                </a:ln>
                <a:solidFill>
                  <a:srgbClr val="8C8C8C"/>
                </a:solidFill>
                <a:effectLst/>
                <a:latin typeface="Consolas" panose="020B0609020204030204" pitchFamily="49" charset="0"/>
              </a:rPr>
            </a:br>
            <a:r>
              <a:rPr kumimoji="0" lang="sk-SK" altLang="sk-SK" sz="1000" b="0" i="1" u="none" strike="noStrike" cap="none" normalizeH="0" baseline="0" dirty="0">
                <a:ln>
                  <a:noFill/>
                </a:ln>
                <a:solidFill>
                  <a:srgbClr val="8C8C8C"/>
                </a:solidFill>
                <a:effectLst/>
                <a:latin typeface="Consolas" panose="020B0609020204030204" pitchFamily="49" charset="0"/>
              </a:rPr>
              <a:t>    </a:t>
            </a:r>
            <a:r>
              <a:rPr kumimoji="0" lang="sk-SK" altLang="sk-SK" sz="1000" b="0" i="0" u="none" strike="noStrike" cap="none" normalizeH="0" baseline="0" dirty="0" err="1">
                <a:ln>
                  <a:noFill/>
                </a:ln>
                <a:solidFill>
                  <a:srgbClr val="080808"/>
                </a:solidFill>
                <a:effectLst/>
                <a:latin typeface="Consolas" panose="020B0609020204030204" pitchFamily="49" charset="0"/>
              </a:rPr>
              <a:t>resolve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067D17"/>
                </a:solidFill>
                <a:effectLst/>
                <a:latin typeface="Consolas" panose="020B0609020204030204" pitchFamily="49" charset="0"/>
              </a:rPr>
              <a:t>"Úspech!"</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1" u="none" strike="noStrike" cap="none" normalizeH="0" baseline="0" dirty="0">
                <a:ln>
                  <a:noFill/>
                </a:ln>
                <a:solidFill>
                  <a:srgbClr val="8C8C8C"/>
                </a:solidFill>
                <a:effectLst/>
                <a:latin typeface="Consolas" panose="020B0609020204030204" pitchFamily="49" charset="0"/>
              </a:rPr>
              <a:t>// Úspech</a:t>
            </a:r>
            <a:br>
              <a:rPr kumimoji="0" lang="sk-SK" altLang="sk-SK" sz="1000" b="0" i="1" u="none" strike="noStrike" cap="none" normalizeH="0" baseline="0" dirty="0">
                <a:ln>
                  <a:noFill/>
                </a:ln>
                <a:solidFill>
                  <a:srgbClr val="8C8C8C"/>
                </a:solidFill>
                <a:effectLst/>
                <a:latin typeface="Consolas" panose="020B0609020204030204" pitchFamily="49" charset="0"/>
              </a:rPr>
            </a:br>
            <a:r>
              <a:rPr kumimoji="0" lang="sk-SK" altLang="sk-SK" sz="1000" b="0" i="1" u="none" strike="noStrike" cap="none" normalizeH="0" baseline="0" dirty="0">
                <a:ln>
                  <a:noFill/>
                </a:ln>
                <a:solidFill>
                  <a:srgbClr val="8C8C8C"/>
                </a:solidFill>
                <a:effectLst/>
                <a:latin typeface="Consolas" panose="020B0609020204030204" pitchFamily="49" charset="0"/>
              </a:rPr>
              <a:t>  </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a:ln>
                  <a:noFill/>
                </a:ln>
                <a:solidFill>
                  <a:srgbClr val="1750EB"/>
                </a:solidFill>
                <a:effectLst/>
                <a:latin typeface="Consolas" panose="020B0609020204030204" pitchFamily="49" charset="0"/>
              </a:rPr>
              <a:t>250</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7A7A43"/>
                </a:solidFill>
                <a:effectLst/>
                <a:latin typeface="Consolas" panose="020B0609020204030204" pitchFamily="49" charset="0"/>
              </a:rPr>
              <a:t>then</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successMessage</a:t>
            </a:r>
            <a:r>
              <a:rPr kumimoji="0" lang="sk-SK" altLang="sk-SK" sz="1000" b="0" i="0" u="none" strike="noStrike" cap="none" normalizeH="0" baseline="0" dirty="0">
                <a:ln>
                  <a:noFill/>
                </a:ln>
                <a:solidFill>
                  <a:srgbClr val="080808"/>
                </a:solidFill>
                <a:effectLst/>
                <a:latin typeface="Consolas" panose="020B0609020204030204" pitchFamily="49" charset="0"/>
              </a:rPr>
              <a:t>) =&gt; {</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067D17"/>
                </a:solidFill>
                <a:effectLst/>
                <a:latin typeface="Consolas" panose="020B0609020204030204" pitchFamily="49" charset="0"/>
              </a:rPr>
              <a:t>"Hurá! " </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080808"/>
                </a:solidFill>
                <a:effectLst/>
                <a:latin typeface="Consolas" panose="020B0609020204030204" pitchFamily="49" charset="0"/>
              </a:rPr>
              <a:t>successMessage</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7A7A43"/>
                </a:solidFill>
                <a:effectLst/>
                <a:latin typeface="Consolas" panose="020B0609020204030204" pitchFamily="49" charset="0"/>
              </a:rPr>
              <a:t>catch</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failMessage</a:t>
            </a:r>
            <a:r>
              <a:rPr kumimoji="0" lang="sk-SK" altLang="sk-SK" sz="1000" b="0" i="0" u="none" strike="noStrike" cap="none" normalizeH="0" baseline="0" dirty="0">
                <a:ln>
                  <a:noFill/>
                </a:ln>
                <a:solidFill>
                  <a:srgbClr val="080808"/>
                </a:solidFill>
                <a:effectLst/>
                <a:latin typeface="Consolas" panose="020B0609020204030204" pitchFamily="49" charset="0"/>
              </a:rPr>
              <a:t>) =&gt; {</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067D17"/>
                </a:solidFill>
                <a:effectLst/>
                <a:latin typeface="Consolas" panose="020B0609020204030204" pitchFamily="49" charset="0"/>
              </a:rPr>
              <a:t>"Ó nie! " </a:t>
            </a: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080808"/>
                </a:solidFill>
                <a:effectLst/>
                <a:latin typeface="Consolas" panose="020B0609020204030204" pitchFamily="49" charset="0"/>
              </a:rPr>
              <a:t>failMessage</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7A7A43"/>
                </a:solidFill>
                <a:effectLst/>
                <a:latin typeface="Consolas" panose="020B0609020204030204" pitchFamily="49" charset="0"/>
              </a:rPr>
              <a:t>finally</a:t>
            </a:r>
            <a:r>
              <a:rPr kumimoji="0" lang="sk-SK" altLang="sk-SK" sz="1000" b="0" i="0" u="none" strike="noStrike" cap="none" normalizeH="0" baseline="0" dirty="0">
                <a:ln>
                  <a:noFill/>
                </a:ln>
                <a:solidFill>
                  <a:srgbClr val="080808"/>
                </a:solidFill>
                <a:effectLst/>
                <a:latin typeface="Consolas" panose="020B0609020204030204" pitchFamily="49" charset="0"/>
              </a:rPr>
              <a:t>(() =&gt; {</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067D17"/>
                </a:solidFill>
                <a:effectLst/>
                <a:latin typeface="Consolas" panose="020B0609020204030204" pitchFamily="49" charset="0"/>
              </a:rPr>
              <a:t>"Tu som vždy!"</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067D17"/>
                </a:solidFill>
                <a:effectLst/>
                <a:latin typeface="Consolas" panose="020B0609020204030204" pitchFamily="49" charset="0"/>
              </a:rPr>
              <a:t>"Čakám 250 ms..."</a:t>
            </a:r>
            <a:r>
              <a:rPr kumimoji="0" lang="sk-SK" altLang="sk-SK" sz="1000" b="0" i="0" u="none" strike="noStrike" cap="none" normalizeH="0" baseline="0" dirty="0">
                <a:ln>
                  <a:noFill/>
                </a:ln>
                <a:solidFill>
                  <a:srgbClr val="080808"/>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sk-SK" altLang="sk-SK" sz="1000" b="0" i="0" u="none" strike="noStrike" cap="none" normalizeH="0" baseline="0" dirty="0">
              <a:ln>
                <a:noFill/>
              </a:ln>
              <a:solidFill>
                <a:srgbClr val="080808"/>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sk-SK" altLang="sk-SK" sz="1000" i="1" dirty="0">
                <a:solidFill>
                  <a:srgbClr val="8C8C8C"/>
                </a:solidFill>
                <a:latin typeface="Consolas" panose="020B0609020204030204" pitchFamily="49" charset="0"/>
              </a:rPr>
              <a:t>// Do konzoly sa vypíše:</a:t>
            </a:r>
          </a:p>
          <a:p>
            <a:pPr marL="0" marR="0" lvl="0" indent="0" algn="l" defTabSz="914400" rtl="0" eaLnBrk="0" fontAlgn="base" latinLnBrk="0" hangingPunct="0">
              <a:lnSpc>
                <a:spcPct val="100000"/>
              </a:lnSpc>
              <a:spcBef>
                <a:spcPct val="0"/>
              </a:spcBef>
              <a:spcAft>
                <a:spcPct val="0"/>
              </a:spcAft>
              <a:buClrTx/>
              <a:buSzTx/>
              <a:buFontTx/>
              <a:buNone/>
              <a:tabLst/>
            </a:pPr>
            <a:r>
              <a:rPr lang="sk-SK" altLang="sk-SK" sz="1000" i="1" dirty="0">
                <a:solidFill>
                  <a:srgbClr val="8C8C8C"/>
                </a:solidFill>
                <a:latin typeface="Consolas" panose="020B0609020204030204" pitchFamily="49" charset="0"/>
              </a:rPr>
              <a:t>// Čakám 250 ms...</a:t>
            </a:r>
          </a:p>
          <a:p>
            <a:pPr marL="0" marR="0" lvl="0" indent="0" algn="l" defTabSz="914400" rtl="0" eaLnBrk="0" fontAlgn="base" latinLnBrk="0" hangingPunct="0">
              <a:lnSpc>
                <a:spcPct val="100000"/>
              </a:lnSpc>
              <a:spcBef>
                <a:spcPct val="0"/>
              </a:spcBef>
              <a:spcAft>
                <a:spcPct val="0"/>
              </a:spcAft>
              <a:buClrTx/>
              <a:buSzTx/>
              <a:buFontTx/>
              <a:buNone/>
              <a:tabLst/>
            </a:pPr>
            <a:r>
              <a:rPr lang="sk-SK" altLang="sk-SK" sz="1000" i="1" dirty="0">
                <a:solidFill>
                  <a:srgbClr val="8C8C8C"/>
                </a:solidFill>
                <a:latin typeface="Consolas" panose="020B0609020204030204" pitchFamily="49" charset="0"/>
              </a:rPr>
              <a:t>// Hurá</a:t>
            </a:r>
            <a:r>
              <a:rPr lang="en-US" altLang="sk-SK" sz="1000" i="1" dirty="0">
                <a:solidFill>
                  <a:srgbClr val="8C8C8C"/>
                </a:solidFill>
                <a:latin typeface="Consolas" panose="020B0609020204030204" pitchFamily="49" charset="0"/>
              </a:rPr>
              <a:t>! </a:t>
            </a:r>
            <a:r>
              <a:rPr lang="sk-SK" altLang="sk-SK" sz="1000" i="1" dirty="0">
                <a:solidFill>
                  <a:srgbClr val="8C8C8C"/>
                </a:solidFill>
                <a:latin typeface="Consolas" panose="020B0609020204030204" pitchFamily="49" charset="0"/>
              </a:rPr>
              <a:t>Úspech</a:t>
            </a:r>
            <a:r>
              <a:rPr lang="en-US" altLang="sk-SK" sz="1000" i="1" dirty="0">
                <a:solidFill>
                  <a:srgbClr val="8C8C8C"/>
                </a:solidFill>
                <a:latin typeface="Consolas" panose="020B0609020204030204" pitchFamily="49" charset="0"/>
              </a:rPr>
              <a:t>!</a:t>
            </a:r>
            <a:r>
              <a:rPr lang="sk-SK" altLang="sk-SK" sz="1000" i="1" dirty="0">
                <a:solidFill>
                  <a:srgbClr val="8C8C8C"/>
                </a:solidFill>
                <a:latin typeface="Consolas" panose="020B0609020204030204" pitchFamily="49" charset="0"/>
              </a:rPr>
              <a:t> (alebo Ó nie</a:t>
            </a:r>
            <a:r>
              <a:rPr lang="en-US" altLang="sk-SK" sz="1000" i="1" dirty="0">
                <a:solidFill>
                  <a:srgbClr val="8C8C8C"/>
                </a:solidFill>
                <a:latin typeface="Consolas" panose="020B0609020204030204" pitchFamily="49" charset="0"/>
              </a:rPr>
              <a:t>! </a:t>
            </a:r>
            <a:r>
              <a:rPr lang="sk-SK" altLang="sk-SK" sz="1000" i="1" dirty="0">
                <a:solidFill>
                  <a:srgbClr val="8C8C8C"/>
                </a:solidFill>
                <a:latin typeface="Consolas" panose="020B0609020204030204" pitchFamily="49" charset="0"/>
              </a:rPr>
              <a:t>Chyba</a:t>
            </a:r>
            <a:r>
              <a:rPr lang="en-US" altLang="sk-SK" sz="1000" i="1" dirty="0">
                <a:solidFill>
                  <a:srgbClr val="8C8C8C"/>
                </a:solidFill>
                <a:latin typeface="Consolas" panose="020B0609020204030204" pitchFamily="49" charset="0"/>
              </a:rPr>
              <a:t>!, </a:t>
            </a:r>
            <a:r>
              <a:rPr lang="sk-SK" altLang="sk-SK" sz="1000" i="1" dirty="0">
                <a:solidFill>
                  <a:srgbClr val="8C8C8C"/>
                </a:solidFill>
                <a:latin typeface="Consolas" panose="020B0609020204030204" pitchFamily="49" charset="0"/>
              </a:rPr>
              <a:t>ak</a:t>
            </a:r>
            <a:r>
              <a:rPr lang="en-US" altLang="sk-SK" sz="1000" i="1" dirty="0">
                <a:solidFill>
                  <a:srgbClr val="8C8C8C"/>
                </a:solidFill>
                <a:latin typeface="Consolas" panose="020B0609020204030204" pitchFamily="49" charset="0"/>
              </a:rPr>
              <a:t> </a:t>
            </a:r>
            <a:r>
              <a:rPr lang="sk-SK" altLang="sk-SK" sz="1000" i="1" dirty="0">
                <a:solidFill>
                  <a:srgbClr val="8C8C8C"/>
                </a:solidFill>
                <a:latin typeface="Consolas" panose="020B0609020204030204" pitchFamily="49" charset="0"/>
              </a:rPr>
              <a:t>odpoznámkujeme riadok </a:t>
            </a:r>
            <a:r>
              <a:rPr lang="en-US" altLang="sk-SK" sz="1000" i="1" dirty="0">
                <a:solidFill>
                  <a:srgbClr val="8C8C8C"/>
                </a:solidFill>
                <a:latin typeface="Consolas" panose="020B0609020204030204" pitchFamily="49" charset="0"/>
              </a:rPr>
              <a:t>reject</a:t>
            </a:r>
            <a:r>
              <a:rPr lang="sk-SK" altLang="sk-SK" sz="1000" i="1" dirty="0">
                <a:solidFill>
                  <a:srgbClr val="8C8C8C"/>
                </a:solidFill>
                <a:latin typeface="Consolas" panose="020B0609020204030204" pitchFamily="49" charset="0"/>
              </a:rPr>
              <a:t>...</a:t>
            </a:r>
            <a:r>
              <a:rPr lang="en-US" altLang="sk-SK" sz="1000" i="1" dirty="0">
                <a:solidFill>
                  <a:srgbClr val="8C8C8C"/>
                </a:solidFill>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sk-SK" altLang="sk-SK" sz="1000" i="1" dirty="0">
                <a:solidFill>
                  <a:srgbClr val="8C8C8C"/>
                </a:solidFill>
                <a:latin typeface="Consolas" panose="020B0609020204030204" pitchFamily="49" charset="0"/>
              </a:rPr>
              <a:t>// Tu som vždy</a:t>
            </a:r>
          </a:p>
        </p:txBody>
      </p:sp>
      <p:sp>
        <p:nvSpPr>
          <p:cNvPr id="7" name="BlokTextu 6">
            <a:extLst>
              <a:ext uri="{FF2B5EF4-FFF2-40B4-BE49-F238E27FC236}">
                <a16:creationId xmlns:a16="http://schemas.microsoft.com/office/drawing/2014/main" id="{459E3F53-6290-4581-A5FA-BF816F8339F0}"/>
              </a:ext>
            </a:extLst>
          </p:cNvPr>
          <p:cNvSpPr txBox="1"/>
          <p:nvPr/>
        </p:nvSpPr>
        <p:spPr>
          <a:xfrm>
            <a:off x="4330081" y="4648843"/>
            <a:ext cx="4325769" cy="230832"/>
          </a:xfrm>
          <a:prstGeom prst="rect">
            <a:avLst/>
          </a:prstGeom>
          <a:noFill/>
        </p:spPr>
        <p:txBody>
          <a:bodyPr wrap="square">
            <a:spAutoFit/>
          </a:bodyPr>
          <a:lstStyle/>
          <a:p>
            <a:r>
              <a:rPr lang="sk-SK" sz="900" dirty="0">
                <a:latin typeface="Cabin" panose="020B0604020202020204"/>
              </a:rPr>
              <a:t>Iný príklad: </a:t>
            </a:r>
            <a:r>
              <a:rPr lang="sk-SK" sz="900" dirty="0">
                <a:latin typeface="Cabin" panose="020B0604020202020204"/>
                <a:hlinkClick r:id="rId2"/>
              </a:rPr>
              <a:t>https://github.com/mdn/js-examples/blob/master/promises-test/index.html</a:t>
            </a:r>
            <a:r>
              <a:rPr lang="sk-SK" sz="900" dirty="0">
                <a:latin typeface="Cabin" panose="020B0604020202020204"/>
              </a:rPr>
              <a:t> </a:t>
            </a:r>
          </a:p>
        </p:txBody>
      </p:sp>
    </p:spTree>
    <p:extLst>
      <p:ext uri="{BB962C8B-B14F-4D97-AF65-F5344CB8AC3E}">
        <p14:creationId xmlns:p14="http://schemas.microsoft.com/office/powerpoint/2010/main" val="1741750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ázok 5">
            <a:extLst>
              <a:ext uri="{FF2B5EF4-FFF2-40B4-BE49-F238E27FC236}">
                <a16:creationId xmlns:a16="http://schemas.microsoft.com/office/drawing/2014/main" id="{14DA3D0A-75AF-4994-AEC8-36A598B7783A}"/>
              </a:ext>
            </a:extLst>
          </p:cNvPr>
          <p:cNvPicPr>
            <a:picLocks noChangeAspect="1"/>
          </p:cNvPicPr>
          <p:nvPr/>
        </p:nvPicPr>
        <p:blipFill>
          <a:blip r:embed="rId2"/>
          <a:stretch>
            <a:fillRect/>
          </a:stretch>
        </p:blipFill>
        <p:spPr>
          <a:xfrm>
            <a:off x="2947110" y="2403877"/>
            <a:ext cx="5552440" cy="2058770"/>
          </a:xfrm>
          <a:prstGeom prst="rect">
            <a:avLst/>
          </a:prstGeom>
        </p:spPr>
      </p:pic>
      <p:sp>
        <p:nvSpPr>
          <p:cNvPr id="2" name="Nadpis 1">
            <a:extLst>
              <a:ext uri="{FF2B5EF4-FFF2-40B4-BE49-F238E27FC236}">
                <a16:creationId xmlns:a16="http://schemas.microsoft.com/office/drawing/2014/main" id="{2C4D3AE8-6974-4B92-821B-6D3D123B5749}"/>
              </a:ext>
            </a:extLst>
          </p:cNvPr>
          <p:cNvSpPr>
            <a:spLocks noGrp="1"/>
          </p:cNvSpPr>
          <p:nvPr>
            <p:ph type="title"/>
          </p:nvPr>
        </p:nvSpPr>
        <p:spPr/>
        <p:txBody>
          <a:bodyPr/>
          <a:lstStyle/>
          <a:p>
            <a:r>
              <a:rPr lang="sk-SK"/>
              <a:t>Stavy</a:t>
            </a:r>
            <a:r>
              <a:rPr lang="en-US"/>
              <a:t> </a:t>
            </a:r>
            <a:r>
              <a:rPr lang="sk-SK"/>
              <a:t>prísľubov</a:t>
            </a:r>
          </a:p>
        </p:txBody>
      </p:sp>
      <p:sp>
        <p:nvSpPr>
          <p:cNvPr id="3" name="Zástupný text 2">
            <a:extLst>
              <a:ext uri="{FF2B5EF4-FFF2-40B4-BE49-F238E27FC236}">
                <a16:creationId xmlns:a16="http://schemas.microsoft.com/office/drawing/2014/main" id="{3CAD1B6E-14A5-4C23-A2AA-870A81C44B55}"/>
              </a:ext>
            </a:extLst>
          </p:cNvPr>
          <p:cNvSpPr>
            <a:spLocks noGrp="1"/>
          </p:cNvSpPr>
          <p:nvPr>
            <p:ph type="body" idx="1"/>
          </p:nvPr>
        </p:nvSpPr>
        <p:spPr/>
        <p:txBody>
          <a:bodyPr/>
          <a:lstStyle/>
          <a:p>
            <a:r>
              <a:rPr lang="sk-SK"/>
              <a:t>Prísľub môže byť v týchto stavoch </a:t>
            </a:r>
          </a:p>
          <a:p>
            <a:pPr lvl="1"/>
            <a:r>
              <a:rPr lang="en-US" i="1"/>
              <a:t>pending</a:t>
            </a:r>
            <a:r>
              <a:rPr lang="sk-SK"/>
              <a:t> – počiatočný stav (zatiaľ bez výsledku)</a:t>
            </a:r>
          </a:p>
          <a:p>
            <a:pPr lvl="1"/>
            <a:r>
              <a:rPr lang="en-US" i="1"/>
              <a:t>fulfilled</a:t>
            </a:r>
            <a:r>
              <a:rPr lang="sk-SK"/>
              <a:t> – operácia bola skončená úspešne</a:t>
            </a:r>
          </a:p>
          <a:p>
            <a:pPr lvl="1"/>
            <a:r>
              <a:rPr lang="en-US" i="1"/>
              <a:t>rejected</a:t>
            </a:r>
            <a:r>
              <a:rPr lang="sk-SK"/>
              <a:t> – operácia zlyhala </a:t>
            </a:r>
          </a:p>
        </p:txBody>
      </p:sp>
      <p:sp>
        <p:nvSpPr>
          <p:cNvPr id="4" name="Zástupný objekt pre číslo snímky 3">
            <a:extLst>
              <a:ext uri="{FF2B5EF4-FFF2-40B4-BE49-F238E27FC236}">
                <a16:creationId xmlns:a16="http://schemas.microsoft.com/office/drawing/2014/main" id="{6FBC54AC-AA44-4D88-8DD8-95A93397BA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42</a:t>
            </a:fld>
            <a:endParaRPr lang="en-GB"/>
          </a:p>
        </p:txBody>
      </p:sp>
      <p:sp>
        <p:nvSpPr>
          <p:cNvPr id="8" name="BlokTextu 7">
            <a:extLst>
              <a:ext uri="{FF2B5EF4-FFF2-40B4-BE49-F238E27FC236}">
                <a16:creationId xmlns:a16="http://schemas.microsoft.com/office/drawing/2014/main" id="{93D8B064-8B4C-4A4B-BD98-6ED68E3AE417}"/>
              </a:ext>
            </a:extLst>
          </p:cNvPr>
          <p:cNvSpPr txBox="1"/>
          <p:nvPr/>
        </p:nvSpPr>
        <p:spPr>
          <a:xfrm>
            <a:off x="3737812" y="4648843"/>
            <a:ext cx="4918038" cy="230832"/>
          </a:xfrm>
          <a:prstGeom prst="rect">
            <a:avLst/>
          </a:prstGeom>
          <a:noFill/>
        </p:spPr>
        <p:txBody>
          <a:bodyPr wrap="square">
            <a:spAutoFit/>
          </a:bodyPr>
          <a:lstStyle/>
          <a:p>
            <a:r>
              <a:rPr lang="sk-SK" sz="900" dirty="0">
                <a:latin typeface="Cabin" panose="020B0604020202020204"/>
              </a:rPr>
              <a:t>Zdroj: </a:t>
            </a:r>
            <a:r>
              <a:rPr lang="sk-SK" sz="900" dirty="0">
                <a:latin typeface="Cabin" panose="020B0604020202020204"/>
                <a:hlinkClick r:id="rId3"/>
              </a:rPr>
              <a:t>https://developer.mozilla.org/en-US/docs/Web/JavaScript/Reference/Global_Objects/Promise</a:t>
            </a:r>
            <a:r>
              <a:rPr lang="sk-SK" sz="900" dirty="0">
                <a:latin typeface="Cabin" panose="020B0604020202020204"/>
              </a:rPr>
              <a:t> </a:t>
            </a:r>
          </a:p>
        </p:txBody>
      </p:sp>
    </p:spTree>
    <p:extLst>
      <p:ext uri="{BB962C8B-B14F-4D97-AF65-F5344CB8AC3E}">
        <p14:creationId xmlns:p14="http://schemas.microsoft.com/office/powerpoint/2010/main" val="2468412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7F81068-08AF-444A-B676-B275078529D9}"/>
              </a:ext>
            </a:extLst>
          </p:cNvPr>
          <p:cNvSpPr>
            <a:spLocks noGrp="1"/>
          </p:cNvSpPr>
          <p:nvPr>
            <p:ph type="title"/>
          </p:nvPr>
        </p:nvSpPr>
        <p:spPr/>
        <p:txBody>
          <a:bodyPr/>
          <a:lstStyle/>
          <a:p>
            <a:r>
              <a:rPr lang="sk-SK"/>
              <a:t>Zreťazenie prísľubov</a:t>
            </a:r>
          </a:p>
        </p:txBody>
      </p:sp>
      <p:sp>
        <p:nvSpPr>
          <p:cNvPr id="3" name="Zástupný text 2">
            <a:extLst>
              <a:ext uri="{FF2B5EF4-FFF2-40B4-BE49-F238E27FC236}">
                <a16:creationId xmlns:a16="http://schemas.microsoft.com/office/drawing/2014/main" id="{3EFDABF3-FD26-47AC-A324-9D8D61C5B249}"/>
              </a:ext>
            </a:extLst>
          </p:cNvPr>
          <p:cNvSpPr>
            <a:spLocks noGrp="1"/>
          </p:cNvSpPr>
          <p:nvPr>
            <p:ph type="body" idx="1"/>
          </p:nvPr>
        </p:nvSpPr>
        <p:spPr/>
        <p:txBody>
          <a:bodyPr/>
          <a:lstStyle/>
          <a:p>
            <a:r>
              <a:rPr lang="sk-SK" dirty="0"/>
              <a:t>Ak jedna asynchrónna operácia závisí na inej, je možné ich zreťaziť (</a:t>
            </a:r>
            <a:r>
              <a:rPr lang="en-US" i="1" dirty="0"/>
              <a:t>promise chaining</a:t>
            </a:r>
            <a:r>
              <a:rPr lang="sk-SK" dirty="0"/>
              <a:t>)</a:t>
            </a:r>
          </a:p>
          <a:p>
            <a:pPr lvl="1"/>
            <a:r>
              <a:rPr lang="sk-SK" dirty="0"/>
              <a:t>Metóda </a:t>
            </a:r>
            <a:r>
              <a:rPr lang="en-US" sz="1200" dirty="0">
                <a:latin typeface="Consolas" panose="020B0609020204030204" pitchFamily="49" charset="0"/>
              </a:rPr>
              <a:t>then</a:t>
            </a:r>
            <a:r>
              <a:rPr lang="sk-SK" sz="1200" dirty="0">
                <a:latin typeface="Consolas" panose="020B0609020204030204" pitchFamily="49" charset="0"/>
              </a:rPr>
              <a:t>()</a:t>
            </a:r>
            <a:r>
              <a:rPr lang="sk-SK" dirty="0"/>
              <a:t> vracia nový </a:t>
            </a:r>
            <a:r>
              <a:rPr lang="en-US" sz="1200" dirty="0">
                <a:latin typeface="Consolas" panose="020B0609020204030204" pitchFamily="49" charset="0"/>
              </a:rPr>
              <a:t>Promise</a:t>
            </a:r>
            <a:r>
              <a:rPr lang="sk-SK" dirty="0"/>
              <a:t> objekt</a:t>
            </a:r>
          </a:p>
          <a:p>
            <a:pPr lvl="1"/>
            <a:r>
              <a:rPr lang="sk-SK" dirty="0"/>
              <a:t>Možnosť použitia </a:t>
            </a:r>
            <a:r>
              <a:rPr lang="en-US" i="1" dirty="0"/>
              <a:t>arrow</a:t>
            </a:r>
            <a:r>
              <a:rPr lang="sk-SK" dirty="0"/>
              <a:t> funkcií</a:t>
            </a:r>
            <a:endParaRPr lang="en-US" dirty="0"/>
          </a:p>
          <a:p>
            <a:pPr lvl="1"/>
            <a:r>
              <a:rPr lang="sk-SK" dirty="0"/>
              <a:t>Zreťazenie je možné aj po chybe (po </a:t>
            </a:r>
            <a:r>
              <a:rPr lang="en-US" sz="1200" dirty="0">
                <a:latin typeface="Consolas" panose="020B0609020204030204" pitchFamily="49" charset="0"/>
              </a:rPr>
              <a:t>catch</a:t>
            </a:r>
            <a:r>
              <a:rPr lang="sk-SK" sz="1200" dirty="0">
                <a:latin typeface="Consolas" panose="020B0609020204030204" pitchFamily="49" charset="0"/>
              </a:rPr>
              <a:t>()</a:t>
            </a:r>
            <a:r>
              <a:rPr lang="sk-SK" dirty="0"/>
              <a:t> metóde)</a:t>
            </a:r>
          </a:p>
          <a:p>
            <a:pPr lvl="1"/>
            <a:r>
              <a:rPr lang="sk-SK" dirty="0"/>
              <a:t>Chyby je možné ošetrovať len v jednej </a:t>
            </a:r>
            <a:r>
              <a:rPr lang="en-US" sz="1200" dirty="0">
                <a:latin typeface="Consolas" panose="020B0609020204030204" pitchFamily="49" charset="0"/>
              </a:rPr>
              <a:t>catch</a:t>
            </a:r>
            <a:r>
              <a:rPr lang="sk-SK" sz="1200" dirty="0">
                <a:latin typeface="Consolas" panose="020B0609020204030204" pitchFamily="49" charset="0"/>
              </a:rPr>
              <a:t>()</a:t>
            </a:r>
            <a:r>
              <a:rPr lang="sk-SK" dirty="0"/>
              <a:t> funkcii</a:t>
            </a:r>
          </a:p>
          <a:p>
            <a:pPr lvl="1"/>
            <a:r>
              <a:rPr lang="sk-SK" dirty="0">
                <a:hlinkClick r:id="rId2"/>
              </a:rPr>
              <a:t>Príklad</a:t>
            </a:r>
            <a:endParaRPr lang="sk-SK" dirty="0"/>
          </a:p>
          <a:p>
            <a:endParaRPr lang="sk-SK" dirty="0"/>
          </a:p>
          <a:p>
            <a:endParaRPr lang="sk-SK" dirty="0"/>
          </a:p>
          <a:p>
            <a:pPr lvl="1"/>
            <a:endParaRPr lang="sk-SK" dirty="0"/>
          </a:p>
        </p:txBody>
      </p:sp>
      <p:sp>
        <p:nvSpPr>
          <p:cNvPr id="4" name="Zástupný objekt pre číslo snímky 3">
            <a:extLst>
              <a:ext uri="{FF2B5EF4-FFF2-40B4-BE49-F238E27FC236}">
                <a16:creationId xmlns:a16="http://schemas.microsoft.com/office/drawing/2014/main" id="{EA994D98-C5E8-4E4B-8C2B-CBAD065989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43</a:t>
            </a:fld>
            <a:endParaRPr lang="en-GB"/>
          </a:p>
        </p:txBody>
      </p:sp>
    </p:spTree>
    <p:extLst>
      <p:ext uri="{BB962C8B-B14F-4D97-AF65-F5344CB8AC3E}">
        <p14:creationId xmlns:p14="http://schemas.microsoft.com/office/powerpoint/2010/main" val="9363542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7CEF230-EB39-4004-9CC0-4EE143F3E5E4}"/>
              </a:ext>
            </a:extLst>
          </p:cNvPr>
          <p:cNvSpPr>
            <a:spLocks noGrp="1"/>
          </p:cNvSpPr>
          <p:nvPr>
            <p:ph type="title"/>
          </p:nvPr>
        </p:nvSpPr>
        <p:spPr/>
        <p:txBody>
          <a:bodyPr/>
          <a:lstStyle/>
          <a:p>
            <a:r>
              <a:rPr lang="sk-SK"/>
              <a:t>Využitie prísľubov pri AJAX volaniach</a:t>
            </a:r>
          </a:p>
        </p:txBody>
      </p:sp>
      <p:sp>
        <p:nvSpPr>
          <p:cNvPr id="3" name="Zástupný text 2">
            <a:extLst>
              <a:ext uri="{FF2B5EF4-FFF2-40B4-BE49-F238E27FC236}">
                <a16:creationId xmlns:a16="http://schemas.microsoft.com/office/drawing/2014/main" id="{96CE12EE-C831-4755-9DDA-0A02611F9550}"/>
              </a:ext>
            </a:extLst>
          </p:cNvPr>
          <p:cNvSpPr>
            <a:spLocks noGrp="1"/>
          </p:cNvSpPr>
          <p:nvPr>
            <p:ph type="body" idx="1"/>
          </p:nvPr>
        </p:nvSpPr>
        <p:spPr/>
        <p:txBody>
          <a:bodyPr/>
          <a:lstStyle/>
          <a:p>
            <a:r>
              <a:rPr lang="sk-SK" dirty="0"/>
              <a:t>AJAX volanie je asynchrónna operácia</a:t>
            </a:r>
          </a:p>
          <a:p>
            <a:pPr lvl="1"/>
            <a:r>
              <a:rPr lang="sk-SK" dirty="0"/>
              <a:t>Skript pokračuje ďalej, a keď "prídu" dáta zo servera, spracuje ich</a:t>
            </a:r>
          </a:p>
          <a:p>
            <a:r>
              <a:rPr lang="en-US" dirty="0">
                <a:hlinkClick r:id="rId2"/>
              </a:rPr>
              <a:t>Fetch</a:t>
            </a:r>
            <a:r>
              <a:rPr lang="sk-SK" dirty="0">
                <a:hlinkClick r:id="rId2"/>
              </a:rPr>
              <a:t> API</a:t>
            </a:r>
            <a:r>
              <a:rPr lang="sk-SK" dirty="0"/>
              <a:t> umožňuje jednoducho získavať dáta zo servera cez XHR </a:t>
            </a:r>
            <a:r>
              <a:rPr lang="en-US" dirty="0"/>
              <a:t>(AJAX) </a:t>
            </a:r>
            <a:r>
              <a:rPr lang="sk-SK" dirty="0"/>
              <a:t>žiadosti</a:t>
            </a:r>
          </a:p>
          <a:p>
            <a:pPr lvl="1"/>
            <a:r>
              <a:rPr lang="sk-SK" dirty="0"/>
              <a:t>Okrem iných funkcií na prácu s HTTP poskytuje globálnu metódu </a:t>
            </a:r>
            <a:r>
              <a:rPr lang="en-US" sz="1200" dirty="0">
                <a:latin typeface="Consolas" panose="020B0609020204030204" pitchFamily="49" charset="0"/>
              </a:rPr>
              <a:t>fetch</a:t>
            </a:r>
            <a:r>
              <a:rPr lang="sk-SK" sz="1200" dirty="0">
                <a:latin typeface="Consolas" panose="020B0609020204030204" pitchFamily="49" charset="0"/>
              </a:rPr>
              <a:t>()</a:t>
            </a:r>
          </a:p>
          <a:p>
            <a:r>
              <a:rPr lang="sk-SK" dirty="0"/>
              <a:t>Metóda </a:t>
            </a:r>
            <a:r>
              <a:rPr lang="en-US" sz="1400" dirty="0">
                <a:latin typeface="Consolas" panose="020B0609020204030204" pitchFamily="49" charset="0"/>
              </a:rPr>
              <a:t>fetch</a:t>
            </a:r>
            <a:r>
              <a:rPr lang="sk-SK" sz="1400" dirty="0">
                <a:latin typeface="Consolas" panose="020B0609020204030204" pitchFamily="49" charset="0"/>
              </a:rPr>
              <a:t>()</a:t>
            </a:r>
            <a:r>
              <a:rPr lang="sk-SK" dirty="0"/>
              <a:t> je asynchrónna a vracia </a:t>
            </a:r>
            <a:r>
              <a:rPr lang="en-US" sz="1400" dirty="0">
                <a:latin typeface="Consolas" panose="020B0609020204030204" pitchFamily="49" charset="0"/>
              </a:rPr>
              <a:t>Promise</a:t>
            </a:r>
            <a:r>
              <a:rPr lang="sk-SK" dirty="0"/>
              <a:t> (objekt </a:t>
            </a:r>
            <a:r>
              <a:rPr lang="en-US" sz="1400" dirty="0">
                <a:latin typeface="Consolas" panose="020B0609020204030204" pitchFamily="49" charset="0"/>
              </a:rPr>
              <a:t>Response</a:t>
            </a:r>
            <a:r>
              <a:rPr lang="sk-SK" dirty="0"/>
              <a:t>)</a:t>
            </a:r>
          </a:p>
          <a:p>
            <a:pPr lvl="1"/>
            <a:r>
              <a:rPr lang="sk-SK" dirty="0"/>
              <a:t>Príklad (všimnite si dvojité zreťazenie): </a:t>
            </a:r>
          </a:p>
          <a:p>
            <a:endParaRPr lang="sk-SK" dirty="0"/>
          </a:p>
        </p:txBody>
      </p:sp>
      <p:sp>
        <p:nvSpPr>
          <p:cNvPr id="4" name="Zástupný objekt pre číslo snímky 3">
            <a:extLst>
              <a:ext uri="{FF2B5EF4-FFF2-40B4-BE49-F238E27FC236}">
                <a16:creationId xmlns:a16="http://schemas.microsoft.com/office/drawing/2014/main" id="{9185EA1E-89D6-4B6F-B34A-9F351B0B6D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44</a:t>
            </a:fld>
            <a:endParaRPr lang="en-GB"/>
          </a:p>
        </p:txBody>
      </p:sp>
      <p:sp>
        <p:nvSpPr>
          <p:cNvPr id="6" name="BlokTextu 5">
            <a:extLst>
              <a:ext uri="{FF2B5EF4-FFF2-40B4-BE49-F238E27FC236}">
                <a16:creationId xmlns:a16="http://schemas.microsoft.com/office/drawing/2014/main" id="{34C74017-01DC-4B8D-9285-B86CEE45EE52}"/>
              </a:ext>
            </a:extLst>
          </p:cNvPr>
          <p:cNvSpPr txBox="1"/>
          <p:nvPr/>
        </p:nvSpPr>
        <p:spPr>
          <a:xfrm>
            <a:off x="4616132" y="4648843"/>
            <a:ext cx="4039718" cy="230832"/>
          </a:xfrm>
          <a:prstGeom prst="rect">
            <a:avLst/>
          </a:prstGeom>
          <a:noFill/>
        </p:spPr>
        <p:txBody>
          <a:bodyPr wrap="square">
            <a:spAutoFit/>
          </a:bodyPr>
          <a:lstStyle/>
          <a:p>
            <a:r>
              <a:rPr lang="sk-SK" sz="900" dirty="0">
                <a:latin typeface="Cabin" panose="020B0604020202020204"/>
              </a:rPr>
              <a:t>Zdroj: </a:t>
            </a:r>
            <a:r>
              <a:rPr lang="sk-SK" sz="900" dirty="0">
                <a:latin typeface="Cabin" panose="020B0604020202020204"/>
                <a:hlinkClick r:id="rId2"/>
              </a:rPr>
              <a:t>https://developer.mozilla.org/en-US/docs/Web/API/Fetch_API/Using_Fetch</a:t>
            </a:r>
            <a:r>
              <a:rPr lang="sk-SK" sz="900" dirty="0">
                <a:latin typeface="Cabin" panose="020B0604020202020204"/>
              </a:rPr>
              <a:t> </a:t>
            </a:r>
          </a:p>
        </p:txBody>
      </p:sp>
      <p:sp>
        <p:nvSpPr>
          <p:cNvPr id="7" name="Rectangle 1">
            <a:extLst>
              <a:ext uri="{FF2B5EF4-FFF2-40B4-BE49-F238E27FC236}">
                <a16:creationId xmlns:a16="http://schemas.microsoft.com/office/drawing/2014/main" id="{4C4AB057-AEBF-4D2E-BCF5-1A853FC0ABED}"/>
              </a:ext>
            </a:extLst>
          </p:cNvPr>
          <p:cNvSpPr>
            <a:spLocks noChangeArrowheads="1"/>
          </p:cNvSpPr>
          <p:nvPr/>
        </p:nvSpPr>
        <p:spPr bwMode="auto">
          <a:xfrm>
            <a:off x="1356751" y="3590663"/>
            <a:ext cx="2864887" cy="689548"/>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1600"/>
              </a:lnSpc>
              <a:spcBef>
                <a:spcPct val="0"/>
              </a:spcBef>
              <a:spcAft>
                <a:spcPct val="0"/>
              </a:spcAft>
              <a:buClrTx/>
              <a:buSzTx/>
              <a:buFontTx/>
              <a:buNone/>
              <a:tabLst/>
            </a:pPr>
            <a:r>
              <a:rPr kumimoji="0" lang="sk-SK" altLang="sk-SK" sz="1000" b="0" i="1" u="none" strike="noStrike" cap="none" normalizeH="0" baseline="0" dirty="0" err="1">
                <a:ln>
                  <a:noFill/>
                </a:ln>
                <a:solidFill>
                  <a:srgbClr val="080808"/>
                </a:solidFill>
                <a:effectLst/>
                <a:latin typeface="Consolas" panose="020B0609020204030204" pitchFamily="49" charset="0"/>
              </a:rPr>
              <a:t>fetch</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067D17"/>
                </a:solidFill>
                <a:effectLst/>
                <a:latin typeface="Consolas" panose="020B0609020204030204" pitchFamily="49" charset="0"/>
              </a:rPr>
              <a:t>'http://localhost/data.json'</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7A7A43"/>
                </a:solidFill>
                <a:effectLst/>
                <a:latin typeface="Consolas" panose="020B0609020204030204" pitchFamily="49" charset="0"/>
              </a:rPr>
              <a:t>then</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response</a:t>
            </a:r>
            <a:r>
              <a:rPr kumimoji="0" lang="sk-SK" altLang="sk-SK" sz="1000" b="0" i="0" u="none" strike="noStrike" cap="none" normalizeH="0" baseline="0" dirty="0">
                <a:ln>
                  <a:noFill/>
                </a:ln>
                <a:solidFill>
                  <a:srgbClr val="080808"/>
                </a:solidFill>
                <a:effectLst/>
                <a:latin typeface="Consolas" panose="020B0609020204030204" pitchFamily="49" charset="0"/>
              </a:rPr>
              <a:t> =&gt; </a:t>
            </a:r>
            <a:r>
              <a:rPr kumimoji="0" lang="sk-SK" altLang="sk-SK" sz="1000" b="0" i="0" u="none" strike="noStrike" cap="none" normalizeH="0" baseline="0" dirty="0" err="1">
                <a:ln>
                  <a:noFill/>
                </a:ln>
                <a:solidFill>
                  <a:srgbClr val="080808"/>
                </a:solidFill>
                <a:effectLst/>
                <a:latin typeface="Consolas" panose="020B0609020204030204" pitchFamily="49" charset="0"/>
              </a:rPr>
              <a:t>response.</a:t>
            </a:r>
            <a:r>
              <a:rPr kumimoji="0" lang="sk-SK" altLang="sk-SK" sz="1000" b="0" i="0" u="none" strike="noStrike" cap="none" normalizeH="0" baseline="0" dirty="0" err="1">
                <a:ln>
                  <a:noFill/>
                </a:ln>
                <a:solidFill>
                  <a:srgbClr val="7A7A43"/>
                </a:solidFill>
                <a:effectLst/>
                <a:latin typeface="Consolas" panose="020B0609020204030204" pitchFamily="49" charset="0"/>
              </a:rPr>
              <a:t>json</a:t>
            </a:r>
            <a:r>
              <a:rPr kumimoji="0" lang="sk-SK" altLang="sk-SK" sz="1000" b="0" i="0" u="none" strike="noStrike" cap="none" normalizeH="0" baseline="0" dirty="0">
                <a:ln>
                  <a:noFill/>
                </a:ln>
                <a:solidFill>
                  <a:srgbClr val="080808"/>
                </a:solidFill>
                <a:effectLst/>
                <a:latin typeface="Consolas" panose="020B0609020204030204" pitchFamily="49" charset="0"/>
              </a:rPr>
              <a:t>())</a:t>
            </a:r>
            <a:br>
              <a:rPr kumimoji="0" lang="sk-SK" altLang="sk-SK" sz="1000" b="0" i="0" u="none" strike="noStrike" cap="none" normalizeH="0" baseline="0" dirty="0">
                <a:ln>
                  <a:noFill/>
                </a:ln>
                <a:solidFill>
                  <a:srgbClr val="080808"/>
                </a:solidFill>
                <a:effectLst/>
                <a:latin typeface="Consolas" panose="020B0609020204030204" pitchFamily="49" charset="0"/>
              </a:rPr>
            </a:br>
            <a:r>
              <a:rPr kumimoji="0" lang="sk-SK" altLang="sk-SK" sz="1000" b="0" i="0" u="none" strike="noStrike" cap="none" normalizeH="0" baseline="0" dirty="0">
                <a:ln>
                  <a:noFill/>
                </a:ln>
                <a:solidFill>
                  <a:srgbClr val="080808"/>
                </a:solidFill>
                <a:effectLst/>
                <a:latin typeface="Consolas" panose="020B0609020204030204" pitchFamily="49" charset="0"/>
              </a:rPr>
              <a:t>    .</a:t>
            </a:r>
            <a:r>
              <a:rPr kumimoji="0" lang="sk-SK" altLang="sk-SK" sz="1000" b="0" i="0" u="none" strike="noStrike" cap="none" normalizeH="0" baseline="0" dirty="0" err="1">
                <a:ln>
                  <a:noFill/>
                </a:ln>
                <a:solidFill>
                  <a:srgbClr val="7A7A43"/>
                </a:solidFill>
                <a:effectLst/>
                <a:latin typeface="Consolas" panose="020B0609020204030204" pitchFamily="49" charset="0"/>
              </a:rPr>
              <a:t>then</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data</a:t>
            </a:r>
            <a:r>
              <a:rPr kumimoji="0" lang="sk-SK" altLang="sk-SK" sz="1000" b="0" i="0" u="none" strike="noStrike" cap="none" normalizeH="0" baseline="0" dirty="0">
                <a:ln>
                  <a:noFill/>
                </a:ln>
                <a:solidFill>
                  <a:srgbClr val="080808"/>
                </a:solidFill>
                <a:effectLst/>
                <a:latin typeface="Consolas" panose="020B0609020204030204" pitchFamily="49" charset="0"/>
              </a:rPr>
              <a:t> =&gt; </a:t>
            </a:r>
            <a:r>
              <a:rPr kumimoji="0" lang="sk-SK" altLang="sk-SK" sz="1000" b="0" i="0" u="none" strike="noStrike" cap="none" normalizeH="0" baseline="0" dirty="0">
                <a:ln>
                  <a:noFill/>
                </a:ln>
                <a:solidFill>
                  <a:srgbClr val="830091"/>
                </a:solidFill>
                <a:effectLst/>
                <a:latin typeface="Consolas" panose="020B0609020204030204" pitchFamily="49" charset="0"/>
              </a:rPr>
              <a:t>console</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a:ln>
                  <a:noFill/>
                </a:ln>
                <a:solidFill>
                  <a:srgbClr val="7A7A43"/>
                </a:solidFill>
                <a:effectLst/>
                <a:latin typeface="Consolas" panose="020B0609020204030204" pitchFamily="49" charset="0"/>
              </a:rPr>
              <a:t>log</a:t>
            </a:r>
            <a:r>
              <a:rPr kumimoji="0" lang="sk-SK" altLang="sk-SK" sz="1000" b="0" i="0" u="none" strike="noStrike" cap="none" normalizeH="0" baseline="0" dirty="0">
                <a:ln>
                  <a:noFill/>
                </a:ln>
                <a:solidFill>
                  <a:srgbClr val="080808"/>
                </a:solidFill>
                <a:effectLst/>
                <a:latin typeface="Consolas" panose="020B0609020204030204" pitchFamily="49" charset="0"/>
              </a:rPr>
              <a:t>(</a:t>
            </a:r>
            <a:r>
              <a:rPr kumimoji="0" lang="sk-SK" altLang="sk-SK" sz="1000" b="0" i="0" u="none" strike="noStrike" cap="none" normalizeH="0" baseline="0" dirty="0" err="1">
                <a:ln>
                  <a:noFill/>
                </a:ln>
                <a:solidFill>
                  <a:srgbClr val="080808"/>
                </a:solidFill>
                <a:effectLst/>
                <a:latin typeface="Consolas" panose="020B0609020204030204" pitchFamily="49" charset="0"/>
              </a:rPr>
              <a:t>data</a:t>
            </a:r>
            <a:r>
              <a:rPr kumimoji="0" lang="sk-SK" altLang="sk-SK" sz="1000" b="0" i="0" u="none" strike="noStrike" cap="none" normalizeH="0" baseline="0" dirty="0">
                <a:ln>
                  <a:noFill/>
                </a:ln>
                <a:solidFill>
                  <a:srgbClr val="080808"/>
                </a:solidFill>
                <a:effectLst/>
                <a:latin typeface="Consolas" panose="020B0609020204030204" pitchFamily="49" charset="0"/>
              </a:rPr>
              <a:t>));</a:t>
            </a:r>
            <a:endParaRPr kumimoji="0" lang="sk-SK" altLang="sk-SK" sz="18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3314692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11F601D-DB43-4B64-A937-1AA62411EDF2}"/>
              </a:ext>
            </a:extLst>
          </p:cNvPr>
          <p:cNvSpPr>
            <a:spLocks noGrp="1"/>
          </p:cNvSpPr>
          <p:nvPr>
            <p:ph type="title"/>
          </p:nvPr>
        </p:nvSpPr>
        <p:spPr/>
        <p:txBody>
          <a:bodyPr/>
          <a:lstStyle/>
          <a:p>
            <a:r>
              <a:rPr lang="sk-SK" dirty="0"/>
              <a:t>Pokročilejšie použitie </a:t>
            </a:r>
            <a:r>
              <a:rPr lang="en-US" sz="2800" dirty="0">
                <a:latin typeface="Consolas" panose="020B0609020204030204" pitchFamily="49" charset="0"/>
              </a:rPr>
              <a:t>fetch</a:t>
            </a:r>
            <a:r>
              <a:rPr lang="sk-SK" sz="2800" dirty="0">
                <a:latin typeface="Consolas" panose="020B0609020204030204" pitchFamily="49" charset="0"/>
              </a:rPr>
              <a:t>()</a:t>
            </a:r>
          </a:p>
        </p:txBody>
      </p:sp>
      <p:sp>
        <p:nvSpPr>
          <p:cNvPr id="3" name="Zástupný text 2">
            <a:extLst>
              <a:ext uri="{FF2B5EF4-FFF2-40B4-BE49-F238E27FC236}">
                <a16:creationId xmlns:a16="http://schemas.microsoft.com/office/drawing/2014/main" id="{E1DA10FA-B60A-4BFE-A24E-14756602CF6D}"/>
              </a:ext>
            </a:extLst>
          </p:cNvPr>
          <p:cNvSpPr>
            <a:spLocks noGrp="1"/>
          </p:cNvSpPr>
          <p:nvPr>
            <p:ph type="body" idx="1"/>
          </p:nvPr>
        </p:nvSpPr>
        <p:spPr/>
        <p:txBody>
          <a:bodyPr/>
          <a:lstStyle/>
          <a:p>
            <a:r>
              <a:rPr lang="en-US" sz="1400" dirty="0">
                <a:latin typeface="Consolas" panose="020B0609020204030204" pitchFamily="49" charset="0"/>
              </a:rPr>
              <a:t>fetch</a:t>
            </a:r>
            <a:r>
              <a:rPr lang="sk-SK" sz="1400" dirty="0">
                <a:latin typeface="Consolas" panose="020B0609020204030204" pitchFamily="49" charset="0"/>
              </a:rPr>
              <a:t>()</a:t>
            </a:r>
            <a:r>
              <a:rPr lang="sk-SK" dirty="0"/>
              <a:t> umožňuje: </a:t>
            </a:r>
          </a:p>
          <a:p>
            <a:pPr lvl="1"/>
            <a:r>
              <a:rPr lang="sk-SK" dirty="0"/>
              <a:t>Posielanie dát na server (včítane súborov),</a:t>
            </a:r>
          </a:p>
          <a:p>
            <a:pPr lvl="1"/>
            <a:r>
              <a:rPr lang="sk-SK" dirty="0"/>
              <a:t>Nastavovanie </a:t>
            </a:r>
            <a:r>
              <a:rPr lang="en-US" i="1" dirty="0"/>
              <a:t>cookies</a:t>
            </a:r>
          </a:p>
          <a:p>
            <a:pPr lvl="1"/>
            <a:r>
              <a:rPr lang="sk-SK" dirty="0"/>
              <a:t>Manipulácia so žiadosťou (</a:t>
            </a:r>
            <a:r>
              <a:rPr lang="en-US" i="1" dirty="0"/>
              <a:t>request</a:t>
            </a:r>
            <a:r>
              <a:rPr lang="sk-SK" dirty="0"/>
              <a:t>)</a:t>
            </a:r>
          </a:p>
          <a:p>
            <a:r>
              <a:rPr lang="en-US" sz="1400" dirty="0">
                <a:latin typeface="Consolas" panose="020B0609020204030204" pitchFamily="49" charset="0"/>
              </a:rPr>
              <a:t>fetch</a:t>
            </a:r>
            <a:r>
              <a:rPr lang="sk-SK" sz="1400" dirty="0">
                <a:latin typeface="Consolas" panose="020B0609020204030204" pitchFamily="49" charset="0"/>
              </a:rPr>
              <a:t>()</a:t>
            </a:r>
            <a:r>
              <a:rPr lang="sk-SK" dirty="0"/>
              <a:t> pre HTTP chyby (404, 500, ...) vracia </a:t>
            </a:r>
            <a:br>
              <a:rPr lang="sk-SK" dirty="0"/>
            </a:br>
            <a:r>
              <a:rPr lang="sk-SK" dirty="0"/>
              <a:t>kladnú odpoveď (</a:t>
            </a:r>
            <a:r>
              <a:rPr lang="en-US" i="1" dirty="0"/>
              <a:t>resolve</a:t>
            </a:r>
            <a:r>
              <a:rPr lang="sk-SK" dirty="0"/>
              <a:t>), nie odmietnutie (</a:t>
            </a:r>
            <a:r>
              <a:rPr lang="en-US" i="1" dirty="0"/>
              <a:t>reject</a:t>
            </a:r>
            <a:r>
              <a:rPr lang="sk-SK" dirty="0"/>
              <a:t>)</a:t>
            </a:r>
          </a:p>
        </p:txBody>
      </p:sp>
      <p:sp>
        <p:nvSpPr>
          <p:cNvPr id="4" name="Zástupný objekt pre číslo snímky 3">
            <a:extLst>
              <a:ext uri="{FF2B5EF4-FFF2-40B4-BE49-F238E27FC236}">
                <a16:creationId xmlns:a16="http://schemas.microsoft.com/office/drawing/2014/main" id="{29C78102-AA97-4E6B-AB55-FB5C1227ED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45</a:t>
            </a:fld>
            <a:endParaRPr lang="en-GB"/>
          </a:p>
        </p:txBody>
      </p:sp>
      <p:sp>
        <p:nvSpPr>
          <p:cNvPr id="6" name="Rectangle 2">
            <a:extLst>
              <a:ext uri="{FF2B5EF4-FFF2-40B4-BE49-F238E27FC236}">
                <a16:creationId xmlns:a16="http://schemas.microsoft.com/office/drawing/2014/main" id="{29CBD592-A147-432A-9AED-77233C70BA26}"/>
              </a:ext>
            </a:extLst>
          </p:cNvPr>
          <p:cNvSpPr>
            <a:spLocks noChangeArrowheads="1"/>
          </p:cNvSpPr>
          <p:nvPr/>
        </p:nvSpPr>
        <p:spPr bwMode="auto">
          <a:xfrm>
            <a:off x="5424380" y="1704953"/>
            <a:ext cx="3597320" cy="29754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0" i="0" u="none" strike="noStrike" cap="none" normalizeH="0" baseline="0" dirty="0" err="1">
                <a:ln>
                  <a:noFill/>
                </a:ln>
                <a:solidFill>
                  <a:srgbClr val="0033B3"/>
                </a:solidFill>
                <a:effectLst/>
                <a:latin typeface="Consolas" panose="020B0609020204030204" pitchFamily="49" charset="0"/>
              </a:rPr>
              <a:t>const</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data</a:t>
            </a:r>
            <a:r>
              <a:rPr kumimoji="0" lang="sk-SK" altLang="sk-SK" sz="1100" b="0" i="0" u="none" strike="noStrike" cap="none" normalizeH="0" baseline="0" dirty="0">
                <a:ln>
                  <a:noFill/>
                </a:ln>
                <a:solidFill>
                  <a:srgbClr val="830091"/>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71094"/>
                </a:solidFill>
                <a:effectLst/>
                <a:latin typeface="Consolas" panose="020B0609020204030204" pitchFamily="49" charset="0"/>
              </a:rPr>
              <a:t>username</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'John'</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1" u="none" strike="noStrike" cap="none" normalizeH="0" baseline="0" dirty="0" err="1">
                <a:ln>
                  <a:noFill/>
                </a:ln>
                <a:solidFill>
                  <a:srgbClr val="080808"/>
                </a:solidFill>
                <a:effectLst/>
                <a:latin typeface="Consolas" panose="020B0609020204030204" pitchFamily="49" charset="0"/>
              </a:rPr>
              <a:t>fetch</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'http://localhost/profile'</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71094"/>
                </a:solidFill>
                <a:effectLst/>
                <a:latin typeface="Consolas" panose="020B0609020204030204" pitchFamily="49" charset="0"/>
              </a:rPr>
              <a:t>method</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'POST'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1" u="none" strike="noStrike" cap="none" normalizeH="0" baseline="0" dirty="0">
                <a:ln>
                  <a:noFill/>
                </a:ln>
                <a:solidFill>
                  <a:srgbClr val="8C8C8C"/>
                </a:solidFill>
                <a:effectLst/>
                <a:latin typeface="Consolas" panose="020B0609020204030204" pitchFamily="49" charset="0"/>
              </a:rPr>
              <a:t>// alebo 'PUT'</a:t>
            </a:r>
            <a:br>
              <a:rPr kumimoji="0" lang="sk-SK" altLang="sk-SK" sz="1100" b="0" i="1" u="none" strike="noStrike" cap="none" normalizeH="0" baseline="0" dirty="0">
                <a:ln>
                  <a:noFill/>
                </a:ln>
                <a:solidFill>
                  <a:srgbClr val="8C8C8C"/>
                </a:solidFill>
                <a:effectLst/>
                <a:latin typeface="Consolas" panose="020B0609020204030204" pitchFamily="49" charset="0"/>
              </a:rPr>
            </a:br>
            <a:r>
              <a:rPr kumimoji="0" lang="sk-SK" altLang="sk-SK" sz="1100" b="0" i="1" u="none" strike="noStrike" cap="none" normalizeH="0" baseline="0" dirty="0">
                <a:ln>
                  <a:noFill/>
                </a:ln>
                <a:solidFill>
                  <a:srgbClr val="8C8C8C"/>
                </a:solidFill>
                <a:effectLst/>
                <a:latin typeface="Consolas" panose="020B0609020204030204" pitchFamily="49" charset="0"/>
              </a:rPr>
              <a:t>    </a:t>
            </a:r>
            <a:r>
              <a:rPr kumimoji="0" lang="sk-SK" altLang="sk-SK" sz="1100" b="0" i="0" u="none" strike="noStrike" cap="none" normalizeH="0" baseline="0" dirty="0" err="1">
                <a:ln>
                  <a:noFill/>
                </a:ln>
                <a:solidFill>
                  <a:srgbClr val="871094"/>
                </a:solidFill>
                <a:effectLst/>
                <a:latin typeface="Consolas" panose="020B0609020204030204" pitchFamily="49" charset="0"/>
              </a:rPr>
              <a:t>headers</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err="1">
                <a:ln>
                  <a:noFill/>
                </a:ln>
                <a:solidFill>
                  <a:srgbClr val="067D17"/>
                </a:solidFill>
                <a:effectLst/>
                <a:latin typeface="Consolas" panose="020B0609020204030204" pitchFamily="49" charset="0"/>
              </a:rPr>
              <a:t>Content</a:t>
            </a:r>
            <a:r>
              <a:rPr kumimoji="0" lang="sk-SK" altLang="sk-SK" sz="1100" b="0" i="0" u="none" strike="noStrike" cap="none" normalizeH="0" baseline="0" dirty="0">
                <a:ln>
                  <a:noFill/>
                </a:ln>
                <a:solidFill>
                  <a:srgbClr val="067D17"/>
                </a:solidFill>
                <a:effectLst/>
                <a:latin typeface="Consolas" panose="020B0609020204030204" pitchFamily="49" charset="0"/>
              </a:rPr>
              <a:t>-Type'</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err="1">
                <a:ln>
                  <a:noFill/>
                </a:ln>
                <a:solidFill>
                  <a:srgbClr val="067D17"/>
                </a:solidFill>
                <a:effectLst/>
                <a:latin typeface="Consolas" panose="020B0609020204030204" pitchFamily="49" charset="0"/>
              </a:rPr>
              <a:t>application</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err="1">
                <a:ln>
                  <a:noFill/>
                </a:ln>
                <a:solidFill>
                  <a:srgbClr val="067D17"/>
                </a:solidFill>
                <a:effectLst/>
                <a:latin typeface="Consolas" panose="020B0609020204030204" pitchFamily="49" charset="0"/>
              </a:rPr>
              <a:t>json</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871094"/>
                </a:solidFill>
                <a:effectLst/>
                <a:latin typeface="Consolas" panose="020B0609020204030204" pitchFamily="49" charset="0"/>
              </a:rPr>
              <a:t>body</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JSON</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stringify</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830091"/>
                </a:solidFill>
                <a:effectLst/>
                <a:latin typeface="Consolas" panose="020B0609020204030204" pitchFamily="49" charset="0"/>
              </a:rPr>
              <a:t>data</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then</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80808"/>
                </a:solidFill>
                <a:effectLst/>
                <a:latin typeface="Consolas" panose="020B0609020204030204" pitchFamily="49" charset="0"/>
              </a:rPr>
              <a:t>response</a:t>
            </a:r>
            <a:r>
              <a:rPr kumimoji="0" lang="sk-SK" altLang="sk-SK" sz="1100" b="0" i="0" u="none" strike="noStrike" cap="none" normalizeH="0" baseline="0" dirty="0">
                <a:ln>
                  <a:noFill/>
                </a:ln>
                <a:solidFill>
                  <a:srgbClr val="080808"/>
                </a:solidFill>
                <a:effectLst/>
                <a:latin typeface="Consolas" panose="020B0609020204030204" pitchFamily="49" charset="0"/>
              </a:rPr>
              <a:t> =&gt; </a:t>
            </a:r>
            <a:r>
              <a:rPr kumimoji="0" lang="sk-SK" altLang="sk-SK" sz="1100" b="0" i="0" u="none" strike="noStrike" cap="none" normalizeH="0" baseline="0" dirty="0" err="1">
                <a:ln>
                  <a:noFill/>
                </a:ln>
                <a:solidFill>
                  <a:srgbClr val="080808"/>
                </a:solidFill>
                <a:effectLst/>
                <a:latin typeface="Consolas" panose="020B0609020204030204" pitchFamily="49" charset="0"/>
              </a:rPr>
              <a:t>response.</a:t>
            </a:r>
            <a:r>
              <a:rPr kumimoji="0" lang="sk-SK" altLang="sk-SK" sz="1100" b="0" i="0" u="none" strike="noStrike" cap="none" normalizeH="0" baseline="0" dirty="0" err="1">
                <a:ln>
                  <a:noFill/>
                </a:ln>
                <a:solidFill>
                  <a:srgbClr val="7A7A43"/>
                </a:solidFill>
                <a:effectLst/>
                <a:latin typeface="Consolas" panose="020B0609020204030204" pitchFamily="49" charset="0"/>
              </a:rPr>
              <a:t>json</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7A7A43"/>
                </a:solidFill>
                <a:effectLst/>
                <a:latin typeface="Consolas" panose="020B0609020204030204" pitchFamily="49" charset="0"/>
              </a:rPr>
              <a:t>then</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80808"/>
                </a:solidFill>
                <a:effectLst/>
                <a:latin typeface="Consolas" panose="020B0609020204030204" pitchFamily="49" charset="0"/>
              </a:rPr>
              <a:t>data</a:t>
            </a:r>
            <a:r>
              <a:rPr kumimoji="0" lang="sk-SK" altLang="sk-SK" sz="1100" b="0" i="0" u="none" strike="noStrike" cap="none" normalizeH="0" baseline="0" dirty="0">
                <a:ln>
                  <a:noFill/>
                </a:ln>
                <a:solidFill>
                  <a:srgbClr val="080808"/>
                </a:solidFill>
                <a:effectLst/>
                <a:latin typeface="Consolas" panose="020B0609020204030204" pitchFamily="49" charset="0"/>
              </a:rPr>
              <a:t> =&gt;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830091"/>
                </a:solidFill>
                <a:effectLst/>
                <a:latin typeface="Consolas" panose="020B0609020204030204" pitchFamily="49" charset="0"/>
              </a:rPr>
              <a:t>console</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7A7A43"/>
                </a:solidFill>
                <a:effectLst/>
                <a:latin typeface="Consolas" panose="020B0609020204030204" pitchFamily="49" charset="0"/>
              </a:rPr>
              <a:t>log</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err="1">
                <a:ln>
                  <a:noFill/>
                </a:ln>
                <a:solidFill>
                  <a:srgbClr val="067D17"/>
                </a:solidFill>
                <a:effectLst/>
                <a:latin typeface="Consolas" panose="020B0609020204030204" pitchFamily="49" charset="0"/>
              </a:rPr>
              <a:t>Success</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80808"/>
                </a:solidFill>
                <a:effectLst/>
                <a:latin typeface="Consolas" panose="020B0609020204030204" pitchFamily="49" charset="0"/>
              </a:rPr>
              <a:t>data</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7A7A43"/>
                </a:solidFill>
                <a:effectLst/>
                <a:latin typeface="Consolas" panose="020B0609020204030204" pitchFamily="49" charset="0"/>
              </a:rPr>
              <a:t>catch</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80808"/>
                </a:solidFill>
                <a:effectLst/>
                <a:latin typeface="Consolas" panose="020B0609020204030204" pitchFamily="49" charset="0"/>
              </a:rPr>
              <a:t>error</a:t>
            </a:r>
            <a:r>
              <a:rPr kumimoji="0" lang="sk-SK" altLang="sk-SK" sz="1100" b="0" i="0" u="none" strike="noStrike" cap="none" normalizeH="0" baseline="0" dirty="0">
                <a:ln>
                  <a:noFill/>
                </a:ln>
                <a:solidFill>
                  <a:srgbClr val="080808"/>
                </a:solidFill>
                <a:effectLst/>
                <a:latin typeface="Consolas" panose="020B0609020204030204" pitchFamily="49" charset="0"/>
              </a:rPr>
              <a:t>) =&gt;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console</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error</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err="1">
                <a:ln>
                  <a:noFill/>
                </a:ln>
                <a:solidFill>
                  <a:srgbClr val="067D17"/>
                </a:solidFill>
                <a:effectLst/>
                <a:latin typeface="Consolas" panose="020B0609020204030204" pitchFamily="49" charset="0"/>
              </a:rPr>
              <a:t>Error</a:t>
            </a:r>
            <a:r>
              <a:rPr kumimoji="0" lang="sk-SK" altLang="sk-SK" sz="1100" b="0" i="0" u="none" strike="noStrike" cap="none" normalizeH="0" baseline="0" dirty="0">
                <a:ln>
                  <a:noFill/>
                </a:ln>
                <a:solidFill>
                  <a:srgbClr val="067D17"/>
                </a:solidFill>
                <a:effectLst/>
                <a:latin typeface="Consolas" panose="020B0609020204030204" pitchFamily="49" charset="0"/>
              </a:rPr>
              <a:t>:'</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80808"/>
                </a:solidFill>
                <a:effectLst/>
                <a:latin typeface="Consolas" panose="020B0609020204030204" pitchFamily="49" charset="0"/>
              </a:rPr>
              <a:t>error</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endParaRPr kumimoji="0" lang="sk-SK" altLang="sk-SK" sz="11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3020191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CABC419-F184-4B9E-84AC-4926369280F2}"/>
              </a:ext>
            </a:extLst>
          </p:cNvPr>
          <p:cNvSpPr>
            <a:spLocks noGrp="1"/>
          </p:cNvSpPr>
          <p:nvPr>
            <p:ph type="title"/>
          </p:nvPr>
        </p:nvSpPr>
        <p:spPr/>
        <p:txBody>
          <a:bodyPr/>
          <a:lstStyle/>
          <a:p>
            <a:r>
              <a:rPr lang="sk-SK"/>
              <a:t>Ďalšia evolúcia – </a:t>
            </a:r>
            <a:r>
              <a:rPr lang="en-US" sz="2800" i="1">
                <a:latin typeface="Consolas" panose="020B0609020204030204" pitchFamily="49" charset="0"/>
              </a:rPr>
              <a:t>async/await</a:t>
            </a:r>
          </a:p>
        </p:txBody>
      </p:sp>
      <p:sp>
        <p:nvSpPr>
          <p:cNvPr id="3" name="Zástupný text 2">
            <a:extLst>
              <a:ext uri="{FF2B5EF4-FFF2-40B4-BE49-F238E27FC236}">
                <a16:creationId xmlns:a16="http://schemas.microsoft.com/office/drawing/2014/main" id="{BA68D9E6-FB41-4137-918C-62E9CD1B18AC}"/>
              </a:ext>
            </a:extLst>
          </p:cNvPr>
          <p:cNvSpPr>
            <a:spLocks noGrp="1"/>
          </p:cNvSpPr>
          <p:nvPr>
            <p:ph type="body" idx="1"/>
          </p:nvPr>
        </p:nvSpPr>
        <p:spPr/>
        <p:txBody>
          <a:bodyPr/>
          <a:lstStyle/>
          <a:p>
            <a:r>
              <a:rPr lang="sk-SK" dirty="0"/>
              <a:t>Ďalšie zjednodušenie syntaxe a vynechanie </a:t>
            </a:r>
            <a:r>
              <a:rPr lang="en-US" i="1" dirty="0"/>
              <a:t>callback</a:t>
            </a:r>
            <a:r>
              <a:rPr lang="sk-SK" dirty="0"/>
              <a:t> funkcií</a:t>
            </a:r>
          </a:p>
          <a:p>
            <a:pPr lvl="1"/>
            <a:r>
              <a:rPr lang="sk-SK" dirty="0"/>
              <a:t>Nové kľúčové slová </a:t>
            </a:r>
            <a:r>
              <a:rPr lang="en-US" sz="1200" dirty="0">
                <a:latin typeface="Consolas" panose="020B0609020204030204" pitchFamily="49" charset="0"/>
              </a:rPr>
              <a:t>async</a:t>
            </a:r>
            <a:r>
              <a:rPr lang="sk-SK" dirty="0"/>
              <a:t> a </a:t>
            </a:r>
            <a:r>
              <a:rPr lang="en-US" sz="1200" dirty="0">
                <a:latin typeface="Consolas" panose="020B0609020204030204" pitchFamily="49" charset="0"/>
              </a:rPr>
              <a:t>await</a:t>
            </a:r>
            <a:r>
              <a:rPr lang="sk-SK" dirty="0"/>
              <a:t> (</a:t>
            </a:r>
            <a:r>
              <a:rPr lang="sk-SK" i="1" dirty="0" err="1"/>
              <a:t>ECMAScript</a:t>
            </a:r>
            <a:r>
              <a:rPr lang="sk-SK" i="1" dirty="0"/>
              <a:t> 2017+</a:t>
            </a:r>
            <a:r>
              <a:rPr lang="sk-SK" dirty="0"/>
              <a:t>)</a:t>
            </a:r>
          </a:p>
          <a:p>
            <a:r>
              <a:rPr lang="en-US" sz="1400" dirty="0">
                <a:latin typeface="Consolas" panose="020B0609020204030204" pitchFamily="49" charset="0"/>
              </a:rPr>
              <a:t>async</a:t>
            </a:r>
            <a:r>
              <a:rPr lang="sk-SK" dirty="0"/>
              <a:t> – označuje funkciu, v ktorej bude asynchrónne volanie</a:t>
            </a:r>
          </a:p>
          <a:p>
            <a:pPr lvl="1"/>
            <a:r>
              <a:rPr lang="sk-SK" dirty="0"/>
              <a:t>Návratová hodnota tejto funkcie sa v prípade potreby "obalí" do objektu </a:t>
            </a:r>
            <a:r>
              <a:rPr lang="en-US" sz="1200" dirty="0">
                <a:latin typeface="Consolas" panose="020B0609020204030204" pitchFamily="49" charset="0"/>
              </a:rPr>
              <a:t>Promise</a:t>
            </a:r>
          </a:p>
          <a:p>
            <a:r>
              <a:rPr lang="en-US" sz="1400" dirty="0">
                <a:latin typeface="Consolas" panose="020B0609020204030204" pitchFamily="49" charset="0"/>
              </a:rPr>
              <a:t>await</a:t>
            </a:r>
            <a:r>
              <a:rPr lang="sk-SK" dirty="0"/>
              <a:t> – "priradí" asynchrónnu hodnotu do premennej (</a:t>
            </a:r>
            <a:r>
              <a:rPr lang="en-US" dirty="0"/>
              <a:t>"</a:t>
            </a:r>
            <a:r>
              <a:rPr lang="sk-SK" dirty="0"/>
              <a:t>rozbalí</a:t>
            </a:r>
            <a:r>
              <a:rPr lang="en-US" dirty="0"/>
              <a:t>" </a:t>
            </a:r>
            <a:r>
              <a:rPr lang="sk-SK" dirty="0"/>
              <a:t>z prísľubu)</a:t>
            </a:r>
          </a:p>
          <a:p>
            <a:pPr lvl="1"/>
            <a:r>
              <a:rPr lang="sk-SK" dirty="0"/>
              <a:t>Je možné ho použiť len vo funkciách označených ako </a:t>
            </a:r>
            <a:r>
              <a:rPr lang="en-US" sz="1200" dirty="0">
                <a:latin typeface="Consolas" panose="020B0609020204030204" pitchFamily="49" charset="0"/>
              </a:rPr>
              <a:t>async</a:t>
            </a:r>
          </a:p>
          <a:p>
            <a:pPr lvl="1"/>
            <a:r>
              <a:rPr lang="sk-SK" dirty="0"/>
              <a:t>Čaká na dokončenie asynchrónnej operácie (</a:t>
            </a:r>
            <a:r>
              <a:rPr lang="en-US" i="1" dirty="0"/>
              <a:t>resolve</a:t>
            </a:r>
            <a:r>
              <a:rPr lang="sk-SK" dirty="0"/>
              <a:t>)</a:t>
            </a:r>
          </a:p>
          <a:p>
            <a:pPr lvl="1"/>
            <a:r>
              <a:rPr lang="sk-SK" dirty="0"/>
              <a:t>Ak bol prísľub zamietnutý vyhodí výnimku (</a:t>
            </a:r>
            <a:r>
              <a:rPr lang="en-US" i="1" dirty="0"/>
              <a:t>reject</a:t>
            </a:r>
            <a:r>
              <a:rPr lang="sk-SK" dirty="0"/>
              <a:t>)</a:t>
            </a:r>
          </a:p>
        </p:txBody>
      </p:sp>
      <p:sp>
        <p:nvSpPr>
          <p:cNvPr id="4" name="Zástupný objekt pre číslo snímky 3">
            <a:extLst>
              <a:ext uri="{FF2B5EF4-FFF2-40B4-BE49-F238E27FC236}">
                <a16:creationId xmlns:a16="http://schemas.microsoft.com/office/drawing/2014/main" id="{B3DA5025-6877-4078-9807-AD7FB79F70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46</a:t>
            </a:fld>
            <a:endParaRPr lang="en-GB"/>
          </a:p>
        </p:txBody>
      </p:sp>
    </p:spTree>
    <p:extLst>
      <p:ext uri="{BB962C8B-B14F-4D97-AF65-F5344CB8AC3E}">
        <p14:creationId xmlns:p14="http://schemas.microsoft.com/office/powerpoint/2010/main" val="21003242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0C72DF7-CB3B-4031-BA16-2D0A9FB6CDF9}"/>
              </a:ext>
            </a:extLst>
          </p:cNvPr>
          <p:cNvSpPr>
            <a:spLocks noGrp="1"/>
          </p:cNvSpPr>
          <p:nvPr>
            <p:ph type="title"/>
          </p:nvPr>
        </p:nvSpPr>
        <p:spPr/>
        <p:txBody>
          <a:bodyPr/>
          <a:lstStyle/>
          <a:p>
            <a:r>
              <a:rPr lang="sk-SK"/>
              <a:t>Príklad AJAX volanie pomocou </a:t>
            </a:r>
            <a:r>
              <a:rPr lang="en-US" i="1"/>
              <a:t>async</a:t>
            </a:r>
            <a:r>
              <a:rPr lang="sk-SK"/>
              <a:t> funkcií</a:t>
            </a:r>
          </a:p>
        </p:txBody>
      </p:sp>
      <p:sp>
        <p:nvSpPr>
          <p:cNvPr id="4" name="Zástupný objekt pre číslo snímky 3">
            <a:extLst>
              <a:ext uri="{FF2B5EF4-FFF2-40B4-BE49-F238E27FC236}">
                <a16:creationId xmlns:a16="http://schemas.microsoft.com/office/drawing/2014/main" id="{A9EE6C89-8482-4C1B-AE85-B44C45030D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47</a:t>
            </a:fld>
            <a:endParaRPr lang="en-GB"/>
          </a:p>
        </p:txBody>
      </p:sp>
      <p:sp>
        <p:nvSpPr>
          <p:cNvPr id="5" name="Rectangle 1">
            <a:extLst>
              <a:ext uri="{FF2B5EF4-FFF2-40B4-BE49-F238E27FC236}">
                <a16:creationId xmlns:a16="http://schemas.microsoft.com/office/drawing/2014/main" id="{638BBA24-58C4-49CE-AE10-C86964B483E9}"/>
              </a:ext>
            </a:extLst>
          </p:cNvPr>
          <p:cNvSpPr>
            <a:spLocks noChangeArrowheads="1"/>
          </p:cNvSpPr>
          <p:nvPr/>
        </p:nvSpPr>
        <p:spPr bwMode="auto">
          <a:xfrm>
            <a:off x="552450" y="1670794"/>
            <a:ext cx="7607300" cy="278242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0" i="1" u="none" strike="noStrike" cap="none" normalizeH="0" baseline="0" dirty="0">
                <a:ln>
                  <a:noFill/>
                </a:ln>
                <a:solidFill>
                  <a:srgbClr val="8C8C8C"/>
                </a:solidFill>
                <a:effectLst/>
                <a:latin typeface="Consolas" panose="020B0609020204030204" pitchFamily="49" charset="0"/>
              </a:rPr>
              <a:t>// asynchrónna funkcia</a:t>
            </a:r>
            <a:endParaRPr kumimoji="0" lang="sk-SK" altLang="sk-SK" sz="1100" b="0" i="0" u="none" strike="noStrike" cap="none" normalizeH="0" baseline="0" dirty="0">
              <a:ln>
                <a:noFill/>
              </a:ln>
              <a:solidFill>
                <a:srgbClr val="0033B3"/>
              </a:solidFill>
              <a:effectLst/>
              <a:latin typeface="Consolas" panose="020B0609020204030204" pitchFamily="49" charset="0"/>
            </a:endParaRPr>
          </a:p>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1" i="0" u="none" strike="noStrike" cap="none" normalizeH="0" baseline="0" dirty="0" err="1">
                <a:ln>
                  <a:noFill/>
                </a:ln>
                <a:solidFill>
                  <a:srgbClr val="0033B3"/>
                </a:solidFill>
                <a:effectLst/>
                <a:latin typeface="Consolas" panose="020B0609020204030204" pitchFamily="49" charset="0"/>
              </a:rPr>
              <a:t>async</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function</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1" u="none" strike="noStrike" cap="none" normalizeH="0" baseline="0" dirty="0" err="1">
                <a:ln>
                  <a:noFill/>
                </a:ln>
                <a:solidFill>
                  <a:srgbClr val="080808"/>
                </a:solidFill>
                <a:effectLst/>
                <a:latin typeface="Consolas" panose="020B0609020204030204" pitchFamily="49" charset="0"/>
              </a:rPr>
              <a:t>getData</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80808"/>
                </a:solidFill>
                <a:effectLst/>
                <a:latin typeface="Consolas" panose="020B0609020204030204" pitchFamily="49" charset="0"/>
              </a:rPr>
              <a:t>url</a:t>
            </a: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try</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a:t>
            </a:r>
          </a:p>
          <a:p>
            <a:pPr eaLnBrk="0" fontAlgn="base" hangingPunct="0">
              <a:lnSpc>
                <a:spcPct val="114000"/>
              </a:lnSpc>
              <a:spcBef>
                <a:spcPct val="0"/>
              </a:spcBef>
              <a:spcAft>
                <a:spcPct val="0"/>
              </a:spcAft>
              <a:buClrTx/>
            </a:pPr>
            <a:r>
              <a:rPr kumimoji="0" lang="sk-SK" altLang="sk-SK" sz="1100" b="0" i="1" u="none" strike="noStrike" cap="none" normalizeH="0" baseline="0" dirty="0">
                <a:ln>
                  <a:noFill/>
                </a:ln>
                <a:solidFill>
                  <a:srgbClr val="8C8C8C"/>
                </a:solidFill>
                <a:effectLst/>
                <a:latin typeface="Consolas" panose="020B0609020204030204" pitchFamily="49" charset="0"/>
              </a:rPr>
              <a:t>    // asynchrónna operácia </a:t>
            </a:r>
            <a:endParaRPr kumimoji="0" lang="sk-SK" altLang="sk-SK" sz="1100" b="0" i="0" u="none" strike="noStrike" cap="none" normalizeH="0" baseline="0" dirty="0">
              <a:ln>
                <a:noFill/>
              </a:ln>
              <a:solidFill>
                <a:srgbClr val="0033B3"/>
              </a:solidFill>
              <a:effectLst/>
              <a:latin typeface="Consolas" panose="020B0609020204030204" pitchFamily="49" charset="0"/>
            </a:endParaRPr>
          </a:p>
          <a:p>
            <a:pPr marL="0" marR="0" lvl="0" indent="0" algn="l" defTabSz="914400" rtl="0" eaLnBrk="0" fontAlgn="base" latinLnBrk="0" hangingPunct="0">
              <a:lnSpc>
                <a:spcPct val="114000"/>
              </a:lnSpc>
              <a:spcBef>
                <a:spcPct val="0"/>
              </a:spcBef>
              <a:spcAft>
                <a:spcPct val="0"/>
              </a:spcAft>
              <a:buClrTx/>
              <a:buSzTx/>
              <a:buFontTx/>
              <a:buNone/>
              <a:tabLst/>
            </a:pP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a:ln>
                  <a:noFill/>
                </a:ln>
                <a:solidFill>
                  <a:srgbClr val="0033B3"/>
                </a:solidFill>
                <a:effectLst/>
                <a:latin typeface="Consolas" panose="020B0609020204030204" pitchFamily="49" charset="0"/>
              </a:rPr>
              <a:t>let </a:t>
            </a:r>
            <a:r>
              <a:rPr kumimoji="0" lang="sk-SK" altLang="sk-SK" sz="1100" b="0" i="0" u="none" strike="noStrike" cap="none" normalizeH="0" baseline="0" dirty="0" err="1">
                <a:ln>
                  <a:noFill/>
                </a:ln>
                <a:solidFill>
                  <a:srgbClr val="248F8F"/>
                </a:solidFill>
                <a:effectLst/>
                <a:latin typeface="Consolas" panose="020B0609020204030204" pitchFamily="49" charset="0"/>
              </a:rPr>
              <a:t>response</a:t>
            </a:r>
            <a:r>
              <a:rPr kumimoji="0" lang="sk-SK" altLang="sk-SK" sz="1100" b="0" i="0" u="none" strike="noStrike" cap="none" normalizeH="0" baseline="0" dirty="0">
                <a:ln>
                  <a:noFill/>
                </a:ln>
                <a:solidFill>
                  <a:srgbClr val="248F8F"/>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1" i="0" u="none" strike="noStrike" cap="none" normalizeH="0" baseline="0" dirty="0" err="1">
                <a:ln>
                  <a:noFill/>
                </a:ln>
                <a:solidFill>
                  <a:srgbClr val="0033B3"/>
                </a:solidFill>
                <a:effectLst/>
                <a:latin typeface="Consolas" panose="020B0609020204030204" pitchFamily="49" charset="0"/>
              </a:rPr>
              <a:t>await</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1" u="none" strike="noStrike" cap="none" normalizeH="0" baseline="0" dirty="0" err="1">
                <a:ln>
                  <a:noFill/>
                </a:ln>
                <a:solidFill>
                  <a:srgbClr val="080808"/>
                </a:solidFill>
                <a:effectLst/>
                <a:latin typeface="Consolas" panose="020B0609020204030204" pitchFamily="49" charset="0"/>
              </a:rPr>
              <a:t>fetch</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80808"/>
                </a:solidFill>
                <a:effectLst/>
                <a:latin typeface="Consolas" panose="020B0609020204030204" pitchFamily="49" charset="0"/>
              </a:rPr>
              <a:t>url</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033B3"/>
                </a:solidFill>
                <a:effectLst/>
                <a:latin typeface="Consolas" panose="020B0609020204030204" pitchFamily="49" charset="0"/>
              </a:rPr>
              <a:t>return</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1" i="0" u="none" strike="noStrike" cap="none" normalizeH="0" baseline="0" dirty="0" err="1">
                <a:ln>
                  <a:noFill/>
                </a:ln>
                <a:solidFill>
                  <a:srgbClr val="0033B3"/>
                </a:solidFill>
                <a:effectLst/>
                <a:latin typeface="Consolas" panose="020B0609020204030204" pitchFamily="49" charset="0"/>
              </a:rPr>
              <a:t>await</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err="1">
                <a:ln>
                  <a:noFill/>
                </a:ln>
                <a:solidFill>
                  <a:srgbClr val="248F8F"/>
                </a:solidFill>
                <a:effectLst/>
                <a:latin typeface="Consolas" panose="020B0609020204030204" pitchFamily="49" charset="0"/>
              </a:rPr>
              <a:t>response</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json</a:t>
            </a: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sk-SK" altLang="sk-SK" sz="1100" b="0" i="1" u="none" strike="noStrike" cap="none" normalizeH="0" baseline="0" dirty="0">
              <a:ln>
                <a:noFill/>
              </a:ln>
              <a:solidFill>
                <a:srgbClr val="8C8C8C"/>
              </a:solidFill>
              <a:effectLst/>
              <a:latin typeface="Consolas" panose="020B0609020204030204" pitchFamily="49" charset="0"/>
            </a:endParaRPr>
          </a:p>
          <a:p>
            <a:pPr eaLnBrk="0" fontAlgn="base" hangingPunct="0">
              <a:lnSpc>
                <a:spcPct val="114000"/>
              </a:lnSpc>
              <a:spcBef>
                <a:spcPct val="0"/>
              </a:spcBef>
              <a:spcAft>
                <a:spcPct val="0"/>
              </a:spcAft>
              <a:buClrTx/>
            </a:pPr>
            <a:r>
              <a:rPr lang="sk-SK" altLang="sk-SK" sz="1100" i="1" dirty="0">
                <a:solidFill>
                  <a:srgbClr val="8C8C8C"/>
                </a:solidFill>
                <a:latin typeface="Consolas" panose="020B0609020204030204" pitchFamily="49" charset="0"/>
              </a:rPr>
              <a:t> </a:t>
            </a:r>
            <a:r>
              <a:rPr kumimoji="0" lang="sk-SK" altLang="sk-SK" sz="1100" b="0" i="1" u="none" strike="noStrike" cap="none" normalizeH="0" baseline="0" dirty="0">
                <a:ln>
                  <a:noFill/>
                </a:ln>
                <a:solidFill>
                  <a:srgbClr val="8C8C8C"/>
                </a:solidFill>
                <a:effectLst/>
                <a:latin typeface="Consolas" panose="020B0609020204030204" pitchFamily="49" charset="0"/>
              </a:rPr>
              <a:t>   // štandardný spôsob ošetrenia výnimiek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 </a:t>
            </a:r>
            <a:r>
              <a:rPr kumimoji="0" lang="sk-SK" altLang="sk-SK" sz="1100" b="0" i="0" u="none" strike="noStrike" cap="none" normalizeH="0" baseline="0" dirty="0" err="1">
                <a:ln>
                  <a:noFill/>
                </a:ln>
                <a:solidFill>
                  <a:srgbClr val="0033B3"/>
                </a:solidFill>
                <a:effectLst/>
                <a:latin typeface="Consolas" panose="020B0609020204030204" pitchFamily="49" charset="0"/>
              </a:rPr>
              <a:t>catch</a:t>
            </a:r>
            <a:r>
              <a:rPr kumimoji="0" lang="sk-SK" altLang="sk-SK" sz="1100" b="0" i="0" u="none" strike="noStrike" cap="none" normalizeH="0" baseline="0" dirty="0">
                <a:ln>
                  <a:noFill/>
                </a:ln>
                <a:solidFill>
                  <a:srgbClr val="0033B3"/>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(e)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830091"/>
                </a:solidFill>
                <a:effectLst/>
                <a:latin typeface="Consolas" panose="020B0609020204030204" pitchFamily="49" charset="0"/>
              </a:rPr>
              <a:t>console</a:t>
            </a:r>
            <a:r>
              <a:rPr kumimoji="0" lang="sk-SK" altLang="sk-SK" sz="1100" b="0" i="0" u="none" strike="noStrike" cap="none" normalizeH="0" baseline="0" dirty="0" err="1">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7A7A43"/>
                </a:solidFill>
                <a:effectLst/>
                <a:latin typeface="Consolas" panose="020B0609020204030204" pitchFamily="49" charset="0"/>
              </a:rPr>
              <a:t>error</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'Chyba: '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0" u="none" strike="noStrike" cap="none" normalizeH="0" baseline="0" dirty="0" err="1">
                <a:ln>
                  <a:noFill/>
                </a:ln>
                <a:solidFill>
                  <a:srgbClr val="080808"/>
                </a:solidFill>
                <a:effectLst/>
                <a:latin typeface="Consolas" panose="020B0609020204030204" pitchFamily="49" charset="0"/>
              </a:rPr>
              <a:t>e.</a:t>
            </a:r>
            <a:r>
              <a:rPr kumimoji="0" lang="sk-SK" altLang="sk-SK" sz="1100" b="0" i="0" u="none" strike="noStrike" cap="none" normalizeH="0" baseline="0" dirty="0" err="1">
                <a:ln>
                  <a:noFill/>
                </a:ln>
                <a:solidFill>
                  <a:srgbClr val="871094"/>
                </a:solidFill>
                <a:effectLst/>
                <a:latin typeface="Consolas" panose="020B0609020204030204" pitchFamily="49" charset="0"/>
              </a:rPr>
              <a:t>message</a:t>
            </a: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080808"/>
                </a:solidFill>
                <a:effectLst/>
                <a:latin typeface="Consolas" panose="020B0609020204030204" pitchFamily="49" charset="0"/>
              </a:rPr>
              <a:t>}</a:t>
            </a:r>
            <a:br>
              <a:rPr kumimoji="0" lang="sk-SK" altLang="sk-SK" sz="1100" b="0" i="0" u="none" strike="noStrike" cap="none" normalizeH="0" baseline="0" dirty="0">
                <a:ln>
                  <a:noFill/>
                </a:ln>
                <a:solidFill>
                  <a:srgbClr val="080808"/>
                </a:solidFill>
                <a:effectLst/>
                <a:latin typeface="Consolas" panose="020B0609020204030204" pitchFamily="49" charset="0"/>
              </a:rPr>
            </a:b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en-US" altLang="sk-SK" sz="1100" b="0" i="0" u="none" strike="noStrike" cap="none" normalizeH="0" baseline="0" dirty="0">
                <a:ln>
                  <a:noFill/>
                </a:ln>
                <a:solidFill>
                  <a:srgbClr val="080808"/>
                </a:solidFill>
                <a:effectLst/>
                <a:latin typeface="Consolas" panose="020B0609020204030204" pitchFamily="49" charset="0"/>
              </a:rPr>
              <a:t>let </a:t>
            </a:r>
            <a:r>
              <a:rPr kumimoji="0" lang="sk-SK" altLang="sk-SK" sz="1100" b="0" i="0" u="none" strike="noStrike" cap="none" normalizeH="0" baseline="0" dirty="0" err="1">
                <a:ln>
                  <a:noFill/>
                </a:ln>
                <a:solidFill>
                  <a:srgbClr val="871094"/>
                </a:solidFill>
                <a:effectLst/>
                <a:latin typeface="Consolas" panose="020B0609020204030204" pitchFamily="49" charset="0"/>
              </a:rPr>
              <a:t>data</a:t>
            </a:r>
            <a:r>
              <a:rPr kumimoji="0" lang="sk-SK" altLang="sk-SK" sz="1100" b="0" i="0" u="none" strike="noStrike" cap="none" normalizeH="0" baseline="0" dirty="0">
                <a:ln>
                  <a:noFill/>
                </a:ln>
                <a:solidFill>
                  <a:srgbClr val="871094"/>
                </a:solidFill>
                <a:effectLst/>
                <a:latin typeface="Consolas" panose="020B0609020204030204" pitchFamily="49" charset="0"/>
              </a:rPr>
              <a:t> </a:t>
            </a:r>
            <a:r>
              <a:rPr kumimoji="0" lang="sk-SK"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1" i="0" u="none" strike="noStrike" cap="none" normalizeH="0" baseline="0" dirty="0" err="1">
                <a:ln>
                  <a:noFill/>
                </a:ln>
                <a:solidFill>
                  <a:srgbClr val="0033B3"/>
                </a:solidFill>
                <a:effectLst/>
                <a:latin typeface="Consolas" panose="020B0609020204030204" pitchFamily="49" charset="0"/>
              </a:rPr>
              <a:t>await</a:t>
            </a:r>
            <a:r>
              <a:rPr kumimoji="0" lang="en-US" altLang="sk-SK" sz="1100" b="1" i="0" u="none" strike="noStrike" cap="none" normalizeH="0" baseline="0" dirty="0">
                <a:ln>
                  <a:noFill/>
                </a:ln>
                <a:solidFill>
                  <a:srgbClr val="0033B3"/>
                </a:solidFill>
                <a:effectLst/>
                <a:latin typeface="Consolas" panose="020B0609020204030204" pitchFamily="49" charset="0"/>
              </a:rPr>
              <a:t> </a:t>
            </a:r>
            <a:r>
              <a:rPr kumimoji="0" lang="sk-SK" altLang="sk-SK" sz="1100" b="0" i="1" u="none" strike="noStrike" cap="none" normalizeH="0" baseline="0" dirty="0" err="1">
                <a:ln>
                  <a:noFill/>
                </a:ln>
                <a:solidFill>
                  <a:srgbClr val="080808"/>
                </a:solidFill>
                <a:effectLst/>
                <a:latin typeface="Consolas" panose="020B0609020204030204" pitchFamily="49" charset="0"/>
              </a:rPr>
              <a:t>getData</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067D17"/>
                </a:solidFill>
                <a:effectLst/>
                <a:latin typeface="Consolas" panose="020B0609020204030204" pitchFamily="49" charset="0"/>
              </a:rPr>
              <a:t>'http://localhost/data.json'</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en-US" altLang="sk-SK" sz="1100" b="0" i="0" u="none" strike="noStrike" cap="none" normalizeH="0" baseline="0" dirty="0">
                <a:ln>
                  <a:noFill/>
                </a:ln>
                <a:solidFill>
                  <a:srgbClr val="080808"/>
                </a:solidFill>
                <a:effectLst/>
                <a:latin typeface="Consolas" panose="020B0609020204030204" pitchFamily="49" charset="0"/>
              </a:rPr>
              <a:t> </a:t>
            </a:r>
            <a:r>
              <a:rPr kumimoji="0" lang="sk-SK" altLang="sk-SK" sz="1100" b="0" i="1" u="none" strike="noStrike" cap="none" normalizeH="0" baseline="0" dirty="0">
                <a:ln>
                  <a:noFill/>
                </a:ln>
                <a:solidFill>
                  <a:srgbClr val="8C8C8C"/>
                </a:solidFill>
                <a:effectLst/>
                <a:latin typeface="Consolas" panose="020B0609020204030204" pitchFamily="49" charset="0"/>
              </a:rPr>
              <a:t>// </a:t>
            </a:r>
            <a:r>
              <a:rPr kumimoji="0" lang="en-US" altLang="sk-SK" sz="1100" b="0" i="1" u="none" strike="noStrike" cap="none" normalizeH="0" baseline="0" dirty="0">
                <a:ln>
                  <a:noFill/>
                </a:ln>
                <a:solidFill>
                  <a:srgbClr val="8C8C8C"/>
                </a:solidFill>
                <a:effectLst/>
                <a:latin typeface="Consolas" panose="020B0609020204030204" pitchFamily="49" charset="0"/>
              </a:rPr>
              <a:t>async </a:t>
            </a:r>
            <a:r>
              <a:rPr kumimoji="0" lang="sk-SK" altLang="sk-SK" sz="1100" b="0" i="1" u="none" strike="noStrike" cap="none" normalizeH="0" baseline="0" dirty="0">
                <a:ln>
                  <a:noFill/>
                </a:ln>
                <a:solidFill>
                  <a:srgbClr val="8C8C8C"/>
                </a:solidFill>
                <a:effectLst/>
                <a:latin typeface="Consolas" panose="020B0609020204030204" pitchFamily="49" charset="0"/>
              </a:rPr>
              <a:t>funkcia vždy vracia </a:t>
            </a:r>
            <a:r>
              <a:rPr kumimoji="0" lang="sk-SK" altLang="sk-SK" sz="1100" b="0" i="1" u="none" strike="noStrike" cap="none" normalizeH="0" baseline="0" dirty="0" err="1">
                <a:ln>
                  <a:noFill/>
                </a:ln>
                <a:solidFill>
                  <a:srgbClr val="8C8C8C"/>
                </a:solidFill>
                <a:effectLst/>
                <a:latin typeface="Consolas" panose="020B0609020204030204" pitchFamily="49" charset="0"/>
              </a:rPr>
              <a:t>Promise</a:t>
            </a:r>
            <a:r>
              <a:rPr kumimoji="0" lang="en-US" altLang="sk-SK" sz="1100" b="0" i="1" u="none" strike="noStrike" cap="none" normalizeH="0" baseline="0" dirty="0">
                <a:ln>
                  <a:noFill/>
                </a:ln>
                <a:solidFill>
                  <a:srgbClr val="8C8C8C"/>
                </a:solidFill>
                <a:effectLst/>
                <a:latin typeface="Consolas" panose="020B0609020204030204" pitchFamily="49" charset="0"/>
              </a:rPr>
              <a:t>!</a:t>
            </a:r>
            <a:r>
              <a:rPr kumimoji="0" lang="sk-SK" altLang="sk-SK" sz="1100" b="0" i="1" u="none" strike="noStrike" cap="none" normalizeH="0" baseline="0" dirty="0">
                <a:ln>
                  <a:noFill/>
                </a:ln>
                <a:solidFill>
                  <a:srgbClr val="8C8C8C"/>
                </a:solidFill>
                <a:effectLst/>
                <a:latin typeface="Consolas" panose="020B0609020204030204" pitchFamily="49" charset="0"/>
              </a:rPr>
              <a:t> </a:t>
            </a:r>
            <a:br>
              <a:rPr kumimoji="0" lang="sk-SK" altLang="sk-SK" sz="1100" b="0" i="0" u="none" strike="noStrike" cap="none" normalizeH="0" baseline="0" dirty="0">
                <a:ln>
                  <a:noFill/>
                </a:ln>
                <a:solidFill>
                  <a:srgbClr val="080808"/>
                </a:solidFill>
                <a:effectLst/>
                <a:latin typeface="Consolas" panose="020B0609020204030204" pitchFamily="49" charset="0"/>
              </a:rPr>
            </a:br>
            <a:r>
              <a:rPr kumimoji="0" lang="sk-SK" altLang="sk-SK" sz="1100" b="0" i="0" u="none" strike="noStrike" cap="none" normalizeH="0" baseline="0" dirty="0">
                <a:ln>
                  <a:noFill/>
                </a:ln>
                <a:solidFill>
                  <a:srgbClr val="830091"/>
                </a:solidFill>
                <a:effectLst/>
                <a:latin typeface="Consolas" panose="020B0609020204030204" pitchFamily="49" charset="0"/>
              </a:rPr>
              <a:t>console</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a:ln>
                  <a:noFill/>
                </a:ln>
                <a:solidFill>
                  <a:srgbClr val="7A7A43"/>
                </a:solidFill>
                <a:effectLst/>
                <a:latin typeface="Consolas" panose="020B0609020204030204" pitchFamily="49" charset="0"/>
              </a:rPr>
              <a:t>log</a:t>
            </a:r>
            <a:r>
              <a:rPr kumimoji="0" lang="sk-SK" altLang="sk-SK" sz="1100" b="0" i="0" u="none" strike="noStrike" cap="none" normalizeH="0" baseline="0" dirty="0">
                <a:ln>
                  <a:noFill/>
                </a:ln>
                <a:solidFill>
                  <a:srgbClr val="080808"/>
                </a:solidFill>
                <a:effectLst/>
                <a:latin typeface="Consolas" panose="020B0609020204030204" pitchFamily="49" charset="0"/>
              </a:rPr>
              <a:t>(</a:t>
            </a:r>
            <a:r>
              <a:rPr kumimoji="0" lang="sk-SK" altLang="sk-SK" sz="1100" b="0" i="0" u="none" strike="noStrike" cap="none" normalizeH="0" baseline="0" dirty="0" err="1">
                <a:ln>
                  <a:noFill/>
                </a:ln>
                <a:solidFill>
                  <a:srgbClr val="080808"/>
                </a:solidFill>
                <a:effectLst/>
                <a:latin typeface="Consolas" panose="020B0609020204030204" pitchFamily="49" charset="0"/>
              </a:rPr>
              <a:t>data</a:t>
            </a:r>
            <a:r>
              <a:rPr kumimoji="0" lang="sk-SK" altLang="sk-SK" sz="1100" b="0" i="0" u="none" strike="noStrike" cap="none" normalizeH="0" baseline="0" dirty="0">
                <a:ln>
                  <a:noFill/>
                </a:ln>
                <a:solidFill>
                  <a:srgbClr val="080808"/>
                </a:solidFill>
                <a:effectLst/>
                <a:latin typeface="Consolas" panose="020B0609020204030204" pitchFamily="49" charset="0"/>
              </a:rPr>
              <a:t>)</a:t>
            </a:r>
            <a:endParaRPr kumimoji="0" lang="sk-SK" altLang="sk-SK" sz="11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4280617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1B44697-4BEA-03B6-000B-FFEECFB5EDE7}"/>
              </a:ext>
            </a:extLst>
          </p:cNvPr>
          <p:cNvSpPr>
            <a:spLocks noGrp="1"/>
          </p:cNvSpPr>
          <p:nvPr>
            <p:ph type="title"/>
          </p:nvPr>
        </p:nvSpPr>
        <p:spPr/>
        <p:txBody>
          <a:bodyPr/>
          <a:lstStyle/>
          <a:p>
            <a:r>
              <a:rPr lang="sk-SK" dirty="0"/>
              <a:t>Otázka 3</a:t>
            </a:r>
            <a:endParaRPr lang="en-US" dirty="0"/>
          </a:p>
        </p:txBody>
      </p:sp>
      <p:sp>
        <p:nvSpPr>
          <p:cNvPr id="4" name="Zástupný objekt pre číslo snímky 3">
            <a:extLst>
              <a:ext uri="{FF2B5EF4-FFF2-40B4-BE49-F238E27FC236}">
                <a16:creationId xmlns:a16="http://schemas.microsoft.com/office/drawing/2014/main" id="{1B050F76-085F-F0FB-EB3A-326CD0EDDB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48</a:t>
            </a:fld>
            <a:endParaRPr lang="en-GB"/>
          </a:p>
        </p:txBody>
      </p:sp>
      <p:pic>
        <p:nvPicPr>
          <p:cNvPr id="5" name="Obrázok 4" descr="Obrázok, na ktorom je zbraň, chlap, ľudská tvár, akčný film&#10;&#10;Obsah vygenerovaný pomocou AI môže byť nesprávny.">
            <a:extLst>
              <a:ext uri="{FF2B5EF4-FFF2-40B4-BE49-F238E27FC236}">
                <a16:creationId xmlns:a16="http://schemas.microsoft.com/office/drawing/2014/main" id="{36BABCFE-1949-C3DB-6AE1-7044AFB2B462}"/>
              </a:ext>
            </a:extLst>
          </p:cNvPr>
          <p:cNvPicPr>
            <a:picLocks noChangeAspect="1"/>
          </p:cNvPicPr>
          <p:nvPr/>
        </p:nvPicPr>
        <p:blipFill>
          <a:blip r:embed="rId2"/>
          <a:stretch>
            <a:fillRect/>
          </a:stretch>
        </p:blipFill>
        <p:spPr>
          <a:xfrm>
            <a:off x="1897380" y="1520025"/>
            <a:ext cx="5052060" cy="2660752"/>
          </a:xfrm>
          <a:prstGeom prst="rect">
            <a:avLst/>
          </a:prstGeom>
        </p:spPr>
      </p:pic>
      <p:sp>
        <p:nvSpPr>
          <p:cNvPr id="7" name="BlokTextu 6">
            <a:extLst>
              <a:ext uri="{FF2B5EF4-FFF2-40B4-BE49-F238E27FC236}">
                <a16:creationId xmlns:a16="http://schemas.microsoft.com/office/drawing/2014/main" id="{1071159E-F067-1E8E-4746-4D2CF6211432}"/>
              </a:ext>
            </a:extLst>
          </p:cNvPr>
          <p:cNvSpPr txBox="1"/>
          <p:nvPr/>
        </p:nvSpPr>
        <p:spPr>
          <a:xfrm>
            <a:off x="2137410" y="4260096"/>
            <a:ext cx="4572000" cy="523220"/>
          </a:xfrm>
          <a:prstGeom prst="rect">
            <a:avLst/>
          </a:prstGeom>
          <a:noFill/>
        </p:spPr>
        <p:txBody>
          <a:bodyPr wrap="square">
            <a:spAutoFit/>
          </a:bodyPr>
          <a:lstStyle/>
          <a:p>
            <a:r>
              <a:rPr lang="en-US" dirty="0">
                <a:hlinkClick r:id="rId3"/>
              </a:rPr>
              <a:t>https://www.fri.uniza.sk/cms/quizzes/questions/qr/30</a:t>
            </a:r>
            <a:endParaRPr lang="sk-SK"/>
          </a:p>
          <a:p>
            <a:endParaRPr lang="en-US" dirty="0"/>
          </a:p>
        </p:txBody>
      </p:sp>
    </p:spTree>
    <p:extLst>
      <p:ext uri="{BB962C8B-B14F-4D97-AF65-F5344CB8AC3E}">
        <p14:creationId xmlns:p14="http://schemas.microsoft.com/office/powerpoint/2010/main" val="815462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5"/>
          <p:cNvSpPr txBox="1">
            <a:spLocks noGrp="1"/>
          </p:cNvSpPr>
          <p:nvPr>
            <p:ph type="title"/>
          </p:nvPr>
        </p:nvSpPr>
        <p:spPr>
          <a:xfrm>
            <a:off x="435895" y="2282932"/>
            <a:ext cx="8272200" cy="1123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Tvorba webového API</a:t>
            </a:r>
          </a:p>
        </p:txBody>
      </p:sp>
      <p:sp>
        <p:nvSpPr>
          <p:cNvPr id="402" name="Google Shape;402;p55"/>
          <p:cNvSpPr txBox="1">
            <a:spLocks noGrp="1"/>
          </p:cNvSpPr>
          <p:nvPr>
            <p:ph type="body" idx="1"/>
          </p:nvPr>
        </p:nvSpPr>
        <p:spPr>
          <a:xfrm>
            <a:off x="435894" y="3406063"/>
            <a:ext cx="8272200" cy="450300"/>
          </a:xfrm>
          <a:prstGeom prst="rect">
            <a:avLst/>
          </a:prstGeom>
        </p:spPr>
        <p:txBody>
          <a:bodyPr spcFirstLastPara="1" wrap="square" lIns="68575" tIns="68575" rIns="68575" bIns="68575" anchor="t" anchorCtr="0">
            <a:noAutofit/>
          </a:bodyPr>
          <a:lstStyle/>
          <a:p>
            <a:pPr marL="0" lvl="0" indent="0" algn="l" rtl="0">
              <a:spcBef>
                <a:spcPts val="300"/>
              </a:spcBef>
              <a:spcAft>
                <a:spcPts val="500"/>
              </a:spcAft>
              <a:buNone/>
            </a:pPr>
            <a:endParaRPr lang="sk-SK"/>
          </a:p>
        </p:txBody>
      </p:sp>
      <p:sp>
        <p:nvSpPr>
          <p:cNvPr id="403" name="Google Shape;403;p55"/>
          <p:cNvSpPr txBox="1">
            <a:spLocks noGrp="1"/>
          </p:cNvSpPr>
          <p:nvPr>
            <p:ph type="sldNum" idx="12"/>
          </p:nvPr>
        </p:nvSpPr>
        <p:spPr>
          <a:xfrm>
            <a:off x="7918725" y="4467103"/>
            <a:ext cx="7893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49</a:t>
            </a:fld>
            <a:endParaRPr lang="sk-SK"/>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6"/>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Technológie na tvorbu web API</a:t>
            </a:r>
          </a:p>
        </p:txBody>
      </p:sp>
      <p:sp>
        <p:nvSpPr>
          <p:cNvPr id="409" name="Google Shape;409;p56"/>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a:spcBef>
                <a:spcPts val="0"/>
              </a:spcBef>
            </a:pPr>
            <a:r>
              <a:rPr lang="sk-SK" dirty="0">
                <a:hlinkClick r:id="rId3"/>
              </a:rPr>
              <a:t>REST API</a:t>
            </a:r>
            <a:endParaRPr lang="sk-SK" dirty="0"/>
          </a:p>
          <a:p>
            <a:pPr>
              <a:spcBef>
                <a:spcPts val="0"/>
              </a:spcBef>
            </a:pPr>
            <a:r>
              <a:rPr lang="sk-SK" dirty="0">
                <a:hlinkClick r:id="rId4"/>
              </a:rPr>
              <a:t>Webové služby</a:t>
            </a:r>
            <a:r>
              <a:rPr lang="en-US" dirty="0"/>
              <a:t> </a:t>
            </a:r>
            <a:r>
              <a:rPr lang="sk-SK" dirty="0"/>
              <a:t>(</a:t>
            </a:r>
            <a:r>
              <a:rPr lang="sk-SK" i="1" dirty="0"/>
              <a:t>web </a:t>
            </a:r>
            <a:r>
              <a:rPr lang="en-US" i="1" dirty="0"/>
              <a:t>services</a:t>
            </a:r>
            <a:r>
              <a:rPr lang="sk-SK" dirty="0"/>
              <a:t>, v súčasnosti už používané zriedka)</a:t>
            </a:r>
          </a:p>
          <a:p>
            <a:pPr>
              <a:spcBef>
                <a:spcPts val="0"/>
              </a:spcBef>
            </a:pPr>
            <a:r>
              <a:rPr lang="sk-SK" dirty="0" err="1">
                <a:hlinkClick r:id="rId5"/>
              </a:rPr>
              <a:t>GraphQL</a:t>
            </a:r>
            <a:endParaRPr lang="sk-SK" dirty="0"/>
          </a:p>
        </p:txBody>
      </p:sp>
      <p:sp>
        <p:nvSpPr>
          <p:cNvPr id="410" name="Google Shape;410;p56"/>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50</a:t>
            </a:fld>
            <a:endParaRPr lang="sk-SK"/>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9"/>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REST (RESTful) rozhranie</a:t>
            </a:r>
          </a:p>
        </p:txBody>
      </p:sp>
      <p:sp>
        <p:nvSpPr>
          <p:cNvPr id="431" name="Google Shape;431;p59"/>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lnSpc>
                <a:spcPct val="100000"/>
              </a:lnSpc>
              <a:spcBef>
                <a:spcPts val="0"/>
              </a:spcBef>
              <a:spcAft>
                <a:spcPts val="0"/>
              </a:spcAft>
              <a:buSzPts val="1600"/>
              <a:buChar char="●"/>
            </a:pPr>
            <a:r>
              <a:rPr lang="en-US" b="1" i="1" dirty="0"/>
              <a:t>Re</a:t>
            </a:r>
            <a:r>
              <a:rPr lang="en-US" i="1" dirty="0"/>
              <a:t>presentational </a:t>
            </a:r>
            <a:r>
              <a:rPr lang="en-US" b="1" i="1" dirty="0"/>
              <a:t>S</a:t>
            </a:r>
            <a:r>
              <a:rPr lang="en-US" i="1" dirty="0"/>
              <a:t>tate </a:t>
            </a:r>
            <a:r>
              <a:rPr lang="en-US" b="1" i="1" dirty="0"/>
              <a:t>T</a:t>
            </a:r>
            <a:r>
              <a:rPr lang="en-US" i="1" dirty="0"/>
              <a:t>ransfer</a:t>
            </a:r>
          </a:p>
          <a:p>
            <a:pPr marL="457200" lvl="0" indent="-330200" algn="l" rtl="0">
              <a:spcBef>
                <a:spcPts val="0"/>
              </a:spcBef>
              <a:spcAft>
                <a:spcPts val="0"/>
              </a:spcAft>
              <a:buSzPts val="1600"/>
              <a:buChar char="●"/>
            </a:pPr>
            <a:r>
              <a:rPr lang="sk-SK" dirty="0"/>
              <a:t>Architektonický štýl (architektúra rozhrania)</a:t>
            </a:r>
          </a:p>
          <a:p>
            <a:pPr lvl="1">
              <a:spcBef>
                <a:spcPts val="0"/>
              </a:spcBef>
            </a:pPr>
            <a:r>
              <a:rPr lang="sk-SK" dirty="0"/>
              <a:t>API spĺňajúce všetky náležitosti REST API sa nazýva </a:t>
            </a:r>
            <a:r>
              <a:rPr lang="sk-SK" i="1" dirty="0" err="1"/>
              <a:t>RESTful</a:t>
            </a:r>
            <a:r>
              <a:rPr lang="sk-SK" i="1" dirty="0"/>
              <a:t> API</a:t>
            </a:r>
          </a:p>
          <a:p>
            <a:pPr marL="457200" lvl="0" indent="-330200" algn="l" rtl="0">
              <a:spcBef>
                <a:spcPts val="0"/>
              </a:spcBef>
              <a:spcAft>
                <a:spcPts val="0"/>
              </a:spcAft>
              <a:buSzPts val="1600"/>
              <a:buChar char="●"/>
            </a:pPr>
            <a:r>
              <a:rPr lang="sk-SK" dirty="0"/>
              <a:t>Autor: </a:t>
            </a:r>
            <a:r>
              <a:rPr lang="sk-SK" i="1" dirty="0" err="1"/>
              <a:t>R.T.Fielding</a:t>
            </a:r>
            <a:r>
              <a:rPr lang="sk-SK" dirty="0"/>
              <a:t> (</a:t>
            </a:r>
            <a:r>
              <a:rPr lang="sk-SK" u="sng" dirty="0">
                <a:solidFill>
                  <a:schemeClr val="hlink"/>
                </a:solidFill>
                <a:hlinkClick r:id="rId3"/>
              </a:rPr>
              <a:t>dizertačná práca</a:t>
            </a:r>
            <a:r>
              <a:rPr lang="sk-SK" dirty="0"/>
              <a:t>)</a:t>
            </a:r>
          </a:p>
          <a:p>
            <a:pPr marL="457200" lvl="0" indent="-330200" algn="l" rtl="0">
              <a:spcBef>
                <a:spcPts val="0"/>
              </a:spcBef>
              <a:spcAft>
                <a:spcPts val="0"/>
              </a:spcAft>
              <a:buSzPts val="1600"/>
              <a:buChar char="●"/>
            </a:pPr>
            <a:r>
              <a:rPr lang="sk-SK" dirty="0"/>
              <a:t>Spôsob získavania dát z aplikácií pomocou HTTP/HTTPS protokolu</a:t>
            </a:r>
          </a:p>
          <a:p>
            <a:pPr marL="914400" lvl="1" indent="-298450" algn="l" rtl="0">
              <a:spcBef>
                <a:spcPts val="0"/>
              </a:spcBef>
              <a:spcAft>
                <a:spcPts val="0"/>
              </a:spcAft>
              <a:buSzPts val="1100"/>
              <a:buChar char="○"/>
            </a:pPr>
            <a:r>
              <a:rPr lang="sk-SK" dirty="0"/>
              <a:t>Prepojenie rôznych aplikácií na úrovni API </a:t>
            </a:r>
          </a:p>
          <a:p>
            <a:pPr marL="457200" lvl="0" indent="-330200" algn="l" rtl="0">
              <a:spcBef>
                <a:spcPts val="0"/>
              </a:spcBef>
              <a:spcAft>
                <a:spcPts val="0"/>
              </a:spcAft>
              <a:buSzPts val="1600"/>
              <a:buChar char="●"/>
            </a:pPr>
            <a:r>
              <a:rPr lang="sk-SK" dirty="0"/>
              <a:t>Definuje dátové zdroje (</a:t>
            </a:r>
            <a:r>
              <a:rPr lang="en-US" i="1" dirty="0"/>
              <a:t>resources</a:t>
            </a:r>
            <a:r>
              <a:rPr lang="sk-SK" dirty="0"/>
              <a:t>) </a:t>
            </a:r>
          </a:p>
          <a:p>
            <a:pPr marL="914400" lvl="1" indent="-298450" algn="l" rtl="0">
              <a:spcBef>
                <a:spcPts val="0"/>
              </a:spcBef>
              <a:spcAft>
                <a:spcPts val="0"/>
              </a:spcAft>
              <a:buSzPts val="1100"/>
              <a:buChar char="○"/>
            </a:pPr>
            <a:r>
              <a:rPr lang="sk-SK" dirty="0"/>
              <a:t>Napr. pre </a:t>
            </a:r>
            <a:r>
              <a:rPr lang="en-US" i="1" dirty="0"/>
              <a:t>Single </a:t>
            </a:r>
            <a:r>
              <a:rPr lang="sk-SK" i="1" dirty="0"/>
              <a:t>P</a:t>
            </a:r>
            <a:r>
              <a:rPr lang="en-US" i="1" dirty="0"/>
              <a:t>age </a:t>
            </a:r>
            <a:r>
              <a:rPr lang="sk-SK" i="1" dirty="0"/>
              <a:t>Aplikácie </a:t>
            </a:r>
          </a:p>
        </p:txBody>
      </p:sp>
      <p:sp>
        <p:nvSpPr>
          <p:cNvPr id="432" name="Google Shape;432;p59"/>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51</a:t>
            </a:fld>
            <a:endParaRPr lang="sk-SK"/>
          </a:p>
        </p:txBody>
      </p:sp>
      <p:sp>
        <p:nvSpPr>
          <p:cNvPr id="2" name="Google Shape;450;p61">
            <a:extLst>
              <a:ext uri="{FF2B5EF4-FFF2-40B4-BE49-F238E27FC236}">
                <a16:creationId xmlns:a16="http://schemas.microsoft.com/office/drawing/2014/main" id="{CD5AB374-3749-EBBB-233F-A22CEB698256}"/>
              </a:ext>
            </a:extLst>
          </p:cNvPr>
          <p:cNvSpPr txBox="1"/>
          <p:nvPr/>
        </p:nvSpPr>
        <p:spPr>
          <a:xfrm>
            <a:off x="5969000" y="4616883"/>
            <a:ext cx="268685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900" dirty="0">
                <a:solidFill>
                  <a:schemeClr val="tx1"/>
                </a:solidFill>
                <a:latin typeface="Cabin" panose="020B0604020202020204"/>
              </a:rPr>
              <a:t>Zdroj: </a:t>
            </a:r>
            <a:r>
              <a:rPr lang="sk-SK" sz="900" dirty="0">
                <a:solidFill>
                  <a:schemeClr val="tx1"/>
                </a:solidFill>
                <a:latin typeface="Cabin" panose="020B0604020202020204"/>
                <a:hlinkClick r:id="rId4"/>
              </a:rPr>
              <a:t>https://developer.ibm.com/articles/ws-restful/</a:t>
            </a:r>
            <a:r>
              <a:rPr lang="sk-SK" sz="900" dirty="0">
                <a:solidFill>
                  <a:schemeClr val="tx1"/>
                </a:solidFill>
                <a:latin typeface="Cabin" panose="020B0604020202020204"/>
              </a:rPr>
              <a:t> </a:t>
            </a:r>
            <a:endParaRPr lang="sk-SK" sz="900" dirty="0">
              <a:latin typeface="Cabin" panose="020B06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1"/>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Základné princípy RESTful webových služieb</a:t>
            </a:r>
          </a:p>
        </p:txBody>
      </p:sp>
      <p:sp>
        <p:nvSpPr>
          <p:cNvPr id="448" name="Google Shape;448;p61"/>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Jednotné rozhranie</a:t>
            </a:r>
          </a:p>
          <a:p>
            <a:pPr lvl="1">
              <a:spcBef>
                <a:spcPts val="0"/>
              </a:spcBef>
            </a:pPr>
            <a:r>
              <a:rPr lang="sk-SK" dirty="0"/>
              <a:t>Používanie URI na identifikáciu zdrojov, používanie štandardných HTTP metód </a:t>
            </a:r>
          </a:p>
          <a:p>
            <a:pPr marL="457200" lvl="0" indent="-330200" algn="l" rtl="0">
              <a:spcBef>
                <a:spcPts val="0"/>
              </a:spcBef>
              <a:spcAft>
                <a:spcPts val="0"/>
              </a:spcAft>
              <a:buSzPts val="1600"/>
              <a:buChar char="●"/>
            </a:pPr>
            <a:r>
              <a:rPr lang="sk-SK" dirty="0"/>
              <a:t>Bezstavovosť</a:t>
            </a:r>
          </a:p>
          <a:p>
            <a:pPr lvl="1">
              <a:spcBef>
                <a:spcPts val="0"/>
              </a:spcBef>
            </a:pPr>
            <a:r>
              <a:rPr lang="sk-SK" dirty="0"/>
              <a:t>Žiadosť je úplne nezávislá na predchádzajúcej žiadosti</a:t>
            </a:r>
          </a:p>
          <a:p>
            <a:pPr marL="457200" lvl="0" indent="-330200" algn="l" rtl="0">
              <a:spcBef>
                <a:spcPts val="0"/>
              </a:spcBef>
              <a:spcAft>
                <a:spcPts val="0"/>
              </a:spcAft>
              <a:buSzPts val="1600"/>
              <a:buChar char="●"/>
            </a:pPr>
            <a:r>
              <a:rPr lang="sk-SK" dirty="0"/>
              <a:t>Viacvrstvový systém </a:t>
            </a:r>
          </a:p>
          <a:p>
            <a:pPr lvl="1">
              <a:spcBef>
                <a:spcPts val="0"/>
              </a:spcBef>
            </a:pPr>
            <a:r>
              <a:rPr lang="sk-SK" dirty="0"/>
              <a:t>Server sa môže skladať z viacerých vrstiev, odpoveď pre klienta to neovplyvní</a:t>
            </a:r>
          </a:p>
          <a:p>
            <a:pPr marL="457200" lvl="0" indent="-330200" algn="l" rtl="0">
              <a:spcBef>
                <a:spcPts val="0"/>
              </a:spcBef>
              <a:spcAft>
                <a:spcPts val="0"/>
              </a:spcAft>
              <a:buSzPts val="1600"/>
              <a:buChar char="●"/>
            </a:pPr>
            <a:r>
              <a:rPr lang="sk-SK" dirty="0"/>
              <a:t>Použitie vyrovnávacej pamäte</a:t>
            </a:r>
          </a:p>
          <a:p>
            <a:pPr lvl="1">
              <a:spcBef>
                <a:spcPts val="0"/>
              </a:spcBef>
            </a:pPr>
            <a:r>
              <a:rPr lang="sk-SK" dirty="0"/>
              <a:t>Služba musí definovať, či je zdroj možné uložiť do vyrovnávacej pamäte</a:t>
            </a:r>
          </a:p>
          <a:p>
            <a:pPr marL="457200" lvl="0" indent="-330200" algn="l" rtl="0">
              <a:spcBef>
                <a:spcPts val="0"/>
              </a:spcBef>
              <a:spcAft>
                <a:spcPts val="0"/>
              </a:spcAft>
              <a:buSzPts val="1600"/>
              <a:buChar char="●"/>
            </a:pPr>
            <a:r>
              <a:rPr lang="sk-SK" dirty="0"/>
              <a:t>Aplikačný kód na požiadanie (voliteľne)</a:t>
            </a:r>
          </a:p>
          <a:p>
            <a:pPr lvl="1">
              <a:spcBef>
                <a:spcPts val="0"/>
              </a:spcBef>
            </a:pPr>
            <a:r>
              <a:rPr lang="sk-SK" dirty="0"/>
              <a:t>Server môže poslať na klient aplikačný kód, ktorý rozširuje jeho schopnosti</a:t>
            </a:r>
          </a:p>
        </p:txBody>
      </p:sp>
      <p:sp>
        <p:nvSpPr>
          <p:cNvPr id="449" name="Google Shape;449;p61"/>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52</a:t>
            </a:fld>
            <a:endParaRPr lang="sk-SK"/>
          </a:p>
        </p:txBody>
      </p:sp>
      <p:sp>
        <p:nvSpPr>
          <p:cNvPr id="2" name="Google Shape;450;p61">
            <a:extLst>
              <a:ext uri="{FF2B5EF4-FFF2-40B4-BE49-F238E27FC236}">
                <a16:creationId xmlns:a16="http://schemas.microsoft.com/office/drawing/2014/main" id="{55F597F0-1084-A19D-A589-AF3F8042CFD8}"/>
              </a:ext>
            </a:extLst>
          </p:cNvPr>
          <p:cNvSpPr txBox="1"/>
          <p:nvPr/>
        </p:nvSpPr>
        <p:spPr>
          <a:xfrm>
            <a:off x="5969000" y="4616883"/>
            <a:ext cx="268685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900" dirty="0">
                <a:solidFill>
                  <a:schemeClr val="tx1"/>
                </a:solidFill>
                <a:latin typeface="Cabin" panose="020B0604020202020204"/>
              </a:rPr>
              <a:t>Zdroj: </a:t>
            </a:r>
            <a:r>
              <a:rPr lang="sk-SK" sz="900" dirty="0">
                <a:solidFill>
                  <a:schemeClr val="tx1"/>
                </a:solidFill>
                <a:latin typeface="Cabin" panose="020B0604020202020204"/>
                <a:hlinkClick r:id="rId3"/>
              </a:rPr>
              <a:t>https://aws.amazon.com/what-is/restful-api/</a:t>
            </a:r>
            <a:r>
              <a:rPr lang="sk-SK" sz="900" dirty="0">
                <a:solidFill>
                  <a:schemeClr val="tx1"/>
                </a:solidFill>
                <a:latin typeface="Cabin" panose="020B0604020202020204"/>
              </a:rPr>
              <a:t> </a:t>
            </a:r>
            <a:endParaRPr lang="sk-SK" sz="900" dirty="0">
              <a:latin typeface="Cabin" panose="020B06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F8917E9-1000-AC6D-25E0-168C3B012289}"/>
              </a:ext>
            </a:extLst>
          </p:cNvPr>
          <p:cNvSpPr>
            <a:spLocks noGrp="1"/>
          </p:cNvSpPr>
          <p:nvPr>
            <p:ph type="title"/>
          </p:nvPr>
        </p:nvSpPr>
        <p:spPr/>
        <p:txBody>
          <a:bodyPr/>
          <a:lstStyle/>
          <a:p>
            <a:r>
              <a:rPr lang="sk-SK" dirty="0"/>
              <a:t>Dátová reprezentácia zdrojov</a:t>
            </a:r>
          </a:p>
        </p:txBody>
      </p:sp>
      <p:sp>
        <p:nvSpPr>
          <p:cNvPr id="3" name="Zástupný text 2">
            <a:extLst>
              <a:ext uri="{FF2B5EF4-FFF2-40B4-BE49-F238E27FC236}">
                <a16:creationId xmlns:a16="http://schemas.microsoft.com/office/drawing/2014/main" id="{32CE686A-3F40-C53C-EB79-EB8D02B7C2BD}"/>
              </a:ext>
            </a:extLst>
          </p:cNvPr>
          <p:cNvSpPr>
            <a:spLocks noGrp="1"/>
          </p:cNvSpPr>
          <p:nvPr>
            <p:ph type="body" idx="1"/>
          </p:nvPr>
        </p:nvSpPr>
        <p:spPr/>
        <p:txBody>
          <a:bodyPr/>
          <a:lstStyle/>
          <a:p>
            <a:r>
              <a:rPr lang="sk-SK" dirty="0"/>
              <a:t>Zvyčajné formáty:</a:t>
            </a:r>
          </a:p>
          <a:p>
            <a:pPr lvl="1"/>
            <a:r>
              <a:rPr lang="sk-SK" dirty="0"/>
              <a:t>JSON</a:t>
            </a:r>
          </a:p>
          <a:p>
            <a:pPr lvl="1"/>
            <a:r>
              <a:rPr lang="sk-SK" dirty="0"/>
              <a:t>XML</a:t>
            </a:r>
          </a:p>
          <a:p>
            <a:pPr marL="457200" lvl="0" indent="-330200" algn="l" rtl="0">
              <a:spcBef>
                <a:spcPts val="0"/>
              </a:spcBef>
              <a:spcAft>
                <a:spcPts val="0"/>
              </a:spcAft>
              <a:buSzPts val="1600"/>
              <a:buChar char="●"/>
            </a:pPr>
            <a:r>
              <a:rPr lang="sk-SK" dirty="0"/>
              <a:t>Dobrý návrh API by mal poskytovať obidva formáty dát súčasne</a:t>
            </a:r>
          </a:p>
          <a:p>
            <a:pPr marL="914400" lvl="1" indent="-298450" algn="l" rtl="0">
              <a:spcBef>
                <a:spcPts val="0"/>
              </a:spcBef>
              <a:spcAft>
                <a:spcPts val="0"/>
              </a:spcAft>
              <a:buSzPts val="1100"/>
              <a:buChar char="○"/>
            </a:pPr>
            <a:r>
              <a:rPr lang="sk-SK" dirty="0"/>
              <a:t>Koncept: vyjednávanie o obsahu (</a:t>
            </a:r>
            <a:r>
              <a:rPr lang="en-US" i="1" dirty="0"/>
              <a:t>content negotiation</a:t>
            </a:r>
            <a:r>
              <a:rPr lang="sk-SK" dirty="0"/>
              <a:t>)</a:t>
            </a:r>
          </a:p>
          <a:p>
            <a:pPr marL="914400" lvl="1" indent="-298450" algn="l" rtl="0">
              <a:spcBef>
                <a:spcPts val="0"/>
              </a:spcBef>
              <a:spcAft>
                <a:spcPts val="0"/>
              </a:spcAft>
              <a:buSzPts val="1100"/>
              <a:buChar char="○"/>
            </a:pPr>
            <a:r>
              <a:rPr lang="sk-SK" dirty="0"/>
              <a:t>Klient si formát dát ( napr. JSON) môže vyžiadať pomocou HTTP hlavičky: </a:t>
            </a:r>
          </a:p>
          <a:p>
            <a:pPr marL="615950" lvl="1" indent="0" algn="l" rtl="0">
              <a:spcBef>
                <a:spcPts val="0"/>
              </a:spcBef>
              <a:spcAft>
                <a:spcPts val="0"/>
              </a:spcAft>
              <a:buSzPts val="1100"/>
              <a:buNone/>
            </a:pPr>
            <a:r>
              <a:rPr lang="sk-SK" sz="1200" dirty="0">
                <a:latin typeface="Consolas" panose="020B0609020204030204" pitchFamily="49" charset="0"/>
                <a:ea typeface="Roboto Mono"/>
                <a:cs typeface="Roboto Mono"/>
                <a:sym typeface="Roboto Mono"/>
              </a:rPr>
              <a:t>	</a:t>
            </a:r>
            <a:r>
              <a:rPr lang="sk-SK" sz="1200" dirty="0" err="1">
                <a:latin typeface="Consolas" panose="020B0609020204030204" pitchFamily="49" charset="0"/>
                <a:ea typeface="Roboto Mono"/>
                <a:cs typeface="Roboto Mono"/>
                <a:sym typeface="Roboto Mono"/>
              </a:rPr>
              <a:t>Accept</a:t>
            </a:r>
            <a:r>
              <a:rPr lang="sk-SK" sz="1200" dirty="0">
                <a:latin typeface="Consolas" panose="020B0609020204030204" pitchFamily="49" charset="0"/>
                <a:ea typeface="Roboto Mono"/>
                <a:cs typeface="Roboto Mono"/>
                <a:sym typeface="Roboto Mono"/>
              </a:rPr>
              <a:t>: </a:t>
            </a:r>
            <a:r>
              <a:rPr lang="sk-SK" sz="1200" dirty="0" err="1">
                <a:latin typeface="Consolas" panose="020B0609020204030204" pitchFamily="49" charset="0"/>
                <a:ea typeface="Roboto Mono"/>
                <a:cs typeface="Roboto Mono"/>
                <a:sym typeface="Roboto Mono"/>
              </a:rPr>
              <a:t>application</a:t>
            </a:r>
            <a:r>
              <a:rPr lang="sk-SK" sz="1200" dirty="0">
                <a:latin typeface="Consolas" panose="020B0609020204030204" pitchFamily="49" charset="0"/>
                <a:ea typeface="Roboto Mono"/>
                <a:cs typeface="Roboto Mono"/>
                <a:sym typeface="Roboto Mono"/>
              </a:rPr>
              <a:t>/</a:t>
            </a:r>
            <a:r>
              <a:rPr lang="sk-SK" sz="1200" dirty="0" err="1">
                <a:latin typeface="Consolas" panose="020B0609020204030204" pitchFamily="49" charset="0"/>
                <a:ea typeface="Roboto Mono"/>
                <a:cs typeface="Roboto Mono"/>
                <a:sym typeface="Roboto Mono"/>
              </a:rPr>
              <a:t>json</a:t>
            </a:r>
            <a:r>
              <a:rPr lang="sk-SK" sz="1200" dirty="0">
                <a:latin typeface="Consolas" panose="020B0609020204030204" pitchFamily="49" charset="0"/>
                <a:ea typeface="Roboto Mono"/>
                <a:cs typeface="Roboto Mono"/>
                <a:sym typeface="Roboto Mono"/>
              </a:rPr>
              <a:t> </a:t>
            </a:r>
          </a:p>
          <a:p>
            <a:r>
              <a:rPr lang="sk-SK" dirty="0"/>
              <a:t>Server však môže vrátiť akýkoľvek formát dát</a:t>
            </a:r>
          </a:p>
          <a:p>
            <a:pPr lvl="1"/>
            <a:r>
              <a:rPr lang="sk-SK" dirty="0"/>
              <a:t>Napr. to môže byť dokument, obrázok, atď. </a:t>
            </a:r>
          </a:p>
          <a:p>
            <a:pPr marL="914400" lvl="0" indent="0" algn="l" rtl="0">
              <a:spcBef>
                <a:spcPts val="500"/>
              </a:spcBef>
              <a:spcAft>
                <a:spcPts val="0"/>
              </a:spcAft>
              <a:buNone/>
            </a:pPr>
            <a:endParaRPr lang="sk-SK" sz="1200" dirty="0">
              <a:latin typeface="Consolas" panose="020B0609020204030204" pitchFamily="49" charset="0"/>
              <a:ea typeface="Roboto Mono"/>
              <a:cs typeface="Roboto Mono"/>
              <a:sym typeface="Roboto Mono"/>
            </a:endParaRPr>
          </a:p>
        </p:txBody>
      </p:sp>
      <p:sp>
        <p:nvSpPr>
          <p:cNvPr id="4" name="Zástupný objekt pre číslo snímky 3">
            <a:extLst>
              <a:ext uri="{FF2B5EF4-FFF2-40B4-BE49-F238E27FC236}">
                <a16:creationId xmlns:a16="http://schemas.microsoft.com/office/drawing/2014/main" id="{BC37D33D-6E79-928D-2036-F55B3ECA5A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53</a:t>
            </a:fld>
            <a:endParaRPr lang="en-GB"/>
          </a:p>
        </p:txBody>
      </p:sp>
    </p:spTree>
    <p:extLst>
      <p:ext uri="{BB962C8B-B14F-4D97-AF65-F5344CB8AC3E}">
        <p14:creationId xmlns:p14="http://schemas.microsoft.com/office/powerpoint/2010/main" val="687071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4"/>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URI adresárová štruktúra </a:t>
            </a:r>
          </a:p>
        </p:txBody>
      </p:sp>
      <p:sp>
        <p:nvSpPr>
          <p:cNvPr id="473" name="Google Shape;473;p64"/>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Spôsob zaručuje intuitívnosť používania webovej služby</a:t>
            </a:r>
          </a:p>
          <a:p>
            <a:pPr marL="457200" lvl="0" indent="-330200" algn="l" rtl="0">
              <a:spcBef>
                <a:spcPts val="0"/>
              </a:spcBef>
              <a:spcAft>
                <a:spcPts val="0"/>
              </a:spcAft>
              <a:buSzPts val="1600"/>
              <a:buChar char="●"/>
            </a:pPr>
            <a:r>
              <a:rPr lang="sk-SK" dirty="0"/>
              <a:t>Vyžaduje spoluprácu s webovým serverom (</a:t>
            </a:r>
            <a:r>
              <a:rPr lang="sk-SK" i="1" dirty="0"/>
              <a:t>URL </a:t>
            </a:r>
            <a:r>
              <a:rPr lang="en-US" i="1" dirty="0"/>
              <a:t>rewriting</a:t>
            </a:r>
            <a:r>
              <a:rPr lang="sk-SK" dirty="0"/>
              <a:t>)</a:t>
            </a:r>
          </a:p>
          <a:p>
            <a:pPr marL="914400" lvl="1" indent="-298450" algn="l" rtl="0">
              <a:spcBef>
                <a:spcPts val="0"/>
              </a:spcBef>
              <a:spcAft>
                <a:spcPts val="0"/>
              </a:spcAft>
              <a:buSzPts val="1100"/>
              <a:buChar char="○"/>
            </a:pPr>
            <a:r>
              <a:rPr lang="sk-SK" dirty="0"/>
              <a:t>Skrývanie prípon súborov </a:t>
            </a:r>
            <a:r>
              <a:rPr lang="sk-SK" sz="1200" dirty="0">
                <a:latin typeface="Consolas" panose="020B0609020204030204" pitchFamily="49" charset="0"/>
              </a:rPr>
              <a:t>(.</a:t>
            </a:r>
            <a:r>
              <a:rPr lang="sk-SK" sz="1200" dirty="0" err="1">
                <a:latin typeface="Consolas" panose="020B0609020204030204" pitchFamily="49" charset="0"/>
              </a:rPr>
              <a:t>php</a:t>
            </a:r>
            <a:r>
              <a:rPr lang="sk-SK" dirty="0"/>
              <a:t>,  </a:t>
            </a:r>
            <a:r>
              <a:rPr lang="sk-SK" sz="1200" dirty="0">
                <a:latin typeface="Consolas" panose="020B0609020204030204" pitchFamily="49" charset="0"/>
              </a:rPr>
              <a:t>.</a:t>
            </a:r>
            <a:r>
              <a:rPr lang="sk-SK" sz="1200" dirty="0" err="1">
                <a:latin typeface="Consolas" panose="020B0609020204030204" pitchFamily="49" charset="0"/>
              </a:rPr>
              <a:t>js</a:t>
            </a:r>
            <a:r>
              <a:rPr lang="sk-SK" dirty="0"/>
              <a:t>, </a:t>
            </a:r>
            <a:r>
              <a:rPr lang="sk-SK" sz="1200" dirty="0">
                <a:latin typeface="Consolas" panose="020B0609020204030204" pitchFamily="49" charset="0"/>
              </a:rPr>
              <a:t>.</a:t>
            </a:r>
            <a:r>
              <a:rPr lang="sk-SK" sz="1200" dirty="0" err="1">
                <a:latin typeface="Consolas" panose="020B0609020204030204" pitchFamily="49" charset="0"/>
              </a:rPr>
              <a:t>aspx</a:t>
            </a:r>
            <a:r>
              <a:rPr lang="sk-SK" dirty="0"/>
              <a:t>)</a:t>
            </a:r>
          </a:p>
          <a:p>
            <a:pPr marL="914400" lvl="1" indent="-298450" algn="l" rtl="0">
              <a:spcBef>
                <a:spcPts val="0"/>
              </a:spcBef>
              <a:spcAft>
                <a:spcPts val="0"/>
              </a:spcAft>
              <a:buSzPts val="1100"/>
              <a:buChar char="○"/>
            </a:pPr>
            <a:r>
              <a:rPr lang="sk-SK" dirty="0"/>
              <a:t>Všetko malými písmenami</a:t>
            </a:r>
          </a:p>
          <a:p>
            <a:pPr marL="914400" lvl="1" indent="-298450" algn="l" rtl="0">
              <a:spcBef>
                <a:spcPts val="0"/>
              </a:spcBef>
              <a:spcAft>
                <a:spcPts val="0"/>
              </a:spcAft>
              <a:buSzPts val="1100"/>
              <a:buChar char="○"/>
            </a:pPr>
            <a:r>
              <a:rPr lang="sk-SK" dirty="0"/>
              <a:t>Medzery nahradiť pomlčkami, alebo podčiarkovníkmi (jedným, alebo druhým)</a:t>
            </a:r>
          </a:p>
          <a:p>
            <a:pPr marL="914400" lvl="1" indent="-298450" algn="l" rtl="0">
              <a:spcBef>
                <a:spcPts val="0"/>
              </a:spcBef>
              <a:spcAft>
                <a:spcPts val="0"/>
              </a:spcAft>
              <a:buSzPts val="1100"/>
              <a:buChar char="○"/>
            </a:pPr>
            <a:r>
              <a:rPr lang="sk-SK" dirty="0"/>
              <a:t>Nepoužívať URL parametre (časť za ?)</a:t>
            </a:r>
          </a:p>
          <a:p>
            <a:pPr marL="914400" lvl="1" indent="-298450" algn="l" rtl="0">
              <a:spcBef>
                <a:spcPts val="0"/>
              </a:spcBef>
              <a:spcAft>
                <a:spcPts val="0"/>
              </a:spcAft>
              <a:buSzPts val="1100"/>
              <a:buChar char="○"/>
            </a:pPr>
            <a:r>
              <a:rPr lang="sk-SK" dirty="0"/>
              <a:t>URL adresy by mali byť nemenné </a:t>
            </a:r>
          </a:p>
          <a:p>
            <a:pPr marL="457200" lvl="0" indent="-330200" algn="l" rtl="0">
              <a:spcBef>
                <a:spcPts val="0"/>
              </a:spcBef>
              <a:spcAft>
                <a:spcPts val="0"/>
              </a:spcAft>
              <a:buSzPts val="1600"/>
              <a:buChar char="●"/>
            </a:pPr>
            <a:r>
              <a:rPr lang="sk-SK" dirty="0"/>
              <a:t>Príklad:</a:t>
            </a:r>
          </a:p>
          <a:p>
            <a:pPr marL="457200" lvl="0" indent="0" algn="l" rtl="0">
              <a:spcBef>
                <a:spcPts val="500"/>
              </a:spcBef>
              <a:spcAft>
                <a:spcPts val="0"/>
              </a:spcAft>
              <a:buNone/>
            </a:pPr>
            <a:r>
              <a:rPr lang="sk-SK" sz="1200" dirty="0">
                <a:solidFill>
                  <a:schemeClr val="dk1"/>
                </a:solidFill>
                <a:latin typeface="Consolas" panose="020B0609020204030204" pitchFamily="49" charset="0"/>
                <a:ea typeface="Roboto Mono"/>
                <a:cs typeface="Roboto Mono"/>
                <a:sym typeface="Roboto Mono"/>
                <a:hlinkClick r:id="rId3"/>
              </a:rPr>
              <a:t>http://www.myservice.org/discussion/{year}/{day}/{month}/{topic}</a:t>
            </a:r>
            <a:r>
              <a:rPr lang="sk-SK" sz="1200" dirty="0">
                <a:solidFill>
                  <a:schemeClr val="dk1"/>
                </a:solidFill>
                <a:latin typeface="Consolas" panose="020B0609020204030204" pitchFamily="49" charset="0"/>
                <a:ea typeface="Roboto Mono"/>
                <a:cs typeface="Roboto Mono"/>
                <a:sym typeface="Roboto Mono"/>
              </a:rPr>
              <a:t> </a:t>
            </a:r>
            <a:r>
              <a:rPr lang="en-US" sz="1200" dirty="0">
                <a:solidFill>
                  <a:schemeClr val="dk1"/>
                </a:solidFill>
                <a:latin typeface="Consolas" panose="020B0609020204030204" pitchFamily="49" charset="0"/>
                <a:ea typeface="Roboto Mono"/>
                <a:cs typeface="Roboto Mono"/>
                <a:sym typeface="Roboto Mono"/>
              </a:rPr>
              <a:t>=&gt;</a:t>
            </a:r>
            <a:endParaRPr lang="sk-SK" sz="1200" dirty="0">
              <a:solidFill>
                <a:schemeClr val="dk1"/>
              </a:solidFill>
              <a:latin typeface="Consolas" panose="020B0609020204030204" pitchFamily="49" charset="0"/>
              <a:ea typeface="Roboto Mono"/>
              <a:cs typeface="Roboto Mono"/>
              <a:sym typeface="Roboto Mono"/>
            </a:endParaRPr>
          </a:p>
          <a:p>
            <a:pPr indent="0">
              <a:spcBef>
                <a:spcPts val="500"/>
              </a:spcBef>
              <a:buNone/>
            </a:pPr>
            <a:r>
              <a:rPr lang="sk-SK" sz="1200" dirty="0">
                <a:solidFill>
                  <a:schemeClr val="dk1"/>
                </a:solidFill>
                <a:latin typeface="Consolas" panose="020B0609020204030204" pitchFamily="49" charset="0"/>
                <a:ea typeface="Roboto Mono"/>
                <a:cs typeface="Roboto Mono"/>
                <a:sym typeface="Roboto Mono"/>
                <a:hlinkClick r:id="rId4"/>
              </a:rPr>
              <a:t>http://www.myservice.org/discussion/2020/11/30/General+Info</a:t>
            </a:r>
            <a:r>
              <a:rPr lang="sk-SK" sz="1200" dirty="0">
                <a:solidFill>
                  <a:schemeClr val="dk1"/>
                </a:solidFill>
                <a:latin typeface="Consolas" panose="020B0609020204030204" pitchFamily="49" charset="0"/>
                <a:ea typeface="Roboto Mono"/>
                <a:cs typeface="Roboto Mono"/>
                <a:sym typeface="Roboto Mono"/>
              </a:rPr>
              <a:t> </a:t>
            </a:r>
            <a:endParaRPr lang="sk-SK" sz="1200" dirty="0">
              <a:latin typeface="Consolas" panose="020B0609020204030204" pitchFamily="49" charset="0"/>
              <a:ea typeface="Roboto Mono"/>
              <a:cs typeface="Roboto Mono"/>
              <a:sym typeface="Roboto Mono"/>
            </a:endParaRPr>
          </a:p>
          <a:p>
            <a:pPr marL="457200" lvl="0" indent="0" algn="l" rtl="0">
              <a:spcBef>
                <a:spcPts val="500"/>
              </a:spcBef>
              <a:spcAft>
                <a:spcPts val="0"/>
              </a:spcAft>
              <a:buNone/>
            </a:pPr>
            <a:endParaRPr lang="sk-SK" sz="1200" dirty="0">
              <a:latin typeface="Consolas" panose="020B0609020204030204" pitchFamily="49" charset="0"/>
              <a:ea typeface="Roboto Mono"/>
              <a:cs typeface="Roboto Mono"/>
              <a:sym typeface="Roboto Mono"/>
            </a:endParaRPr>
          </a:p>
          <a:p>
            <a:pPr marL="914400" lvl="0" indent="0" algn="l" rtl="0">
              <a:spcBef>
                <a:spcPts val="500"/>
              </a:spcBef>
              <a:spcAft>
                <a:spcPts val="500"/>
              </a:spcAft>
              <a:buNone/>
            </a:pPr>
            <a:endParaRPr lang="sk-SK" dirty="0"/>
          </a:p>
        </p:txBody>
      </p:sp>
      <p:sp>
        <p:nvSpPr>
          <p:cNvPr id="474" name="Google Shape;474;p64"/>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54</a:t>
            </a:fld>
            <a:endParaRPr lang="sk-SK"/>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62"/>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Používanie HTTP metód</a:t>
            </a:r>
          </a:p>
        </p:txBody>
      </p:sp>
      <p:sp>
        <p:nvSpPr>
          <p:cNvPr id="456" name="Google Shape;456;p62"/>
          <p:cNvSpPr txBox="1">
            <a:spLocks noGrp="1"/>
          </p:cNvSpPr>
          <p:nvPr>
            <p:ph type="body" idx="1"/>
          </p:nvPr>
        </p:nvSpPr>
        <p:spPr>
          <a:xfrm>
            <a:off x="435900" y="1635376"/>
            <a:ext cx="8272200" cy="33393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sz="1400" dirty="0">
                <a:latin typeface="Consolas" panose="020B0609020204030204" pitchFamily="49" charset="0"/>
              </a:rPr>
              <a:t>GET</a:t>
            </a:r>
            <a:r>
              <a:rPr lang="sk-SK" dirty="0"/>
              <a:t> – metóda na získavanie zdrojov (SELECT)</a:t>
            </a:r>
          </a:p>
          <a:p>
            <a:pPr marL="457200" lvl="0" indent="-330200" algn="l" rtl="0">
              <a:spcBef>
                <a:spcPts val="0"/>
              </a:spcBef>
              <a:spcAft>
                <a:spcPts val="0"/>
              </a:spcAft>
              <a:buSzPts val="1600"/>
              <a:buChar char="●"/>
            </a:pPr>
            <a:r>
              <a:rPr lang="sk-SK" sz="1400" dirty="0">
                <a:latin typeface="Consolas" panose="020B0609020204030204" pitchFamily="49" charset="0"/>
              </a:rPr>
              <a:t>POST</a:t>
            </a:r>
            <a:r>
              <a:rPr lang="sk-SK" dirty="0"/>
              <a:t> – metóda na vytváranie zdrojov na serveri (INSERT)</a:t>
            </a:r>
          </a:p>
          <a:p>
            <a:pPr marL="457200" lvl="0" indent="-330200" algn="l" rtl="0">
              <a:spcBef>
                <a:spcPts val="0"/>
              </a:spcBef>
              <a:spcAft>
                <a:spcPts val="0"/>
              </a:spcAft>
              <a:buSzPts val="1600"/>
              <a:buChar char="●"/>
            </a:pPr>
            <a:r>
              <a:rPr lang="sk-SK" sz="1400" dirty="0">
                <a:latin typeface="Consolas" panose="020B0609020204030204" pitchFamily="49" charset="0"/>
              </a:rPr>
              <a:t>PUT</a:t>
            </a:r>
            <a:r>
              <a:rPr lang="sk-SK" dirty="0"/>
              <a:t> – zmena stavu zdroja, alebo jeho úprava (UPDATE)</a:t>
            </a:r>
          </a:p>
          <a:p>
            <a:pPr marL="457200" lvl="0" indent="-330200" algn="l" rtl="0">
              <a:spcBef>
                <a:spcPts val="0"/>
              </a:spcBef>
              <a:spcAft>
                <a:spcPts val="0"/>
              </a:spcAft>
              <a:buSzPts val="1600"/>
              <a:buChar char="●"/>
            </a:pPr>
            <a:r>
              <a:rPr lang="sk-SK" sz="1400" dirty="0">
                <a:latin typeface="Consolas" panose="020B0609020204030204" pitchFamily="49" charset="0"/>
              </a:rPr>
              <a:t>DELETE</a:t>
            </a:r>
            <a:r>
              <a:rPr lang="sk-SK" dirty="0"/>
              <a:t> – vymazanie zdroja (DELETE)</a:t>
            </a:r>
          </a:p>
          <a:p>
            <a:pPr marL="457200" lvl="0" indent="-330200" algn="l" rtl="0">
              <a:spcBef>
                <a:spcPts val="0"/>
              </a:spcBef>
              <a:spcAft>
                <a:spcPts val="0"/>
              </a:spcAft>
              <a:buSzPts val="1600"/>
              <a:buChar char="●"/>
            </a:pPr>
            <a:endParaRPr lang="sk-SK" dirty="0"/>
          </a:p>
          <a:p>
            <a:pPr marL="457200" lvl="0" indent="-330200" algn="l" rtl="0">
              <a:spcBef>
                <a:spcPts val="0"/>
              </a:spcBef>
              <a:spcAft>
                <a:spcPts val="0"/>
              </a:spcAft>
              <a:buSzPts val="1600"/>
              <a:buChar char="●"/>
            </a:pPr>
            <a:r>
              <a:rPr lang="sk-SK" dirty="0"/>
              <a:t>Zlý návrh: 				            Dobrý návrh:</a:t>
            </a:r>
          </a:p>
          <a:p>
            <a:pPr marL="0" indent="0">
              <a:lnSpc>
                <a:spcPct val="100000"/>
              </a:lnSpc>
              <a:spcBef>
                <a:spcPts val="600"/>
              </a:spcBef>
              <a:buClr>
                <a:srgbClr val="000000"/>
              </a:buClr>
              <a:buNone/>
            </a:pPr>
            <a:r>
              <a:rPr lang="sk-SK" sz="1200" dirty="0">
                <a:solidFill>
                  <a:srgbClr val="000000"/>
                </a:solidFill>
                <a:latin typeface="Consolas" panose="020B0609020204030204" pitchFamily="49" charset="0"/>
                <a:sym typeface="Roboto Mono"/>
              </a:rPr>
              <a:t>      </a:t>
            </a:r>
            <a:r>
              <a:rPr lang="sk-SK" sz="1100" strike="sngStrike" dirty="0">
                <a:solidFill>
                  <a:srgbClr val="000000"/>
                </a:solidFill>
                <a:latin typeface="Consolas" panose="020B0609020204030204" pitchFamily="49" charset="0"/>
                <a:sym typeface="Roboto Mono"/>
              </a:rPr>
              <a:t>GET /</a:t>
            </a:r>
            <a:r>
              <a:rPr lang="sk-SK" sz="1100" strike="sngStrike" dirty="0" err="1">
                <a:solidFill>
                  <a:srgbClr val="000000"/>
                </a:solidFill>
                <a:latin typeface="Consolas" panose="020B0609020204030204" pitchFamily="49" charset="0"/>
                <a:sym typeface="Roboto Mono"/>
              </a:rPr>
              <a:t>updateuser?id</a:t>
            </a:r>
            <a:r>
              <a:rPr lang="sk-SK" sz="1100" strike="sngStrike" dirty="0">
                <a:solidFill>
                  <a:srgbClr val="000000"/>
                </a:solidFill>
                <a:latin typeface="Consolas" panose="020B0609020204030204" pitchFamily="49" charset="0"/>
                <a:sym typeface="Roboto Mono"/>
              </a:rPr>
              <a:t>=23&amp;newname=Bob HTTP/1.1</a:t>
            </a:r>
          </a:p>
          <a:p>
            <a:pPr marL="457200" lvl="0" indent="0" algn="l" rtl="0">
              <a:spcBef>
                <a:spcPts val="500"/>
              </a:spcBef>
              <a:spcAft>
                <a:spcPts val="500"/>
              </a:spcAft>
              <a:buNone/>
            </a:pPr>
            <a:endParaRPr lang="sk-SK" dirty="0"/>
          </a:p>
        </p:txBody>
      </p:sp>
      <p:sp>
        <p:nvSpPr>
          <p:cNvPr id="457" name="Google Shape;457;p62"/>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55</a:t>
            </a:fld>
            <a:endParaRPr lang="sk-SK"/>
          </a:p>
        </p:txBody>
      </p:sp>
      <p:sp>
        <p:nvSpPr>
          <p:cNvPr id="458" name="Google Shape;458;p62"/>
          <p:cNvSpPr txBox="1"/>
          <p:nvPr/>
        </p:nvSpPr>
        <p:spPr>
          <a:xfrm>
            <a:off x="5547550" y="3412936"/>
            <a:ext cx="3264600" cy="158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1100" dirty="0">
                <a:latin typeface="Consolas" panose="020B0609020204030204" pitchFamily="49" charset="0"/>
                <a:ea typeface="Roboto Mono"/>
                <a:cs typeface="Roboto Mono"/>
                <a:sym typeface="Roboto Mono"/>
              </a:rPr>
              <a:t>PUT /</a:t>
            </a:r>
            <a:r>
              <a:rPr lang="sk-SK" sz="1100" dirty="0" err="1">
                <a:latin typeface="Consolas" panose="020B0609020204030204" pitchFamily="49" charset="0"/>
                <a:ea typeface="Roboto Mono"/>
                <a:cs typeface="Roboto Mono"/>
                <a:sym typeface="Roboto Mono"/>
              </a:rPr>
              <a:t>users</a:t>
            </a:r>
            <a:r>
              <a:rPr lang="sk-SK" sz="1100" dirty="0">
                <a:latin typeface="Consolas" panose="020B0609020204030204" pitchFamily="49" charset="0"/>
                <a:ea typeface="Roboto Mono"/>
                <a:cs typeface="Roboto Mono"/>
                <a:sym typeface="Roboto Mono"/>
              </a:rPr>
              <a:t>/23 HTTP/1.1</a:t>
            </a:r>
          </a:p>
          <a:p>
            <a:pPr marL="0" lvl="0" indent="0" algn="l" rtl="0">
              <a:spcBef>
                <a:spcPts val="0"/>
              </a:spcBef>
              <a:spcAft>
                <a:spcPts val="0"/>
              </a:spcAft>
              <a:buNone/>
            </a:pPr>
            <a:r>
              <a:rPr lang="sk-SK" sz="1100" dirty="0" err="1">
                <a:latin typeface="Consolas" panose="020B0609020204030204" pitchFamily="49" charset="0"/>
                <a:ea typeface="Roboto Mono"/>
                <a:cs typeface="Roboto Mono"/>
                <a:sym typeface="Roboto Mono"/>
              </a:rPr>
              <a:t>Host</a:t>
            </a:r>
            <a:r>
              <a:rPr lang="sk-SK" sz="1100" dirty="0">
                <a:latin typeface="Consolas" panose="020B0609020204030204" pitchFamily="49" charset="0"/>
                <a:ea typeface="Roboto Mono"/>
                <a:cs typeface="Roboto Mono"/>
                <a:sym typeface="Roboto Mono"/>
              </a:rPr>
              <a:t>: </a:t>
            </a:r>
            <a:r>
              <a:rPr lang="sk-SK" sz="1100" dirty="0" err="1">
                <a:latin typeface="Consolas" panose="020B0609020204030204" pitchFamily="49" charset="0"/>
                <a:ea typeface="Roboto Mono"/>
                <a:cs typeface="Roboto Mono"/>
                <a:sym typeface="Roboto Mono"/>
              </a:rPr>
              <a:t>myserver</a:t>
            </a:r>
            <a:endParaRPr lang="sk-SK" sz="1100" dirty="0">
              <a:latin typeface="Consolas" panose="020B0609020204030204" pitchFamily="49" charset="0"/>
              <a:ea typeface="Roboto Mono"/>
              <a:cs typeface="Roboto Mono"/>
              <a:sym typeface="Roboto Mono"/>
            </a:endParaRPr>
          </a:p>
          <a:p>
            <a:pPr marL="0" lvl="0" indent="0" algn="l" rtl="0">
              <a:spcBef>
                <a:spcPts val="0"/>
              </a:spcBef>
              <a:spcAft>
                <a:spcPts val="0"/>
              </a:spcAft>
              <a:buNone/>
            </a:pPr>
            <a:r>
              <a:rPr lang="sk-SK" sz="1100" dirty="0" err="1">
                <a:latin typeface="Consolas" panose="020B0609020204030204" pitchFamily="49" charset="0"/>
                <a:ea typeface="Roboto Mono"/>
                <a:cs typeface="Roboto Mono"/>
                <a:sym typeface="Roboto Mono"/>
              </a:rPr>
              <a:t>Content</a:t>
            </a:r>
            <a:r>
              <a:rPr lang="sk-SK" sz="1100" dirty="0">
                <a:latin typeface="Consolas" panose="020B0609020204030204" pitchFamily="49" charset="0"/>
                <a:ea typeface="Roboto Mono"/>
                <a:cs typeface="Roboto Mono"/>
                <a:sym typeface="Roboto Mono"/>
              </a:rPr>
              <a:t>-Type: </a:t>
            </a:r>
            <a:r>
              <a:rPr lang="sk-SK" sz="1100" dirty="0" err="1">
                <a:latin typeface="Consolas" panose="020B0609020204030204" pitchFamily="49" charset="0"/>
                <a:ea typeface="Roboto Mono"/>
                <a:cs typeface="Roboto Mono"/>
                <a:sym typeface="Roboto Mono"/>
              </a:rPr>
              <a:t>application</a:t>
            </a:r>
            <a:r>
              <a:rPr lang="sk-SK" sz="1100" dirty="0">
                <a:latin typeface="Consolas" panose="020B0609020204030204" pitchFamily="49" charset="0"/>
                <a:ea typeface="Roboto Mono"/>
                <a:cs typeface="Roboto Mono"/>
                <a:sym typeface="Roboto Mono"/>
              </a:rPr>
              <a:t>/</a:t>
            </a:r>
            <a:r>
              <a:rPr lang="sk-SK" sz="1100" dirty="0" err="1">
                <a:latin typeface="Consolas" panose="020B0609020204030204" pitchFamily="49" charset="0"/>
                <a:ea typeface="Roboto Mono"/>
                <a:cs typeface="Roboto Mono"/>
                <a:sym typeface="Roboto Mono"/>
              </a:rPr>
              <a:t>json</a:t>
            </a:r>
            <a:endParaRPr lang="sk-SK" sz="1100" dirty="0">
              <a:latin typeface="Consolas" panose="020B0609020204030204" pitchFamily="49" charset="0"/>
              <a:ea typeface="Roboto Mono"/>
              <a:cs typeface="Roboto Mono"/>
              <a:sym typeface="Roboto Mono"/>
            </a:endParaRPr>
          </a:p>
          <a:p>
            <a:pPr marL="0" lvl="0" indent="0" algn="l" rtl="0">
              <a:spcBef>
                <a:spcPts val="0"/>
              </a:spcBef>
              <a:spcAft>
                <a:spcPts val="0"/>
              </a:spcAft>
              <a:buNone/>
            </a:pPr>
            <a:endParaRPr lang="sk-SK" sz="1100" dirty="0">
              <a:latin typeface="Consolas" panose="020B0609020204030204" pitchFamily="49" charset="0"/>
              <a:ea typeface="Roboto Mono"/>
              <a:cs typeface="Roboto Mono"/>
              <a:sym typeface="Roboto Mono"/>
            </a:endParaRPr>
          </a:p>
          <a:p>
            <a:pPr marL="0" lvl="0" indent="0" algn="l" rtl="0">
              <a:spcBef>
                <a:spcPts val="0"/>
              </a:spcBef>
              <a:spcAft>
                <a:spcPts val="0"/>
              </a:spcAft>
              <a:buNone/>
            </a:pPr>
            <a:r>
              <a:rPr lang="sk-SK" sz="1100" dirty="0">
                <a:latin typeface="Consolas" panose="020B0609020204030204" pitchFamily="49" charset="0"/>
                <a:ea typeface="Roboto Mono"/>
                <a:cs typeface="Roboto Mono"/>
                <a:sym typeface="Roboto Mono"/>
              </a:rPr>
              <a:t>{ </a:t>
            </a:r>
          </a:p>
          <a:p>
            <a:pPr marL="0" lvl="0" indent="0" algn="l" rtl="0">
              <a:spcBef>
                <a:spcPts val="0"/>
              </a:spcBef>
              <a:spcAft>
                <a:spcPts val="0"/>
              </a:spcAft>
              <a:buNone/>
            </a:pPr>
            <a:r>
              <a:rPr lang="sk-SK" sz="1100" dirty="0">
                <a:latin typeface="Consolas" panose="020B0609020204030204" pitchFamily="49" charset="0"/>
                <a:ea typeface="Roboto Mono"/>
                <a:cs typeface="Roboto Mono"/>
                <a:sym typeface="Roboto Mono"/>
              </a:rPr>
              <a:t>  "</a:t>
            </a:r>
            <a:r>
              <a:rPr lang="sk-SK" sz="1100" dirty="0" err="1">
                <a:latin typeface="Consolas" panose="020B0609020204030204" pitchFamily="49" charset="0"/>
                <a:ea typeface="Roboto Mono"/>
                <a:cs typeface="Roboto Mono"/>
                <a:sym typeface="Roboto Mono"/>
              </a:rPr>
              <a:t>name</a:t>
            </a:r>
            <a:r>
              <a:rPr lang="sk-SK" sz="1100" dirty="0">
                <a:latin typeface="Consolas" panose="020B0609020204030204" pitchFamily="49" charset="0"/>
                <a:ea typeface="Roboto Mono"/>
                <a:cs typeface="Roboto Mono"/>
                <a:sym typeface="Roboto Mono"/>
              </a:rPr>
              <a:t>" : "Bob"</a:t>
            </a:r>
          </a:p>
          <a:p>
            <a:pPr marL="0" lvl="0" indent="0" algn="l" rtl="0">
              <a:spcBef>
                <a:spcPts val="0"/>
              </a:spcBef>
              <a:spcAft>
                <a:spcPts val="0"/>
              </a:spcAft>
              <a:buNone/>
            </a:pPr>
            <a:r>
              <a:rPr lang="sk-SK" sz="1100" dirty="0">
                <a:latin typeface="Consolas" panose="020B0609020204030204" pitchFamily="49" charset="0"/>
                <a:ea typeface="Roboto Mono"/>
                <a:cs typeface="Roboto Mono"/>
                <a:sym typeface="Roboto Mono"/>
              </a:rPr>
              <a:t>}</a:t>
            </a:r>
          </a:p>
          <a:p>
            <a:pPr marL="0" lvl="0" indent="0" algn="l" rtl="0">
              <a:spcBef>
                <a:spcPts val="0"/>
              </a:spcBef>
              <a:spcAft>
                <a:spcPts val="0"/>
              </a:spcAft>
              <a:buNone/>
            </a:pPr>
            <a:endParaRPr lang="sk-SK" sz="1200" dirty="0">
              <a:latin typeface="Roboto Mono"/>
              <a:ea typeface="Roboto Mono"/>
              <a:cs typeface="Roboto Mono"/>
              <a:sym typeface="Roboto Mon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3"/>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dirty="0"/>
              <a:t>Bezstavovosť služieb</a:t>
            </a:r>
          </a:p>
        </p:txBody>
      </p:sp>
      <p:sp>
        <p:nvSpPr>
          <p:cNvPr id="464" name="Google Shape;464;p63"/>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Zaručujú menej komplikovaný vývoj aplikácie (viac výkonné)</a:t>
            </a:r>
          </a:p>
          <a:p>
            <a:pPr marL="457200" lvl="0" indent="-330200" algn="l" rtl="0">
              <a:spcBef>
                <a:spcPts val="0"/>
              </a:spcBef>
              <a:spcAft>
                <a:spcPts val="0"/>
              </a:spcAft>
              <a:buSzPts val="1600"/>
              <a:buChar char="●"/>
            </a:pPr>
            <a:r>
              <a:rPr lang="sk-SK" dirty="0"/>
              <a:t>Posúvajú zodpovednosť za manažment stavu na klienta</a:t>
            </a:r>
          </a:p>
          <a:p>
            <a:pPr marL="457200" lvl="0" indent="-330200" algn="l" rtl="0">
              <a:spcBef>
                <a:spcPts val="0"/>
              </a:spcBef>
              <a:spcAft>
                <a:spcPts val="0"/>
              </a:spcAft>
              <a:buSzPts val="1600"/>
              <a:buChar char="●"/>
            </a:pPr>
            <a:r>
              <a:rPr lang="sk-SK" dirty="0"/>
              <a:t>Jednotlivé žiadosti klienta sú na sebe nezávislé </a:t>
            </a:r>
          </a:p>
          <a:p>
            <a:pPr marL="0" lvl="0" indent="0" algn="l" rtl="0">
              <a:spcBef>
                <a:spcPts val="1200"/>
              </a:spcBef>
              <a:spcAft>
                <a:spcPts val="500"/>
              </a:spcAft>
              <a:buNone/>
            </a:pPr>
            <a:r>
              <a:rPr lang="sk-SK" sz="1400" dirty="0"/>
              <a:t> Stavová aplikácia:			                  Bezstavová aplikácia:</a:t>
            </a:r>
          </a:p>
        </p:txBody>
      </p:sp>
      <p:sp>
        <p:nvSpPr>
          <p:cNvPr id="465" name="Google Shape;465;p63"/>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56</a:t>
            </a:fld>
            <a:endParaRPr lang="sk-SK"/>
          </a:p>
        </p:txBody>
      </p:sp>
      <p:pic>
        <p:nvPicPr>
          <p:cNvPr id="466" name="Google Shape;466;p63" descr="Stateful Design"/>
          <p:cNvPicPr preferRelativeResize="0"/>
          <p:nvPr/>
        </p:nvPicPr>
        <p:blipFill>
          <a:blip r:embed="rId3">
            <a:alphaModFix/>
          </a:blip>
          <a:stretch>
            <a:fillRect/>
          </a:stretch>
        </p:blipFill>
        <p:spPr>
          <a:xfrm>
            <a:off x="547682" y="3043972"/>
            <a:ext cx="3900975" cy="1099750"/>
          </a:xfrm>
          <a:prstGeom prst="rect">
            <a:avLst/>
          </a:prstGeom>
          <a:noFill/>
          <a:ln>
            <a:noFill/>
          </a:ln>
        </p:spPr>
      </p:pic>
      <p:pic>
        <p:nvPicPr>
          <p:cNvPr id="467" name="Google Shape;467;p63" descr="Stateless Design"/>
          <p:cNvPicPr preferRelativeResize="0"/>
          <p:nvPr/>
        </p:nvPicPr>
        <p:blipFill>
          <a:blip r:embed="rId4">
            <a:alphaModFix/>
          </a:blip>
          <a:stretch>
            <a:fillRect/>
          </a:stretch>
        </p:blipFill>
        <p:spPr>
          <a:xfrm>
            <a:off x="4900417" y="3043972"/>
            <a:ext cx="3900975" cy="10997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6EB6E18-541B-34C2-9222-17D10ECBDED0}"/>
              </a:ext>
            </a:extLst>
          </p:cNvPr>
          <p:cNvSpPr>
            <a:spLocks noGrp="1"/>
          </p:cNvSpPr>
          <p:nvPr>
            <p:ph type="title"/>
          </p:nvPr>
        </p:nvSpPr>
        <p:spPr/>
        <p:txBody>
          <a:bodyPr/>
          <a:lstStyle/>
          <a:p>
            <a:r>
              <a:rPr lang="sk-SK" dirty="0"/>
              <a:t>Autentifikácia a</a:t>
            </a:r>
            <a:r>
              <a:rPr lang="en-US" dirty="0"/>
              <a:t> </a:t>
            </a:r>
            <a:r>
              <a:rPr lang="sk-SK" dirty="0"/>
              <a:t>autorizácia</a:t>
            </a:r>
            <a:r>
              <a:rPr lang="en-US" dirty="0"/>
              <a:t> </a:t>
            </a:r>
            <a:r>
              <a:rPr lang="sk-SK" dirty="0"/>
              <a:t>v REST službách</a:t>
            </a:r>
          </a:p>
        </p:txBody>
      </p:sp>
      <p:sp>
        <p:nvSpPr>
          <p:cNvPr id="3" name="Zástupný text 2">
            <a:extLst>
              <a:ext uri="{FF2B5EF4-FFF2-40B4-BE49-F238E27FC236}">
                <a16:creationId xmlns:a16="http://schemas.microsoft.com/office/drawing/2014/main" id="{2749EA2D-9152-D318-1CC4-0A15D12844AE}"/>
              </a:ext>
            </a:extLst>
          </p:cNvPr>
          <p:cNvSpPr>
            <a:spLocks noGrp="1"/>
          </p:cNvSpPr>
          <p:nvPr>
            <p:ph type="body" idx="1"/>
          </p:nvPr>
        </p:nvSpPr>
        <p:spPr/>
        <p:txBody>
          <a:bodyPr/>
          <a:lstStyle/>
          <a:p>
            <a:r>
              <a:rPr lang="sk-SK" dirty="0"/>
              <a:t>Niektoré služby vyžadujú overenie identity klienta</a:t>
            </a:r>
          </a:p>
          <a:p>
            <a:r>
              <a:rPr lang="sk-SK" dirty="0"/>
              <a:t>Najčastejšie používané spôsoby autentifikácie:</a:t>
            </a:r>
          </a:p>
          <a:p>
            <a:pPr lvl="1"/>
            <a:r>
              <a:rPr lang="sk-SK" dirty="0"/>
              <a:t>HTTP základná (</a:t>
            </a:r>
            <a:r>
              <a:rPr lang="en-US" i="1" dirty="0"/>
              <a:t>basic</a:t>
            </a:r>
            <a:r>
              <a:rPr lang="sk-SK" dirty="0"/>
              <a:t>) autentifikácia (neodporúča sa)</a:t>
            </a:r>
          </a:p>
          <a:p>
            <a:pPr lvl="1"/>
            <a:r>
              <a:rPr lang="sk-SK" dirty="0"/>
              <a:t>API kľúče</a:t>
            </a:r>
          </a:p>
          <a:p>
            <a:pPr lvl="1"/>
            <a:r>
              <a:rPr lang="sk-SK" dirty="0"/>
              <a:t>Autentifikácia založená na tokenoch (</a:t>
            </a:r>
            <a:r>
              <a:rPr lang="sk-SK" i="1" dirty="0"/>
              <a:t>JWT – JSON Web </a:t>
            </a:r>
            <a:r>
              <a:rPr lang="en-US" i="1" dirty="0"/>
              <a:t>Tokens</a:t>
            </a:r>
            <a:r>
              <a:rPr lang="sk-SK" dirty="0"/>
              <a:t>)</a:t>
            </a:r>
          </a:p>
          <a:p>
            <a:pPr lvl="1"/>
            <a:r>
              <a:rPr lang="en-US" dirty="0">
                <a:hlinkClick r:id="rId2"/>
              </a:rPr>
              <a:t>OpenID</a:t>
            </a:r>
            <a:r>
              <a:rPr lang="en-US" dirty="0"/>
              <a:t> (</a:t>
            </a:r>
            <a:r>
              <a:rPr lang="sk-SK" dirty="0"/>
              <a:t>O</a:t>
            </a:r>
            <a:r>
              <a:rPr lang="en-US" dirty="0"/>
              <a:t>Auth</a:t>
            </a:r>
            <a:r>
              <a:rPr lang="sk-SK" dirty="0"/>
              <a:t>  2.0</a:t>
            </a:r>
            <a:r>
              <a:rPr lang="en-US" dirty="0"/>
              <a:t>)</a:t>
            </a:r>
            <a:r>
              <a:rPr lang="sk-SK" dirty="0"/>
              <a:t> </a:t>
            </a:r>
          </a:p>
          <a:p>
            <a:r>
              <a:rPr lang="sk-SK" dirty="0"/>
              <a:t>Na základe autorizácie server povolí prístup k zdrojom</a:t>
            </a:r>
          </a:p>
          <a:p>
            <a:pPr lvl="1"/>
            <a:r>
              <a:rPr lang="sk-SK" dirty="0" err="1"/>
              <a:t>OAuth</a:t>
            </a:r>
            <a:r>
              <a:rPr lang="sk-SK" dirty="0"/>
              <a:t> sú predovšetkým na autorizáciu </a:t>
            </a:r>
          </a:p>
        </p:txBody>
      </p:sp>
      <p:sp>
        <p:nvSpPr>
          <p:cNvPr id="4" name="Zástupný objekt pre číslo snímky 3">
            <a:extLst>
              <a:ext uri="{FF2B5EF4-FFF2-40B4-BE49-F238E27FC236}">
                <a16:creationId xmlns:a16="http://schemas.microsoft.com/office/drawing/2014/main" id="{FA56FA8E-05D2-D6D6-3601-8CFF5EDD4D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57</a:t>
            </a:fld>
            <a:endParaRPr lang="en-GB"/>
          </a:p>
        </p:txBody>
      </p:sp>
      <p:sp>
        <p:nvSpPr>
          <p:cNvPr id="5" name="Google Shape;450;p61">
            <a:extLst>
              <a:ext uri="{FF2B5EF4-FFF2-40B4-BE49-F238E27FC236}">
                <a16:creationId xmlns:a16="http://schemas.microsoft.com/office/drawing/2014/main" id="{B2C41718-C3BC-167A-18B7-2EEFCFBDFE02}"/>
              </a:ext>
            </a:extLst>
          </p:cNvPr>
          <p:cNvSpPr txBox="1"/>
          <p:nvPr/>
        </p:nvSpPr>
        <p:spPr>
          <a:xfrm>
            <a:off x="4744122" y="4616883"/>
            <a:ext cx="3911728"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k-SK" sz="900" dirty="0">
                <a:solidFill>
                  <a:schemeClr val="tx1"/>
                </a:solidFill>
                <a:latin typeface="Cabin" panose="020B0604020202020204"/>
              </a:rPr>
              <a:t>Zdroj: </a:t>
            </a:r>
            <a:r>
              <a:rPr lang="sk-SK" sz="900" dirty="0">
                <a:solidFill>
                  <a:schemeClr val="tx1"/>
                </a:solidFill>
                <a:latin typeface="Cabin" panose="020B0604020202020204"/>
                <a:hlinkClick r:id="rId3"/>
              </a:rPr>
              <a:t>https://blog.restcase.com/4-most-used-rest-api-authentication-methods/</a:t>
            </a:r>
            <a:r>
              <a:rPr lang="sk-SK" sz="900" dirty="0">
                <a:solidFill>
                  <a:schemeClr val="tx1"/>
                </a:solidFill>
                <a:latin typeface="Cabin" panose="020B0604020202020204"/>
              </a:rPr>
              <a:t> </a:t>
            </a:r>
            <a:endParaRPr lang="sk-SK" sz="900" dirty="0">
              <a:latin typeface="Cabin" panose="020B0604020202020204"/>
            </a:endParaRPr>
          </a:p>
        </p:txBody>
      </p:sp>
    </p:spTree>
    <p:extLst>
      <p:ext uri="{BB962C8B-B14F-4D97-AF65-F5344CB8AC3E}">
        <p14:creationId xmlns:p14="http://schemas.microsoft.com/office/powerpoint/2010/main" val="35479818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8"/>
          <p:cNvSpPr txBox="1">
            <a:spLocks noGrp="1"/>
          </p:cNvSpPr>
          <p:nvPr>
            <p:ph type="title"/>
          </p:nvPr>
        </p:nvSpPr>
        <p:spPr>
          <a:xfrm>
            <a:off x="435894" y="526617"/>
            <a:ext cx="8272200" cy="760200"/>
          </a:xfrm>
          <a:prstGeom prst="rect">
            <a:avLst/>
          </a:prstGeom>
        </p:spPr>
        <p:txBody>
          <a:bodyPr spcFirstLastPara="1" wrap="square" lIns="68575" tIns="68575" rIns="68575" bIns="68575" anchor="b" anchorCtr="0">
            <a:noAutofit/>
          </a:bodyPr>
          <a:lstStyle/>
          <a:p>
            <a:pPr marL="0" lvl="0" indent="0" algn="l" rtl="0">
              <a:spcBef>
                <a:spcPts val="0"/>
              </a:spcBef>
              <a:spcAft>
                <a:spcPts val="0"/>
              </a:spcAft>
              <a:buNone/>
            </a:pPr>
            <a:r>
              <a:rPr lang="sk-SK"/>
              <a:t>Webové služby (WS)</a:t>
            </a:r>
          </a:p>
        </p:txBody>
      </p:sp>
      <p:sp>
        <p:nvSpPr>
          <p:cNvPr id="424" name="Google Shape;424;p58"/>
          <p:cNvSpPr txBox="1">
            <a:spLocks noGrp="1"/>
          </p:cNvSpPr>
          <p:nvPr>
            <p:ph type="body" idx="1"/>
          </p:nvPr>
        </p:nvSpPr>
        <p:spPr>
          <a:xfrm>
            <a:off x="435894" y="1635372"/>
            <a:ext cx="8272200" cy="2758800"/>
          </a:xfrm>
          <a:prstGeom prst="rect">
            <a:avLst/>
          </a:prstGeom>
        </p:spPr>
        <p:txBody>
          <a:bodyPr spcFirstLastPara="1" wrap="square" lIns="68575" tIns="68575" rIns="68575" bIns="68575" anchor="t" anchorCtr="0">
            <a:noAutofit/>
          </a:bodyPr>
          <a:lstStyle/>
          <a:p>
            <a:pPr marL="457200" lvl="0" indent="-330200" algn="l" rtl="0">
              <a:spcBef>
                <a:spcPts val="300"/>
              </a:spcBef>
              <a:spcAft>
                <a:spcPts val="0"/>
              </a:spcAft>
              <a:buSzPts val="1600"/>
              <a:buChar char="●"/>
            </a:pPr>
            <a:r>
              <a:rPr lang="sk-SK" dirty="0"/>
              <a:t>Spôsob, ako získať požadované dáta volaním vzdialených metód</a:t>
            </a:r>
          </a:p>
          <a:p>
            <a:pPr marL="457200" lvl="0" indent="-330200" algn="l" rtl="0">
              <a:spcBef>
                <a:spcPts val="0"/>
              </a:spcBef>
              <a:spcAft>
                <a:spcPts val="0"/>
              </a:spcAft>
              <a:buSzPts val="1600"/>
              <a:buChar char="●"/>
            </a:pPr>
            <a:r>
              <a:rPr lang="sk-SK" dirty="0"/>
              <a:t>Používaný častejšie pri podnikových aplikáciách </a:t>
            </a:r>
          </a:p>
          <a:p>
            <a:pPr marL="457200" lvl="0" indent="-330200" algn="l" rtl="0">
              <a:spcBef>
                <a:spcPts val="0"/>
              </a:spcBef>
              <a:spcAft>
                <a:spcPts val="0"/>
              </a:spcAft>
              <a:buSzPts val="1600"/>
              <a:buChar char="●"/>
            </a:pPr>
            <a:r>
              <a:rPr lang="sk-SK" dirty="0"/>
              <a:t>Nezávislosť výmeny dát </a:t>
            </a:r>
          </a:p>
          <a:p>
            <a:pPr marL="914400" lvl="1" indent="-298450" algn="l" rtl="0">
              <a:spcBef>
                <a:spcPts val="0"/>
              </a:spcBef>
              <a:spcAft>
                <a:spcPts val="0"/>
              </a:spcAft>
              <a:buSzPts val="1100"/>
              <a:buChar char="○"/>
            </a:pPr>
            <a:r>
              <a:rPr lang="sk-SK" dirty="0"/>
              <a:t>Na  operačnom systéme, platforme a programovacom jazyku</a:t>
            </a:r>
          </a:p>
          <a:p>
            <a:pPr marL="457200" lvl="0" indent="-330200" algn="l" rtl="0">
              <a:spcBef>
                <a:spcPts val="0"/>
              </a:spcBef>
              <a:spcAft>
                <a:spcPts val="0"/>
              </a:spcAft>
              <a:buSzPts val="1600"/>
              <a:buChar char="●"/>
            </a:pPr>
            <a:r>
              <a:rPr lang="sk-SK" dirty="0"/>
              <a:t>Klient a server WS môže byť vytvorený v rôznych jazykoch </a:t>
            </a:r>
          </a:p>
          <a:p>
            <a:pPr marL="914400" lvl="1" indent="-298450" algn="l" rtl="0">
              <a:spcBef>
                <a:spcPts val="0"/>
              </a:spcBef>
              <a:spcAft>
                <a:spcPts val="0"/>
              </a:spcAft>
              <a:buSzPts val="1100"/>
              <a:buChar char="○"/>
            </a:pPr>
            <a:r>
              <a:rPr lang="sk-SK" dirty="0"/>
              <a:t>C#, Java, PHP atď.</a:t>
            </a:r>
          </a:p>
          <a:p>
            <a:pPr marL="457200" lvl="0" indent="-330200" algn="l" rtl="0">
              <a:spcBef>
                <a:spcPts val="0"/>
              </a:spcBef>
              <a:spcAft>
                <a:spcPts val="0"/>
              </a:spcAft>
              <a:buSzPts val="1600"/>
              <a:buChar char="●"/>
            </a:pPr>
            <a:r>
              <a:rPr lang="sk-SK" dirty="0"/>
              <a:t>Využívajú </a:t>
            </a:r>
            <a:r>
              <a:rPr lang="en-US" i="1" dirty="0"/>
              <a:t>Simple Object Access Protocol </a:t>
            </a:r>
            <a:r>
              <a:rPr lang="sk-SK" dirty="0"/>
              <a:t>(SOAP)</a:t>
            </a:r>
          </a:p>
          <a:p>
            <a:pPr marL="457200" lvl="0" indent="-330200" algn="l" rtl="0">
              <a:spcBef>
                <a:spcPts val="0"/>
              </a:spcBef>
              <a:spcAft>
                <a:spcPts val="0"/>
              </a:spcAft>
              <a:buSzPts val="1600"/>
              <a:buChar char="●"/>
            </a:pPr>
            <a:r>
              <a:rPr lang="sk-SK" dirty="0"/>
              <a:t>Formát a operácie služby prístupné cez </a:t>
            </a:r>
            <a:r>
              <a:rPr lang="en-US" i="1" dirty="0"/>
              <a:t>Web Service Description Language </a:t>
            </a:r>
            <a:r>
              <a:rPr lang="sk-SK" dirty="0"/>
              <a:t>(WSDL)</a:t>
            </a:r>
          </a:p>
          <a:p>
            <a:pPr marL="457200" lvl="0" indent="0" algn="l" rtl="0">
              <a:spcBef>
                <a:spcPts val="500"/>
              </a:spcBef>
              <a:spcAft>
                <a:spcPts val="500"/>
              </a:spcAft>
              <a:buNone/>
            </a:pPr>
            <a:endParaRPr lang="sk-SK" dirty="0"/>
          </a:p>
        </p:txBody>
      </p:sp>
      <p:sp>
        <p:nvSpPr>
          <p:cNvPr id="425" name="Google Shape;425;p58"/>
          <p:cNvSpPr txBox="1">
            <a:spLocks noGrp="1"/>
          </p:cNvSpPr>
          <p:nvPr>
            <p:ph type="sldNum" idx="12"/>
          </p:nvPr>
        </p:nvSpPr>
        <p:spPr>
          <a:xfrm>
            <a:off x="8499550" y="4742725"/>
            <a:ext cx="312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58</a:t>
            </a:fld>
            <a:endParaRPr lang="sk-SK"/>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60"/>
          <p:cNvSpPr txBox="1">
            <a:spLocks noGrp="1"/>
          </p:cNvSpPr>
          <p:nvPr>
            <p:ph type="title"/>
          </p:nvPr>
        </p:nvSpPr>
        <p:spPr>
          <a:xfrm>
            <a:off x="435895" y="547244"/>
            <a:ext cx="8272200" cy="741300"/>
          </a:xfrm>
          <a:prstGeom prst="rect">
            <a:avLst/>
          </a:prstGeom>
        </p:spPr>
        <p:txBody>
          <a:bodyPr spcFirstLastPara="1" wrap="square" lIns="68575" tIns="68575" rIns="68575" bIns="68575" anchor="b" anchorCtr="0">
            <a:noAutofit/>
          </a:bodyPr>
          <a:lstStyle/>
          <a:p>
            <a:pPr marL="0" marR="0" lvl="0" indent="0" algn="l" rtl="0">
              <a:lnSpc>
                <a:spcPct val="100000"/>
              </a:lnSpc>
              <a:spcBef>
                <a:spcPts val="0"/>
              </a:spcBef>
              <a:spcAft>
                <a:spcPts val="0"/>
              </a:spcAft>
              <a:buNone/>
            </a:pPr>
            <a:r>
              <a:rPr lang="sk-SK" sz="3000"/>
              <a:t>Porovnanie webových a RESTful služieb</a:t>
            </a:r>
          </a:p>
        </p:txBody>
      </p:sp>
      <p:sp>
        <p:nvSpPr>
          <p:cNvPr id="438" name="Google Shape;438;p60"/>
          <p:cNvSpPr txBox="1">
            <a:spLocks noGrp="1"/>
          </p:cNvSpPr>
          <p:nvPr>
            <p:ph type="body" idx="1"/>
          </p:nvPr>
        </p:nvSpPr>
        <p:spPr>
          <a:xfrm>
            <a:off x="665414" y="1688169"/>
            <a:ext cx="3815400" cy="402000"/>
          </a:xfrm>
          <a:prstGeom prst="rect">
            <a:avLst/>
          </a:prstGeom>
        </p:spPr>
        <p:txBody>
          <a:bodyPr spcFirstLastPara="1" wrap="square" lIns="68575" tIns="68575" rIns="68575" bIns="68575" anchor="b" anchorCtr="0">
            <a:noAutofit/>
          </a:bodyPr>
          <a:lstStyle/>
          <a:p>
            <a:pPr marL="0" lvl="0" indent="0" algn="l" rtl="0">
              <a:spcBef>
                <a:spcPts val="300"/>
              </a:spcBef>
              <a:spcAft>
                <a:spcPts val="500"/>
              </a:spcAft>
              <a:buNone/>
            </a:pPr>
            <a:r>
              <a:rPr lang="sk-SK"/>
              <a:t>Webové služby</a:t>
            </a:r>
          </a:p>
        </p:txBody>
      </p:sp>
      <p:sp>
        <p:nvSpPr>
          <p:cNvPr id="439" name="Google Shape;439;p60"/>
          <p:cNvSpPr txBox="1">
            <a:spLocks noGrp="1"/>
          </p:cNvSpPr>
          <p:nvPr>
            <p:ph type="body" idx="2"/>
          </p:nvPr>
        </p:nvSpPr>
        <p:spPr>
          <a:xfrm>
            <a:off x="407275" y="2025575"/>
            <a:ext cx="4190400" cy="2807400"/>
          </a:xfrm>
          <a:prstGeom prst="rect">
            <a:avLst/>
          </a:prstGeom>
        </p:spPr>
        <p:txBody>
          <a:bodyPr spcFirstLastPara="1" wrap="square" lIns="68575" tIns="68575" rIns="68575" bIns="68575" anchor="t" anchorCtr="0">
            <a:noAutofit/>
          </a:bodyPr>
          <a:lstStyle/>
          <a:p>
            <a:pPr marL="457200" lvl="0" indent="-304800" algn="l" rtl="0">
              <a:lnSpc>
                <a:spcPct val="115000"/>
              </a:lnSpc>
              <a:spcBef>
                <a:spcPts val="300"/>
              </a:spcBef>
              <a:spcAft>
                <a:spcPts val="0"/>
              </a:spcAft>
              <a:buSzPts val="1200"/>
              <a:buChar char="◼"/>
            </a:pPr>
            <a:r>
              <a:rPr lang="sk-SK"/>
              <a:t>Komplexné na implementáciu</a:t>
            </a:r>
          </a:p>
          <a:p>
            <a:pPr marL="457200" lvl="0" indent="-304800" algn="l" rtl="0">
              <a:lnSpc>
                <a:spcPct val="115000"/>
              </a:lnSpc>
              <a:spcBef>
                <a:spcPts val="0"/>
              </a:spcBef>
              <a:spcAft>
                <a:spcPts val="0"/>
              </a:spcAft>
              <a:buSzPts val="1200"/>
              <a:buChar char="◼"/>
            </a:pPr>
            <a:r>
              <a:rPr lang="sk-SK"/>
              <a:t>Určený najmä pre podnikové aplikácie</a:t>
            </a:r>
          </a:p>
          <a:p>
            <a:pPr marL="457200" lvl="0" indent="-304800" algn="l" rtl="0">
              <a:lnSpc>
                <a:spcPct val="115000"/>
              </a:lnSpc>
              <a:spcBef>
                <a:spcPts val="0"/>
              </a:spcBef>
              <a:spcAft>
                <a:spcPts val="0"/>
              </a:spcAft>
              <a:buSzPts val="1200"/>
              <a:buChar char="◼"/>
            </a:pPr>
            <a:r>
              <a:rPr lang="sk-SK"/>
              <a:t>Založené na SOAP (HTTP)</a:t>
            </a:r>
          </a:p>
          <a:p>
            <a:pPr marL="457200" lvl="0" indent="-304800" algn="l" rtl="0">
              <a:lnSpc>
                <a:spcPct val="115000"/>
              </a:lnSpc>
              <a:spcBef>
                <a:spcPts val="0"/>
              </a:spcBef>
              <a:spcAft>
                <a:spcPts val="0"/>
              </a:spcAft>
              <a:buSzPts val="1200"/>
              <a:buChar char="◼"/>
            </a:pPr>
            <a:r>
              <a:rPr lang="sk-SK"/>
              <a:t>Orientovaný na funkcie</a:t>
            </a:r>
          </a:p>
          <a:p>
            <a:pPr marL="457200" lvl="0" indent="-304800" algn="l" rtl="0">
              <a:lnSpc>
                <a:spcPct val="115000"/>
              </a:lnSpc>
              <a:spcBef>
                <a:spcPts val="0"/>
              </a:spcBef>
              <a:spcAft>
                <a:spcPts val="0"/>
              </a:spcAft>
              <a:buSzPts val="1200"/>
              <a:buChar char="◼"/>
            </a:pPr>
            <a:r>
              <a:rPr lang="sk-SK"/>
              <a:t>Formát dát XML</a:t>
            </a:r>
          </a:p>
          <a:p>
            <a:pPr marL="457200" lvl="0" indent="-304800" algn="l" rtl="0">
              <a:lnSpc>
                <a:spcPct val="115000"/>
              </a:lnSpc>
              <a:spcBef>
                <a:spcPts val="0"/>
              </a:spcBef>
              <a:spcAft>
                <a:spcPts val="0"/>
              </a:spcAft>
              <a:buSzPts val="1200"/>
              <a:buChar char="◼"/>
            </a:pPr>
            <a:r>
              <a:rPr lang="sk-SK"/>
              <a:t>Štandardizácia W3C</a:t>
            </a:r>
          </a:p>
          <a:p>
            <a:pPr marL="457200" lvl="0" indent="-304800" algn="l" rtl="0">
              <a:lnSpc>
                <a:spcPct val="115000"/>
              </a:lnSpc>
              <a:spcBef>
                <a:spcPts val="0"/>
              </a:spcBef>
              <a:spcAft>
                <a:spcPts val="0"/>
              </a:spcAft>
              <a:buSzPts val="1200"/>
              <a:buChar char="◼"/>
            </a:pPr>
            <a:r>
              <a:rPr lang="sk-SK"/>
              <a:t>Bezpečnosť: WS-</a:t>
            </a:r>
            <a:r>
              <a:rPr lang="sk-SK" err="1"/>
              <a:t>Security</a:t>
            </a:r>
            <a:r>
              <a:rPr lang="sk-SK"/>
              <a:t>, SSL</a:t>
            </a:r>
          </a:p>
          <a:p>
            <a:pPr marL="457200" lvl="0" indent="-304800" algn="l" rtl="0">
              <a:lnSpc>
                <a:spcPct val="115000"/>
              </a:lnSpc>
              <a:spcBef>
                <a:spcPts val="0"/>
              </a:spcBef>
              <a:spcAft>
                <a:spcPts val="0"/>
              </a:spcAft>
              <a:buSzPts val="1200"/>
              <a:buChar char="◼"/>
            </a:pPr>
            <a:r>
              <a:rPr lang="sk-SK"/>
              <a:t>Definovanie poskytovaných služieb cez WSDL</a:t>
            </a:r>
          </a:p>
          <a:p>
            <a:pPr marL="457200" lvl="0" indent="-304800" algn="l" rtl="0">
              <a:lnSpc>
                <a:spcPct val="115000"/>
              </a:lnSpc>
              <a:spcBef>
                <a:spcPts val="0"/>
              </a:spcBef>
              <a:spcAft>
                <a:spcPts val="0"/>
              </a:spcAft>
              <a:buSzPts val="1200"/>
              <a:buChar char="◼"/>
            </a:pPr>
            <a:r>
              <a:rPr lang="sk-SK"/>
              <a:t>Množstvo rozšírení</a:t>
            </a:r>
          </a:p>
          <a:p>
            <a:pPr marL="457200" lvl="0" indent="0" algn="l" rtl="0">
              <a:spcBef>
                <a:spcPts val="500"/>
              </a:spcBef>
              <a:spcAft>
                <a:spcPts val="500"/>
              </a:spcAft>
              <a:buNone/>
            </a:pPr>
            <a:endParaRPr lang="sk-SK"/>
          </a:p>
        </p:txBody>
      </p:sp>
      <p:sp>
        <p:nvSpPr>
          <p:cNvPr id="440" name="Google Shape;440;p60"/>
          <p:cNvSpPr txBox="1">
            <a:spLocks noGrp="1"/>
          </p:cNvSpPr>
          <p:nvPr>
            <p:ph type="body" idx="3"/>
          </p:nvPr>
        </p:nvSpPr>
        <p:spPr>
          <a:xfrm>
            <a:off x="4683276" y="1688169"/>
            <a:ext cx="3815400" cy="414900"/>
          </a:xfrm>
          <a:prstGeom prst="rect">
            <a:avLst/>
          </a:prstGeom>
        </p:spPr>
        <p:txBody>
          <a:bodyPr spcFirstLastPara="1" wrap="square" lIns="68575" tIns="68575" rIns="68575" bIns="68575" anchor="b" anchorCtr="0">
            <a:noAutofit/>
          </a:bodyPr>
          <a:lstStyle/>
          <a:p>
            <a:pPr marL="0" lvl="0" indent="0" algn="l" rtl="0">
              <a:spcBef>
                <a:spcPts val="300"/>
              </a:spcBef>
              <a:spcAft>
                <a:spcPts val="500"/>
              </a:spcAft>
              <a:buNone/>
            </a:pPr>
            <a:r>
              <a:rPr lang="sk-SK"/>
              <a:t>RESTful služby</a:t>
            </a:r>
          </a:p>
        </p:txBody>
      </p:sp>
      <p:sp>
        <p:nvSpPr>
          <p:cNvPr id="441" name="Google Shape;441;p60"/>
          <p:cNvSpPr txBox="1">
            <a:spLocks noGrp="1"/>
          </p:cNvSpPr>
          <p:nvPr>
            <p:ph type="body" idx="4"/>
          </p:nvPr>
        </p:nvSpPr>
        <p:spPr>
          <a:xfrm>
            <a:off x="4558025" y="2025575"/>
            <a:ext cx="4317300" cy="2807400"/>
          </a:xfrm>
          <a:prstGeom prst="rect">
            <a:avLst/>
          </a:prstGeom>
        </p:spPr>
        <p:txBody>
          <a:bodyPr spcFirstLastPara="1" wrap="square" lIns="68575" tIns="68575" rIns="68575" bIns="68575" anchor="t" anchorCtr="0">
            <a:noAutofit/>
          </a:bodyPr>
          <a:lstStyle/>
          <a:p>
            <a:pPr marL="457200" lvl="0" indent="-304800" algn="l" rtl="0">
              <a:lnSpc>
                <a:spcPct val="115000"/>
              </a:lnSpc>
              <a:spcBef>
                <a:spcPts val="300"/>
              </a:spcBef>
              <a:spcAft>
                <a:spcPts val="0"/>
              </a:spcAft>
              <a:buSzPts val="1200"/>
              <a:buChar char="◼"/>
            </a:pPr>
            <a:r>
              <a:rPr lang="sk-SK"/>
              <a:t>Jednoduché na implementáciu</a:t>
            </a:r>
          </a:p>
          <a:p>
            <a:pPr marL="457200" lvl="0" indent="-304800" algn="l" rtl="0">
              <a:lnSpc>
                <a:spcPct val="115000"/>
              </a:lnSpc>
              <a:spcBef>
                <a:spcPts val="0"/>
              </a:spcBef>
              <a:spcAft>
                <a:spcPts val="0"/>
              </a:spcAft>
              <a:buSzPts val="1200"/>
              <a:buChar char="◼"/>
            </a:pPr>
            <a:r>
              <a:rPr lang="sk-SK"/>
              <a:t>Určený pre verejné API (napr. sociálne siete)</a:t>
            </a:r>
          </a:p>
          <a:p>
            <a:pPr marL="457200" lvl="0" indent="-304800" algn="l" rtl="0">
              <a:lnSpc>
                <a:spcPct val="115000"/>
              </a:lnSpc>
              <a:spcBef>
                <a:spcPts val="0"/>
              </a:spcBef>
              <a:spcAft>
                <a:spcPts val="0"/>
              </a:spcAft>
              <a:buSzPts val="1200"/>
              <a:buChar char="◼"/>
            </a:pPr>
            <a:r>
              <a:rPr lang="sk-SK"/>
              <a:t>Založené na HTTP</a:t>
            </a:r>
          </a:p>
          <a:p>
            <a:pPr marL="457200" lvl="0" indent="-304800" algn="l" rtl="0">
              <a:lnSpc>
                <a:spcPct val="115000"/>
              </a:lnSpc>
              <a:spcBef>
                <a:spcPts val="0"/>
              </a:spcBef>
              <a:spcAft>
                <a:spcPts val="0"/>
              </a:spcAft>
              <a:buSzPts val="1200"/>
              <a:buChar char="◼"/>
            </a:pPr>
            <a:r>
              <a:rPr lang="sk-SK"/>
              <a:t>Orientovaný na dáta (zdroje)</a:t>
            </a:r>
          </a:p>
          <a:p>
            <a:pPr marL="457200" lvl="0" indent="-304800" algn="l" rtl="0">
              <a:lnSpc>
                <a:spcPct val="115000"/>
              </a:lnSpc>
              <a:spcBef>
                <a:spcPts val="0"/>
              </a:spcBef>
              <a:spcAft>
                <a:spcPts val="0"/>
              </a:spcAft>
              <a:buSzPts val="1200"/>
              <a:buChar char="◼"/>
            </a:pPr>
            <a:r>
              <a:rPr lang="sk-SK"/>
              <a:t>Rôzne formáty dát (XML, JSON, atď.)</a:t>
            </a:r>
          </a:p>
          <a:p>
            <a:pPr marL="457200" lvl="0" indent="-304800" algn="l" rtl="0">
              <a:lnSpc>
                <a:spcPct val="115000"/>
              </a:lnSpc>
              <a:spcBef>
                <a:spcPts val="0"/>
              </a:spcBef>
              <a:spcAft>
                <a:spcPts val="0"/>
              </a:spcAft>
              <a:buSzPts val="1200"/>
              <a:buChar char="◼"/>
            </a:pPr>
            <a:r>
              <a:rPr lang="sk-SK"/>
              <a:t>Architektonický štýl</a:t>
            </a:r>
          </a:p>
          <a:p>
            <a:pPr marL="457200" lvl="0" indent="-304800" algn="l" rtl="0">
              <a:lnSpc>
                <a:spcPct val="115000"/>
              </a:lnSpc>
              <a:spcBef>
                <a:spcPts val="0"/>
              </a:spcBef>
              <a:spcAft>
                <a:spcPts val="0"/>
              </a:spcAft>
              <a:buSzPts val="1200"/>
              <a:buChar char="◼"/>
            </a:pPr>
            <a:r>
              <a:rPr lang="sk-SK"/>
              <a:t>Bezpečnosť: SSL (HTTPS)</a:t>
            </a:r>
          </a:p>
          <a:p>
            <a:pPr marL="457200" lvl="0" indent="-304800" algn="l" rtl="0">
              <a:lnSpc>
                <a:spcPct val="115000"/>
              </a:lnSpc>
              <a:spcBef>
                <a:spcPts val="0"/>
              </a:spcBef>
              <a:spcAft>
                <a:spcPts val="0"/>
              </a:spcAft>
              <a:buSzPts val="1200"/>
              <a:buChar char="◼"/>
            </a:pPr>
            <a:r>
              <a:rPr lang="sk-SK"/>
              <a:t>Neobsahuje definíciu služieb (</a:t>
            </a:r>
            <a:r>
              <a:rPr lang="en-US" i="1"/>
              <a:t>Swagger</a:t>
            </a:r>
            <a:r>
              <a:rPr lang="sk-SK"/>
              <a:t>, </a:t>
            </a:r>
            <a:r>
              <a:rPr lang="en-US" i="1"/>
              <a:t>Postman</a:t>
            </a:r>
            <a:r>
              <a:rPr lang="sk-SK"/>
              <a:t>)</a:t>
            </a:r>
          </a:p>
          <a:p>
            <a:pPr marL="457200" lvl="0" indent="-304800" algn="l" rtl="0">
              <a:lnSpc>
                <a:spcPct val="115000"/>
              </a:lnSpc>
              <a:spcBef>
                <a:spcPts val="0"/>
              </a:spcBef>
              <a:spcAft>
                <a:spcPts val="0"/>
              </a:spcAft>
              <a:buSzPts val="1200"/>
              <a:buChar char="◼"/>
            </a:pPr>
            <a:r>
              <a:rPr lang="sk-SK"/>
              <a:t>Priama podpora v Android aplikáciách</a:t>
            </a:r>
          </a:p>
          <a:p>
            <a:pPr marL="457200" lvl="0" indent="0" algn="l" rtl="0">
              <a:spcBef>
                <a:spcPts val="500"/>
              </a:spcBef>
              <a:spcAft>
                <a:spcPts val="500"/>
              </a:spcAft>
              <a:buNone/>
            </a:pPr>
            <a:endParaRPr lang="sk-SK"/>
          </a:p>
        </p:txBody>
      </p:sp>
      <p:sp>
        <p:nvSpPr>
          <p:cNvPr id="442" name="Google Shape;442;p60"/>
          <p:cNvSpPr txBox="1">
            <a:spLocks noGrp="1"/>
          </p:cNvSpPr>
          <p:nvPr>
            <p:ph type="sldNum" idx="12"/>
          </p:nvPr>
        </p:nvSpPr>
        <p:spPr>
          <a:xfrm>
            <a:off x="7918725" y="4467103"/>
            <a:ext cx="7893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sk-SK" smtClean="0"/>
              <a:t>59</a:t>
            </a:fld>
            <a:endParaRPr lang="sk-SK"/>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2C4AB4D-8130-4765-8B8C-1CF5988C5AC4}"/>
              </a:ext>
            </a:extLst>
          </p:cNvPr>
          <p:cNvSpPr>
            <a:spLocks noGrp="1"/>
          </p:cNvSpPr>
          <p:nvPr>
            <p:ph type="title"/>
          </p:nvPr>
        </p:nvSpPr>
        <p:spPr/>
        <p:txBody>
          <a:bodyPr/>
          <a:lstStyle/>
          <a:p>
            <a:r>
              <a:rPr lang="en-US"/>
              <a:t>GraphQL</a:t>
            </a:r>
            <a:endParaRPr lang="sk-SK"/>
          </a:p>
        </p:txBody>
      </p:sp>
      <p:sp>
        <p:nvSpPr>
          <p:cNvPr id="3" name="Zástupný text 2">
            <a:extLst>
              <a:ext uri="{FF2B5EF4-FFF2-40B4-BE49-F238E27FC236}">
                <a16:creationId xmlns:a16="http://schemas.microsoft.com/office/drawing/2014/main" id="{F7893092-B8C8-497C-A581-5CEF4C87E25C}"/>
              </a:ext>
            </a:extLst>
          </p:cNvPr>
          <p:cNvSpPr>
            <a:spLocks noGrp="1"/>
          </p:cNvSpPr>
          <p:nvPr>
            <p:ph type="body" idx="1"/>
          </p:nvPr>
        </p:nvSpPr>
        <p:spPr/>
        <p:txBody>
          <a:bodyPr/>
          <a:lstStyle/>
          <a:p>
            <a:r>
              <a:rPr lang="en-US"/>
              <a:t>Je </a:t>
            </a:r>
            <a:r>
              <a:rPr lang="sk-SK"/>
              <a:t>dopytovací jazyk</a:t>
            </a:r>
          </a:p>
          <a:p>
            <a:pPr lvl="1"/>
            <a:r>
              <a:rPr lang="sk-SK"/>
              <a:t>Rýchlejší, flexibilnejší a zameraný na vývojárov </a:t>
            </a:r>
          </a:p>
          <a:p>
            <a:r>
              <a:rPr lang="sk-SK"/>
              <a:t>Umožňuje vytvárať dopyty len na dáta, ktorá aplikácia potrebuje</a:t>
            </a:r>
          </a:p>
          <a:p>
            <a:r>
              <a:rPr lang="sk-SK"/>
              <a:t>Používa vlastný jazyk na definíciu schémy API – </a:t>
            </a:r>
            <a:r>
              <a:rPr lang="en-US" i="1">
                <a:hlinkClick r:id="rId2"/>
              </a:rPr>
              <a:t>Schema definition language</a:t>
            </a:r>
            <a:endParaRPr lang="en-US" i="1"/>
          </a:p>
          <a:p>
            <a:r>
              <a:rPr lang="sk-SK"/>
              <a:t>Implementácia GraphQL v JS – </a:t>
            </a:r>
            <a:r>
              <a:rPr lang="sk-SK">
                <a:hlinkClick r:id="rId3"/>
              </a:rPr>
              <a:t>GraphQL.js</a:t>
            </a:r>
            <a:endParaRPr lang="en-US"/>
          </a:p>
          <a:p>
            <a:r>
              <a:rPr lang="sk-SK"/>
              <a:t>Možnosť vytvárania API schém pomocou vlastného IDE – </a:t>
            </a:r>
            <a:r>
              <a:rPr lang="sk-SK">
                <a:hlinkClick r:id="rId4"/>
              </a:rPr>
              <a:t>GraphiQL</a:t>
            </a:r>
            <a:endParaRPr lang="sk-SK"/>
          </a:p>
          <a:p>
            <a:r>
              <a:rPr lang="sk-SK"/>
              <a:t>V roku 2015 Facebook GraphQL uvoľnil ako </a:t>
            </a:r>
            <a:r>
              <a:rPr lang="en-US" i="1"/>
              <a:t>open source</a:t>
            </a:r>
            <a:r>
              <a:rPr lang="en-US"/>
              <a:t> </a:t>
            </a:r>
          </a:p>
        </p:txBody>
      </p:sp>
      <p:sp>
        <p:nvSpPr>
          <p:cNvPr id="4" name="Zástupný objekt pre číslo snímky 3">
            <a:extLst>
              <a:ext uri="{FF2B5EF4-FFF2-40B4-BE49-F238E27FC236}">
                <a16:creationId xmlns:a16="http://schemas.microsoft.com/office/drawing/2014/main" id="{ECB0D90E-1464-4983-9428-C380A8D444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60</a:t>
            </a:fld>
            <a:endParaRPr lang="en-GB"/>
          </a:p>
        </p:txBody>
      </p:sp>
      <p:pic>
        <p:nvPicPr>
          <p:cNvPr id="1026" name="Picture 2" descr="What is GraphQL, really?. I've been hearing about GraphQL for… | by Paige  Niedringhaus | Medium">
            <a:extLst>
              <a:ext uri="{FF2B5EF4-FFF2-40B4-BE49-F238E27FC236}">
                <a16:creationId xmlns:a16="http://schemas.microsoft.com/office/drawing/2014/main" id="{3F3E68B7-4749-4D99-97C5-F551976833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6998" y="1635370"/>
            <a:ext cx="1141096" cy="570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61554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B74BEB2-6D81-4B4F-8F5D-EF15F191D337}"/>
              </a:ext>
            </a:extLst>
          </p:cNvPr>
          <p:cNvSpPr>
            <a:spLocks noGrp="1"/>
          </p:cNvSpPr>
          <p:nvPr>
            <p:ph type="title"/>
          </p:nvPr>
        </p:nvSpPr>
        <p:spPr/>
        <p:txBody>
          <a:bodyPr/>
          <a:lstStyle/>
          <a:p>
            <a:r>
              <a:rPr lang="sk-SK"/>
              <a:t>Porovnanie s REST architektúrou</a:t>
            </a:r>
          </a:p>
        </p:txBody>
      </p:sp>
      <p:sp>
        <p:nvSpPr>
          <p:cNvPr id="3" name="Zástupný text 2">
            <a:extLst>
              <a:ext uri="{FF2B5EF4-FFF2-40B4-BE49-F238E27FC236}">
                <a16:creationId xmlns:a16="http://schemas.microsoft.com/office/drawing/2014/main" id="{214BF9E2-B8A6-4FF8-98DD-418E3E3C5D32}"/>
              </a:ext>
            </a:extLst>
          </p:cNvPr>
          <p:cNvSpPr>
            <a:spLocks noGrp="1"/>
          </p:cNvSpPr>
          <p:nvPr>
            <p:ph type="body" idx="1"/>
          </p:nvPr>
        </p:nvSpPr>
        <p:spPr/>
        <p:txBody>
          <a:bodyPr/>
          <a:lstStyle/>
          <a:p>
            <a:r>
              <a:rPr lang="sk-SK"/>
              <a:t>Obe používajú zdroje (</a:t>
            </a:r>
            <a:r>
              <a:rPr lang="en-US" i="1"/>
              <a:t>resources</a:t>
            </a:r>
            <a:r>
              <a:rPr lang="sk-SK"/>
              <a:t>), HTTP,  JSON</a:t>
            </a:r>
          </a:p>
          <a:p>
            <a:r>
              <a:rPr lang="sk-SK"/>
              <a:t>Rozdiely </a:t>
            </a:r>
          </a:p>
        </p:txBody>
      </p:sp>
      <p:sp>
        <p:nvSpPr>
          <p:cNvPr id="4" name="Zástupný objekt pre číslo snímky 3">
            <a:extLst>
              <a:ext uri="{FF2B5EF4-FFF2-40B4-BE49-F238E27FC236}">
                <a16:creationId xmlns:a16="http://schemas.microsoft.com/office/drawing/2014/main" id="{CB18A0B3-F5F0-468D-8662-788524678D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61</a:t>
            </a:fld>
            <a:endParaRPr lang="en-GB"/>
          </a:p>
        </p:txBody>
      </p:sp>
      <p:graphicFrame>
        <p:nvGraphicFramePr>
          <p:cNvPr id="5" name="Tabuľka 7">
            <a:extLst>
              <a:ext uri="{FF2B5EF4-FFF2-40B4-BE49-F238E27FC236}">
                <a16:creationId xmlns:a16="http://schemas.microsoft.com/office/drawing/2014/main" id="{66BDFBE6-9E79-4F9A-9EE0-DD55DA99525E}"/>
              </a:ext>
            </a:extLst>
          </p:cNvPr>
          <p:cNvGraphicFramePr>
            <a:graphicFrameLocks noGrp="1"/>
          </p:cNvGraphicFramePr>
          <p:nvPr>
            <p:extLst>
              <p:ext uri="{D42A27DB-BD31-4B8C-83A1-F6EECF244321}">
                <p14:modId xmlns:p14="http://schemas.microsoft.com/office/powerpoint/2010/main" val="1516508488"/>
              </p:ext>
            </p:extLst>
          </p:nvPr>
        </p:nvGraphicFramePr>
        <p:xfrm>
          <a:off x="960120" y="2420745"/>
          <a:ext cx="6096000" cy="16459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022136353"/>
                    </a:ext>
                  </a:extLst>
                </a:gridCol>
                <a:gridCol w="3048000">
                  <a:extLst>
                    <a:ext uri="{9D8B030D-6E8A-4147-A177-3AD203B41FA5}">
                      <a16:colId xmlns:a16="http://schemas.microsoft.com/office/drawing/2014/main" val="3110177184"/>
                    </a:ext>
                  </a:extLst>
                </a:gridCol>
              </a:tblGrid>
              <a:tr h="262611">
                <a:tc>
                  <a:txBody>
                    <a:bodyPr/>
                    <a:lstStyle/>
                    <a:p>
                      <a:r>
                        <a:rPr lang="sk-SK" sz="1200">
                          <a:latin typeface="Cabin" panose="020B0604020202020204"/>
                        </a:rPr>
                        <a:t>REST</a:t>
                      </a:r>
                    </a:p>
                  </a:txBody>
                  <a:tcPr/>
                </a:tc>
                <a:tc>
                  <a:txBody>
                    <a:bodyPr/>
                    <a:lstStyle/>
                    <a:p>
                      <a:r>
                        <a:rPr lang="sk-SK" sz="1200">
                          <a:latin typeface="Cabin" panose="020B0604020202020204"/>
                        </a:rPr>
                        <a:t>GraphQL</a:t>
                      </a:r>
                    </a:p>
                  </a:txBody>
                  <a:tcPr/>
                </a:tc>
                <a:extLst>
                  <a:ext uri="{0D108BD9-81ED-4DB2-BD59-A6C34878D82A}">
                    <a16:rowId xmlns:a16="http://schemas.microsoft.com/office/drawing/2014/main" val="1032090896"/>
                  </a:ext>
                </a:extLst>
              </a:tr>
              <a:tr h="262611">
                <a:tc>
                  <a:txBody>
                    <a:bodyPr/>
                    <a:lstStyle/>
                    <a:p>
                      <a:r>
                        <a:rPr lang="sk-SK" sz="1200">
                          <a:latin typeface="Cabin" panose="020B0604020202020204"/>
                        </a:rPr>
                        <a:t>Viac koncových bodov pre jeden zdroj </a:t>
                      </a:r>
                    </a:p>
                  </a:txBody>
                  <a:tcPr/>
                </a:tc>
                <a:tc>
                  <a:txBody>
                    <a:bodyPr/>
                    <a:lstStyle/>
                    <a:p>
                      <a:r>
                        <a:rPr lang="sk-SK" sz="1200">
                          <a:latin typeface="Cabin" panose="020B0604020202020204"/>
                        </a:rPr>
                        <a:t>Grafová štruktúra s jedným koncovým bodom </a:t>
                      </a:r>
                    </a:p>
                  </a:txBody>
                  <a:tcPr/>
                </a:tc>
                <a:extLst>
                  <a:ext uri="{0D108BD9-81ED-4DB2-BD59-A6C34878D82A}">
                    <a16:rowId xmlns:a16="http://schemas.microsoft.com/office/drawing/2014/main" val="3447232388"/>
                  </a:ext>
                </a:extLst>
              </a:tr>
              <a:tr h="262611">
                <a:tc>
                  <a:txBody>
                    <a:bodyPr/>
                    <a:lstStyle/>
                    <a:p>
                      <a:r>
                        <a:rPr lang="sk-SK" sz="1200">
                          <a:latin typeface="Cabin" panose="020B0604020202020204"/>
                        </a:rPr>
                        <a:t>Štruktúru dát určuje server</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sk-SK" sz="1200">
                          <a:latin typeface="Cabin" panose="020B0604020202020204"/>
                        </a:rPr>
                        <a:t>Štruktúru dát si určuje klient</a:t>
                      </a:r>
                    </a:p>
                  </a:txBody>
                  <a:tcPr/>
                </a:tc>
                <a:extLst>
                  <a:ext uri="{0D108BD9-81ED-4DB2-BD59-A6C34878D82A}">
                    <a16:rowId xmlns:a16="http://schemas.microsoft.com/office/drawing/2014/main" val="3526977888"/>
                  </a:ext>
                </a:extLst>
              </a:tr>
              <a:tr h="262611">
                <a:tc>
                  <a:txBody>
                    <a:bodyPr/>
                    <a:lstStyle/>
                    <a:p>
                      <a:r>
                        <a:rPr lang="sk-SK" sz="1200">
                          <a:latin typeface="Cabin" panose="020B0604020202020204"/>
                        </a:rPr>
                        <a:t>Častokrát sťahovanie zbytočných dát</a:t>
                      </a:r>
                    </a:p>
                  </a:txBody>
                  <a:tcPr/>
                </a:tc>
                <a:tc>
                  <a:txBody>
                    <a:bodyPr/>
                    <a:lstStyle/>
                    <a:p>
                      <a:r>
                        <a:rPr lang="sk-SK" sz="1200">
                          <a:latin typeface="Cabin" panose="020B0604020202020204"/>
                        </a:rPr>
                        <a:t>Sťahovanie len dát, ktoré aplikácia potrebuje </a:t>
                      </a:r>
                    </a:p>
                  </a:txBody>
                  <a:tcPr/>
                </a:tc>
                <a:extLst>
                  <a:ext uri="{0D108BD9-81ED-4DB2-BD59-A6C34878D82A}">
                    <a16:rowId xmlns:a16="http://schemas.microsoft.com/office/drawing/2014/main" val="380465245"/>
                  </a:ext>
                </a:extLst>
              </a:tr>
              <a:tr h="262611">
                <a:tc>
                  <a:txBody>
                    <a:bodyPr/>
                    <a:lstStyle/>
                    <a:p>
                      <a:r>
                        <a:rPr lang="sk-SK" sz="1200">
                          <a:latin typeface="Cabin" panose="020B0604020202020204"/>
                        </a:rPr>
                        <a:t>Neumožňuje definovať dátové typy</a:t>
                      </a:r>
                    </a:p>
                  </a:txBody>
                  <a:tcPr/>
                </a:tc>
                <a:tc>
                  <a:txBody>
                    <a:bodyPr/>
                    <a:lstStyle/>
                    <a:p>
                      <a:r>
                        <a:rPr lang="sk-SK" sz="1200">
                          <a:latin typeface="Cabin" panose="020B0604020202020204"/>
                        </a:rPr>
                        <a:t>Umožňuje definovať dátové typy </a:t>
                      </a:r>
                    </a:p>
                  </a:txBody>
                  <a:tcPr/>
                </a:tc>
                <a:extLst>
                  <a:ext uri="{0D108BD9-81ED-4DB2-BD59-A6C34878D82A}">
                    <a16:rowId xmlns:a16="http://schemas.microsoft.com/office/drawing/2014/main" val="3032431420"/>
                  </a:ext>
                </a:extLst>
              </a:tr>
              <a:tr h="262611">
                <a:tc>
                  <a:txBody>
                    <a:bodyPr/>
                    <a:lstStyle/>
                    <a:p>
                      <a:r>
                        <a:rPr lang="sk-SK" sz="1200">
                          <a:latin typeface="Cabin" panose="020B0604020202020204"/>
                        </a:rPr>
                        <a:t>Na zmenu dát využíva HTTP metódy</a:t>
                      </a:r>
                    </a:p>
                  </a:txBody>
                  <a:tcPr/>
                </a:tc>
                <a:tc>
                  <a:txBody>
                    <a:bodyPr/>
                    <a:lstStyle/>
                    <a:p>
                      <a:r>
                        <a:rPr lang="sk-SK" sz="1200">
                          <a:latin typeface="Cabin" panose="020B0604020202020204"/>
                        </a:rPr>
                        <a:t>Na zmenu dát využíva vlastný jazyk </a:t>
                      </a:r>
                    </a:p>
                  </a:txBody>
                  <a:tcPr/>
                </a:tc>
                <a:extLst>
                  <a:ext uri="{0D108BD9-81ED-4DB2-BD59-A6C34878D82A}">
                    <a16:rowId xmlns:a16="http://schemas.microsoft.com/office/drawing/2014/main" val="1193708618"/>
                  </a:ext>
                </a:extLst>
              </a:tr>
            </a:tbl>
          </a:graphicData>
        </a:graphic>
      </p:graphicFrame>
    </p:spTree>
    <p:extLst>
      <p:ext uri="{BB962C8B-B14F-4D97-AF65-F5344CB8AC3E}">
        <p14:creationId xmlns:p14="http://schemas.microsoft.com/office/powerpoint/2010/main" val="18710005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FA6309E-52C5-4F2E-A0DE-939150E281F5}"/>
              </a:ext>
            </a:extLst>
          </p:cNvPr>
          <p:cNvSpPr>
            <a:spLocks noGrp="1"/>
          </p:cNvSpPr>
          <p:nvPr>
            <p:ph type="title"/>
          </p:nvPr>
        </p:nvSpPr>
        <p:spPr/>
        <p:txBody>
          <a:bodyPr/>
          <a:lstStyle/>
          <a:p>
            <a:r>
              <a:rPr lang="en-US"/>
              <a:t>GraphQL – </a:t>
            </a:r>
            <a:r>
              <a:rPr lang="sk-SK"/>
              <a:t>detaily </a:t>
            </a:r>
          </a:p>
        </p:txBody>
      </p:sp>
      <p:sp>
        <p:nvSpPr>
          <p:cNvPr id="3" name="Zástupný text 2">
            <a:extLst>
              <a:ext uri="{FF2B5EF4-FFF2-40B4-BE49-F238E27FC236}">
                <a16:creationId xmlns:a16="http://schemas.microsoft.com/office/drawing/2014/main" id="{AD3A36CB-1838-459B-BD7D-44DFC19D5711}"/>
              </a:ext>
            </a:extLst>
          </p:cNvPr>
          <p:cNvSpPr>
            <a:spLocks noGrp="1"/>
          </p:cNvSpPr>
          <p:nvPr>
            <p:ph type="body" idx="1"/>
          </p:nvPr>
        </p:nvSpPr>
        <p:spPr/>
        <p:txBody>
          <a:bodyPr/>
          <a:lstStyle/>
          <a:p>
            <a:r>
              <a:rPr lang="sk-SK"/>
              <a:t>Tutoriál na </a:t>
            </a:r>
            <a:r>
              <a:rPr lang="sk-SK">
                <a:hlinkClick r:id="rId2"/>
              </a:rPr>
              <a:t>https://www.howtographql.com</a:t>
            </a:r>
            <a:r>
              <a:rPr lang="sk-SK"/>
              <a:t> </a:t>
            </a:r>
          </a:p>
          <a:p>
            <a:r>
              <a:rPr lang="sk-SK"/>
              <a:t>Server definuje schému API (vytvára "graf") – jazyk SDL</a:t>
            </a:r>
          </a:p>
          <a:p>
            <a:r>
              <a:rPr lang="sk-SK"/>
              <a:t>Klient získava dáta – </a:t>
            </a:r>
            <a:r>
              <a:rPr lang="en-US" sz="1400">
                <a:latin typeface="Consolas" panose="020B0609020204030204" pitchFamily="49" charset="0"/>
              </a:rPr>
              <a:t>query</a:t>
            </a:r>
          </a:p>
          <a:p>
            <a:r>
              <a:rPr lang="sk-SK"/>
              <a:t>Klient posiela upravené (nové) dáta na server – </a:t>
            </a:r>
            <a:r>
              <a:rPr lang="en-US" sz="1400">
                <a:latin typeface="Consolas" panose="020B0609020204030204" pitchFamily="49" charset="0"/>
              </a:rPr>
              <a:t>mutation</a:t>
            </a:r>
            <a:r>
              <a:rPr lang="sk-SK"/>
              <a:t> </a:t>
            </a:r>
          </a:p>
          <a:p>
            <a:r>
              <a:rPr lang="sk-SK">
                <a:hlinkClick r:id="rId3"/>
              </a:rPr>
              <a:t>Príklady na dopyty a úpravu dát</a:t>
            </a:r>
            <a:r>
              <a:rPr lang="sk-SK"/>
              <a:t> </a:t>
            </a:r>
          </a:p>
        </p:txBody>
      </p:sp>
      <p:sp>
        <p:nvSpPr>
          <p:cNvPr id="4" name="Zástupný objekt pre číslo snímky 3">
            <a:extLst>
              <a:ext uri="{FF2B5EF4-FFF2-40B4-BE49-F238E27FC236}">
                <a16:creationId xmlns:a16="http://schemas.microsoft.com/office/drawing/2014/main" id="{B4C199E3-E8BF-4329-8EC6-619C38117A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62</a:t>
            </a:fld>
            <a:endParaRPr lang="en-GB"/>
          </a:p>
        </p:txBody>
      </p:sp>
    </p:spTree>
    <p:extLst>
      <p:ext uri="{BB962C8B-B14F-4D97-AF65-F5344CB8AC3E}">
        <p14:creationId xmlns:p14="http://schemas.microsoft.com/office/powerpoint/2010/main" val="3264614125"/>
      </p:ext>
    </p:extLst>
  </p:cSld>
  <p:clrMapOvr>
    <a:masterClrMapping/>
  </p:clrMapOvr>
</p:sld>
</file>

<file path=ppt/theme/theme1.xml><?xml version="1.0" encoding="utf-8"?>
<a:theme xmlns:a="http://schemas.openxmlformats.org/drawingml/2006/main" name="Dividenda">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AB2D83F1BFE774693A9D47ED296DF0D" ma:contentTypeVersion="9" ma:contentTypeDescription="Umožňuje vytvoriť nový dokument." ma:contentTypeScope="" ma:versionID="c0c488197a3ee1e11cdcc86b9b580f30">
  <xsd:schema xmlns:xsd="http://www.w3.org/2001/XMLSchema" xmlns:xs="http://www.w3.org/2001/XMLSchema" xmlns:p="http://schemas.microsoft.com/office/2006/metadata/properties" xmlns:ns2="7d1569f7-a9ba-4934-9f41-02a47fb0fb0d" targetNamespace="http://schemas.microsoft.com/office/2006/metadata/properties" ma:root="true" ma:fieldsID="d58b5c67a4475fad4ce3c58aaffffe09" ns2:_="">
    <xsd:import namespace="7d1569f7-a9ba-4934-9f41-02a47fb0fb0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1569f7-a9ba-4934-9f41-02a47fb0f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2684217-51C6-40F7-8A6D-754980620E7C}"/>
</file>

<file path=customXml/itemProps2.xml><?xml version="1.0" encoding="utf-8"?>
<ds:datastoreItem xmlns:ds="http://schemas.openxmlformats.org/officeDocument/2006/customXml" ds:itemID="{A18AD657-1957-4756-9E7D-9156677BAA07}">
  <ds:schemaRefs>
    <ds:schemaRef ds:uri="http://schemas.microsoft.com/sharepoint/v3/contenttype/forms"/>
  </ds:schemaRefs>
</ds:datastoreItem>
</file>

<file path=customXml/itemProps3.xml><?xml version="1.0" encoding="utf-8"?>
<ds:datastoreItem xmlns:ds="http://schemas.openxmlformats.org/officeDocument/2006/customXml" ds:itemID="{AE0B787C-D2E8-4FA9-A0C3-DAAF1F808779}">
  <ds:schemaRefs>
    <ds:schemaRef ds:uri="http://purl.org/dc/elements/1.1/"/>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http://purl.org/dc/dcmitype/"/>
    <ds:schemaRef ds:uri="7d1569f7-a9ba-4934-9f41-02a47fb0fb0d"/>
    <ds:schemaRef ds:uri="http://schemas.microsoft.com/office/2006/metadata/properties"/>
    <ds:schemaRef ds:uri="http://purl.org/dc/terms/"/>
    <ds:schemaRef ds:uri="dd2fa11e-5d6d-4f8f-8f02-a7597448bda5"/>
    <ds:schemaRef ds:uri="17997581-6305-4412-b1ec-da9a29fddff1"/>
  </ds:schemaRefs>
</ds:datastoreItem>
</file>

<file path=docProps/app.xml><?xml version="1.0" encoding="utf-8"?>
<Properties xmlns="http://schemas.openxmlformats.org/officeDocument/2006/extended-properties" xmlns:vt="http://schemas.openxmlformats.org/officeDocument/2006/docPropsVTypes">
  <TotalTime>1346</TotalTime>
  <Words>4214</Words>
  <Application>Microsoft Office PowerPoint</Application>
  <PresentationFormat>Prezentácia na obrazovke (16:9)</PresentationFormat>
  <Paragraphs>590</Paragraphs>
  <Slides>62</Slides>
  <Notes>43</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62</vt:i4>
      </vt:variant>
    </vt:vector>
  </HeadingPairs>
  <TitlesOfParts>
    <vt:vector size="69" baseType="lpstr">
      <vt:lpstr>Arial</vt:lpstr>
      <vt:lpstr>Cabin</vt:lpstr>
      <vt:lpstr>Calibri</vt:lpstr>
      <vt:lpstr>Consolas</vt:lpstr>
      <vt:lpstr>Noto Sans Symbols</vt:lpstr>
      <vt:lpstr>Roboto Mono</vt:lpstr>
      <vt:lpstr>Dividenda</vt:lpstr>
      <vt:lpstr>HTTP, AJAX, webové API </vt:lpstr>
      <vt:lpstr>Prezentácia programu PowerPoint</vt:lpstr>
      <vt:lpstr>HyperText Transfer Protocol  </vt:lpstr>
      <vt:lpstr>HyperText Transfer Protocol (HTTP)</vt:lpstr>
      <vt:lpstr>Vlastnosti protokolu HTTP 1.1</vt:lpstr>
      <vt:lpstr>HTTP žiadosť (request)</vt:lpstr>
      <vt:lpstr>Príklad HTTP žiadosti</vt:lpstr>
      <vt:lpstr>HTTP odpoveď (response)</vt:lpstr>
      <vt:lpstr>Stavové kódy odpovedí</vt:lpstr>
      <vt:lpstr>Príklad HTTP odpovede (dokument sa našiel)</vt:lpstr>
      <vt:lpstr>Príklad HTTP odpovede (dokument sa nenašiel)</vt:lpstr>
      <vt:lpstr>HTTPS protokol</vt:lpstr>
      <vt:lpstr>HSTS hlavička</vt:lpstr>
      <vt:lpstr>HTTP/2</vt:lpstr>
      <vt:lpstr>HTTP/2 – hlavičky </vt:lpstr>
      <vt:lpstr>HTTP/2 – binárny prenos</vt:lpstr>
      <vt:lpstr>HTTP/2 – push content</vt:lpstr>
      <vt:lpstr>HTTP/3</vt:lpstr>
      <vt:lpstr>Otázka 1</vt:lpstr>
      <vt:lpstr>Asynchronous Javascript And XML</vt:lpstr>
      <vt:lpstr>Čo je to AJAX</vt:lpstr>
      <vt:lpstr>Základné princípy AJAX-u</vt:lpstr>
      <vt:lpstr>Výhody použitia AJAX-u</vt:lpstr>
      <vt:lpstr>Ako AJAX pracuje</vt:lpstr>
      <vt:lpstr>Objekt XMLHttpRequest</vt:lpstr>
      <vt:lpstr>Odoslanie žiadosti na server</vt:lpstr>
      <vt:lpstr>Udalosť onReadyStateChange</vt:lpstr>
      <vt:lpstr>Stavy a statusy odpovede</vt:lpstr>
      <vt:lpstr>Spracovanie odpovede zo servera</vt:lpstr>
      <vt:lpstr>AJAX príklad (komplet)</vt:lpstr>
      <vt:lpstr>JSON</vt:lpstr>
      <vt:lpstr>JSON dátové typy</vt:lpstr>
      <vt:lpstr>JSON príklad (osoba) a spracovanie v JS</vt:lpstr>
      <vt:lpstr>Podpora JSON vo frameworku Vaííčko</vt:lpstr>
      <vt:lpstr>Vytvorenie JSON reprezentácie modelu </vt:lpstr>
      <vt:lpstr>Otázka 2</vt:lpstr>
      <vt:lpstr>Asynchrónne programovanie v JS</vt:lpstr>
      <vt:lpstr>Asynchrónne programovanie v JS</vt:lpstr>
      <vt:lpstr>Callback funkcie</vt:lpstr>
      <vt:lpstr>Promises</vt:lpstr>
      <vt:lpstr>Príklad – Vytvorenie prísľubu</vt:lpstr>
      <vt:lpstr>Stavy prísľubov</vt:lpstr>
      <vt:lpstr>Zreťazenie prísľubov</vt:lpstr>
      <vt:lpstr>Využitie prísľubov pri AJAX volaniach</vt:lpstr>
      <vt:lpstr>Pokročilejšie použitie fetch()</vt:lpstr>
      <vt:lpstr>Ďalšia evolúcia – async/await</vt:lpstr>
      <vt:lpstr>Príklad AJAX volanie pomocou async funkcií</vt:lpstr>
      <vt:lpstr>Otázka 3</vt:lpstr>
      <vt:lpstr>Tvorba webového API</vt:lpstr>
      <vt:lpstr>Technológie na tvorbu web API</vt:lpstr>
      <vt:lpstr>REST (RESTful) rozhranie</vt:lpstr>
      <vt:lpstr>Základné princípy RESTful webových služieb</vt:lpstr>
      <vt:lpstr>Dátová reprezentácia zdrojov</vt:lpstr>
      <vt:lpstr>URI adresárová štruktúra </vt:lpstr>
      <vt:lpstr>Používanie HTTP metód</vt:lpstr>
      <vt:lpstr>Bezstavovosť služieb</vt:lpstr>
      <vt:lpstr>Autentifikácia a autorizácia v REST službách</vt:lpstr>
      <vt:lpstr>Webové služby (WS)</vt:lpstr>
      <vt:lpstr>Porovnanie webových a RESTful služieb</vt:lpstr>
      <vt:lpstr>GraphQL</vt:lpstr>
      <vt:lpstr>Porovnanie s REST architektúrou</vt:lpstr>
      <vt:lpstr>GraphQL – detaily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  AJAX, REST API</dc:title>
  <dc:creator>Patrik Hrkút</dc:creator>
  <cp:lastModifiedBy>Michal Ďuračík</cp:lastModifiedBy>
  <cp:revision>1</cp:revision>
  <dcterms:modified xsi:type="dcterms:W3CDTF">2025-11-17T14:00:05Z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0x0101003AB2D83F1BFE774693A9D47ED296DF0D</vt:lpwstr>
  </property>
  <property fmtid="{D5CDD505-2E9C-101B-9397-08002B2CF9AE}" pid="3" name="MediaServiceImageTags">
    <vt:lpwstr/>
  </property>
  <property fmtid="{D5CDD505-2E9C-101B-9397-08002B2CF9AE}" pid="4" name="Order">
    <vt:r8>70200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